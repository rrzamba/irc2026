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8645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09728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182880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74320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0" y="137160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0" y="530352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0" y="448056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0" y="603504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1704320" y="548640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COMPUTADORES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423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Roteamento entre Redes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Roteadores, sub-redes, tabela de roteamento e VLANs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roteamento?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669280" cy="4754880"/>
          </a:xfrm>
          <a:prstGeom prst="roundRect">
            <a:avLst>
              <a:gd name="adj" fmla="val 1923"/>
            </a:avLst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Roteamento é o processo de encaminhar pacotes de uma rede para outra.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LAN sozinha (com switches) só conecta dispositivos dentro da mesma rede.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existem duas ou mais redes diferentes, é o roteador quem faz a ponte entre elas.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92240" y="1600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central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37960" y="3017520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30175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52360" y="3300984"/>
            <a:ext cx="548640" cy="91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3072384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307238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06840" y="3300984"/>
            <a:ext cx="548640" cy="91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55480" y="2880360"/>
            <a:ext cx="868680" cy="868680"/>
          </a:xfrm>
          <a:prstGeom prst="ellipse">
            <a:avLst/>
          </a:prstGeom>
          <a:solidFill>
            <a:srgbClr val="F2A541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55480" y="2880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424160" y="3300984"/>
            <a:ext cx="548640" cy="91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0" y="3072384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0" y="307238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703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192.168.10.0/24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424160" y="3703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192.168.20.0/24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466344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“Como o PC1 conversa com o PC3, se estão em redes diferentes?”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redes fisicamente separadas, sem ligação entre elas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2743200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74320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3520440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52044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0" y="3026664"/>
            <a:ext cx="640080" cy="265176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011680" y="3520440"/>
            <a:ext cx="640080" cy="28346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310896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3108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297180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FDEAEA"/>
          </a:solidFill>
          <a:ln w="19050">
            <a:solidFill>
              <a:srgbClr val="C0392B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120640" y="29718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???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3977640" y="3337560"/>
            <a:ext cx="1143000" cy="4572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6309360" y="3337560"/>
            <a:ext cx="1143000" cy="4572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52360" y="310896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3108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98280" y="2743200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274320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98280" y="3520440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352044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flipV="1">
            <a:off x="8458200" y="3026664"/>
            <a:ext cx="640080" cy="265176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58200" y="3520440"/>
            <a:ext cx="640080" cy="28346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2240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192.168.10.0/24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0" y="2240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192.168.20.0/24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97280" y="4663440"/>
            <a:ext cx="9966960" cy="1188720"/>
          </a:xfrm>
          <a:prstGeom prst="roundRect">
            <a:avLst>
              <a:gd name="adj" fmla="val 7692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17320" y="513892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“Temos duas redes diferentes. Como fazemos o PC1 conversar com o PC3?”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solução: um roteador com duas interfaces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interface do roteador fica em uma rede diferente e funciona como gateway dela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7744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3200400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20040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.11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37360" y="2660904"/>
            <a:ext cx="594360" cy="219456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737360" y="3154680"/>
            <a:ext cx="594360" cy="32918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274320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27432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2971800"/>
            <a:ext cx="822960" cy="91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423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G0/0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2423160"/>
            <a:ext cx="1280160" cy="1097280"/>
          </a:xfrm>
          <a:prstGeom prst="ellipse">
            <a:avLst/>
          </a:prstGeom>
          <a:solidFill>
            <a:srgbClr val="F2A541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242316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40680" y="2971800"/>
            <a:ext cx="822960" cy="91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2423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G0/1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274320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7432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flipV="1">
            <a:off x="7269480" y="2660904"/>
            <a:ext cx="594360" cy="219456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69480" y="3154680"/>
            <a:ext cx="594360" cy="32918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0" y="2377440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237744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.10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63840" y="3200400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0" y="320040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.11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251960"/>
            <a:ext cx="3017520" cy="868680"/>
          </a:xfrm>
          <a:prstGeom prst="roundRect">
            <a:avLst>
              <a:gd name="adj" fmla="val 6316"/>
            </a:avLst>
          </a:prstGeom>
          <a:solidFill>
            <a:srgbClr val="CFE8F3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315968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</a:t>
            </a:r>
            <a:r>
              <a:rPr lang="en-US" sz="1100" b="1" dirty="0" err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esquerda</a:t>
            </a: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192.168.10.0/24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PCs: 192.168.10.1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80960" y="4251960"/>
            <a:ext cx="3017520" cy="868680"/>
          </a:xfrm>
          <a:prstGeom prst="roundRect">
            <a:avLst>
              <a:gd name="adj" fmla="val 6316"/>
            </a:avLst>
          </a:prstGeom>
          <a:solidFill>
            <a:srgbClr val="CFE8F3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18120" y="4315968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</a:t>
            </a:r>
            <a:r>
              <a:rPr lang="en-US" sz="1100" b="1" dirty="0" err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direita</a:t>
            </a: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192.168.20.0/24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PCs: 192.168.20.1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60520" y="425196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0" y="429768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redes são “diretamente conectadas” ao roteador.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roteador já conhece as redes conectadas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configurar as interfaces e o roteador aprende sozinho as redes diretamente conectadas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das interfaces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G0/0  →  192.168.10.1 /24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G0/1  →  192.168.20.1 /24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3375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interface “conhece” a rede em que está diretamente conectada.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737360"/>
            <a:ext cx="5669280" cy="2377440"/>
          </a:xfrm>
          <a:prstGeom prst="roundRect">
            <a:avLst>
              <a:gd name="adj" fmla="val 3846"/>
            </a:avLst>
          </a:prstGeom>
          <a:solidFill>
            <a:srgbClr val="F4F8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ip route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63640" y="23317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 192.168.10.0/24 is directly connected, G0/0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 192.168.20.0/24 is directly connected, G0/1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63640" y="34290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as sub-redes?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Roteamento não é sobre sub-redes.</a:t>
            </a:r>
            <a:endParaRPr lang="en-US" sz="14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sobre fazer redes diferentes se comunicarem.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isso, usamos duas redes /24 completas e separadas: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192.168.10.0/24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192.168.20.0/24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41732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as sub-redes (/26, /27...) entram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210312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Sub-redes dividem uma rede grande em pedaços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menores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é uma etapa seguinte, de otimização de endereçamento.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endParaRPr lang="en-US" sz="13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Subnetting  → como dividir o espaço de endereços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Roteamento → como redes diferentes conversam entre si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Roteamento entre redes: vantagens e desvantagens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E9F6EF"/>
          </a:solidFill>
          <a:ln w="12700">
            <a:solidFill>
              <a:srgbClr val="E9F6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91640"/>
            <a:ext cx="457200" cy="45720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7373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 o tráfego: problemas em uma rede não afetam a outra diretamente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lógica por setor, prédio ou função (ex.: ADM x LAB)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segurança: regras e filtros podem ser aplicados por rede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crescer a rede sem esgotar endereços de uma única faixa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domínio de broadcast, melhorando desempenho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DEEEE"/>
          </a:solidFill>
          <a:ln w="12700">
            <a:solidFill>
              <a:srgbClr val="FDEE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69164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132320" y="17373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Desvantagens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28600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complexidade de configuração (endereçamento, gateways, rotas)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hardware adicional: roteador (físico ou virtual)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salto de roteador acrescenta um pouco de latência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pontos de falha e mais itens para </a:t>
            </a:r>
            <a:r>
              <a:rPr lang="en-US" sz="1350" dirty="0" err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 planejamento de endereçamento (evitar sobreposição de faixas)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Existem outras formas de organizar isso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panorama </a:t>
            </a:r>
            <a:r>
              <a:rPr lang="en-US" sz="1400" dirty="0" err="1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</a:t>
            </a: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portas físicas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roteador, </a:t>
            </a:r>
            <a:r>
              <a:rPr lang="en-US" sz="1150" dirty="0" err="1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</a:t>
            </a: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interfaces.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2103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11880" y="3017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roteadores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11880" y="370332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e R2 </a:t>
            </a:r>
            <a:r>
              <a:rPr lang="en-US" sz="1150" dirty="0" err="1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interligados</a:t>
            </a: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entra a rota estática.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2103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46520" y="3017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46520" y="370332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switch físico, mas várias redes lógicas separadas (ex.: VLAN 10 ADM, VLAN 20 LAB).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81160" y="2103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92811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281160" y="3017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Router-on-a-Stick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281160" y="370332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única interface física do roteador atende várias VLANs, usando subinterfaces e trunk.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VLANs: separar redes sem trocar de switch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Fisicamente pode existir um único switch, mas logicamente existem várias redes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480560" y="201168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80560" y="2011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(único, físico)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2651760"/>
            <a:ext cx="2011680" cy="45720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2651760"/>
            <a:ext cx="2011680" cy="45720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310896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CFE8F3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3246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 — ADM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11680" y="3703320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37033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08960" y="3703320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37033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4526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lógica isolada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23760" y="310896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FEF3E4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3246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 — LAB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98080" y="3703320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37033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95360" y="3703320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37033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0" y="4526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lógica isolada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80760" y="2651760"/>
            <a:ext cx="914" cy="2743200"/>
          </a:xfrm>
          <a:prstGeom prst="line">
            <a:avLst/>
          </a:prstGeom>
          <a:noFill/>
          <a:ln w="25400">
            <a:solidFill>
              <a:srgbClr val="5B6B7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37360" y="5440680"/>
            <a:ext cx="8595360" cy="777240"/>
          </a:xfrm>
          <a:prstGeom prst="roundRect">
            <a:avLst>
              <a:gd name="adj" fmla="val 9412"/>
            </a:avLst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65960" y="55321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roteador continua sendo necessário para as VLANs conversarem entre si — assunto de uma próxima aula (Router-on-a-Stick).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da aula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508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Roteamento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94960" y="150876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encaminhamento de pacotes entre redes diferentes — o roteador é a ponte.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560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conectadas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94960" y="256032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interface do roteador conhece diretamente a rede à qual está ligada.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36118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roteamento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4960" y="361188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ip route revela o que o roteador já sabe, sem nenhuma rota estática.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70916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6634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94960" y="466344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estáticas (2 roteadores), VLANs e Router-on-a-Stick vêm nas próximas aulas.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688</Words>
  <Application>Microsoft Office PowerPoint</Application>
  <PresentationFormat>Widescreen</PresentationFormat>
  <Paragraphs>147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RAFAEL RUSSI ZAMBONI</cp:lastModifiedBy>
  <cp:revision>2</cp:revision>
  <dcterms:created xsi:type="dcterms:W3CDTF">2026-09-04T21:17:38Z</dcterms:created>
  <dcterms:modified xsi:type="dcterms:W3CDTF">2026-09-04T22:13:19Z</dcterms:modified>
</cp:coreProperties>
</file>