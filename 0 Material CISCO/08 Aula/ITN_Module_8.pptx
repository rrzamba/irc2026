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2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3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4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42"/>
  </p:notesMasterIdLst>
  <p:sldIdLst>
    <p:sldId id="876" r:id="rId2"/>
    <p:sldId id="925" r:id="rId3"/>
    <p:sldId id="759" r:id="rId4"/>
    <p:sldId id="628" r:id="rId5"/>
    <p:sldId id="926" r:id="rId6"/>
    <p:sldId id="1059" r:id="rId7"/>
    <p:sldId id="1060" r:id="rId8"/>
    <p:sldId id="1061" r:id="rId9"/>
    <p:sldId id="1062" r:id="rId10"/>
    <p:sldId id="1123" r:id="rId11"/>
    <p:sldId id="927" r:id="rId12"/>
    <p:sldId id="788" r:id="rId13"/>
    <p:sldId id="1070" r:id="rId14"/>
    <p:sldId id="1124" r:id="rId15"/>
    <p:sldId id="1071" r:id="rId16"/>
    <p:sldId id="886" r:id="rId17"/>
    <p:sldId id="936" r:id="rId18"/>
    <p:sldId id="1072" r:id="rId19"/>
    <p:sldId id="1074" r:id="rId20"/>
    <p:sldId id="1075" r:id="rId21"/>
    <p:sldId id="1125" r:id="rId22"/>
    <p:sldId id="1076" r:id="rId23"/>
    <p:sldId id="942" r:id="rId24"/>
    <p:sldId id="957" r:id="rId25"/>
    <p:sldId id="1126" r:id="rId26"/>
    <p:sldId id="1078" r:id="rId27"/>
    <p:sldId id="1079" r:id="rId28"/>
    <p:sldId id="1081" r:id="rId29"/>
    <p:sldId id="952" r:id="rId30"/>
    <p:sldId id="966" r:id="rId31"/>
    <p:sldId id="1082" r:id="rId32"/>
    <p:sldId id="1083" r:id="rId33"/>
    <p:sldId id="1127" r:id="rId34"/>
    <p:sldId id="1086" r:id="rId35"/>
    <p:sldId id="1087" r:id="rId36"/>
    <p:sldId id="980" r:id="rId37"/>
    <p:sldId id="1107" r:id="rId38"/>
    <p:sldId id="1129" r:id="rId39"/>
    <p:sldId id="1130" r:id="rId40"/>
    <p:sldId id="1121" r:id="rId41"/>
  </p:sldIdLst>
  <p:sldSz cx="9144000" cy="5143500" type="screen16x9"/>
  <p:notesSz cx="6858000" cy="9144000"/>
  <p:custDataLst>
    <p:tags r:id="rId4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A855F-A2BB-5EA2-317F-2034FCAD39D3}" v="10" dt="2020-06-28T23:41:42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13" autoAdjust="0"/>
    <p:restoredTop sz="84965" autoAdjust="0"/>
  </p:normalViewPr>
  <p:slideViewPr>
    <p:cSldViewPr snapToGrid="0" showGuides="1">
      <p:cViewPr varScale="1">
        <p:scale>
          <a:sx n="96" d="100"/>
          <a:sy n="96" d="100"/>
        </p:scale>
        <p:origin x="1421" y="62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o Neves Sudre Filho" userId="S::gilberto.neves@faesa.br::d3375f58-c24b-48d7-baef-871d87266953" providerId="AD" clId="Web-{FFAA855F-A2BB-5EA2-317F-2034FCAD39D3}"/>
    <pc:docChg chg="modSld">
      <pc:chgData name="Gilberto Neves Sudre Filho" userId="S::gilberto.neves@faesa.br::d3375f58-c24b-48d7-baef-871d87266953" providerId="AD" clId="Web-{FFAA855F-A2BB-5EA2-317F-2034FCAD39D3}" dt="2020-06-28T23:41:42.881" v="9" actId="14100"/>
      <pc:docMkLst>
        <pc:docMk/>
      </pc:docMkLst>
      <pc:sldChg chg="modSp">
        <pc:chgData name="Gilberto Neves Sudre Filho" userId="S::gilberto.neves@faesa.br::d3375f58-c24b-48d7-baef-871d87266953" providerId="AD" clId="Web-{FFAA855F-A2BB-5EA2-317F-2034FCAD39D3}" dt="2020-06-28T23:41:16.708" v="5" actId="1076"/>
        <pc:sldMkLst>
          <pc:docMk/>
          <pc:sldMk cId="700830764" sldId="957"/>
        </pc:sldMkLst>
        <pc:picChg chg="mod">
          <ac:chgData name="Gilberto Neves Sudre Filho" userId="S::gilberto.neves@faesa.br::d3375f58-c24b-48d7-baef-871d87266953" providerId="AD" clId="Web-{FFAA855F-A2BB-5EA2-317F-2034FCAD39D3}" dt="2020-06-28T23:41:16.708" v="5" actId="1076"/>
          <ac:picMkLst>
            <pc:docMk/>
            <pc:sldMk cId="700830764" sldId="957"/>
            <ac:picMk id="5122" creationId="{00000000-0000-0000-0000-000000000000}"/>
          </ac:picMkLst>
        </pc:picChg>
      </pc:sldChg>
      <pc:sldChg chg="modSp">
        <pc:chgData name="Gilberto Neves Sudre Filho" userId="S::gilberto.neves@faesa.br::d3375f58-c24b-48d7-baef-871d87266953" providerId="AD" clId="Web-{FFAA855F-A2BB-5EA2-317F-2034FCAD39D3}" dt="2020-06-28T23:40:47.395" v="0" actId="20577"/>
        <pc:sldMkLst>
          <pc:docMk/>
          <pc:sldMk cId="3161630264" sldId="1072"/>
        </pc:sldMkLst>
        <pc:spChg chg="mod">
          <ac:chgData name="Gilberto Neves Sudre Filho" userId="S::gilberto.neves@faesa.br::d3375f58-c24b-48d7-baef-871d87266953" providerId="AD" clId="Web-{FFAA855F-A2BB-5EA2-317F-2034FCAD39D3}" dt="2020-06-28T23:40:47.395" v="0" actId="20577"/>
          <ac:spMkLst>
            <pc:docMk/>
            <pc:sldMk cId="3161630264" sldId="1072"/>
            <ac:spMk id="13315" creationId="{00000000-0000-0000-0000-000000000000}"/>
          </ac:spMkLst>
        </pc:spChg>
      </pc:sldChg>
      <pc:sldChg chg="modSp">
        <pc:chgData name="Gilberto Neves Sudre Filho" userId="S::gilberto.neves@faesa.br::d3375f58-c24b-48d7-baef-871d87266953" providerId="AD" clId="Web-{FFAA855F-A2BB-5EA2-317F-2034FCAD39D3}" dt="2020-06-28T23:41:06.099" v="3" actId="20577"/>
        <pc:sldMkLst>
          <pc:docMk/>
          <pc:sldMk cId="2622725155" sldId="1074"/>
        </pc:sldMkLst>
        <pc:spChg chg="mod">
          <ac:chgData name="Gilberto Neves Sudre Filho" userId="S::gilberto.neves@faesa.br::d3375f58-c24b-48d7-baef-871d87266953" providerId="AD" clId="Web-{FFAA855F-A2BB-5EA2-317F-2034FCAD39D3}" dt="2020-06-28T23:40:59.396" v="1" actId="1076"/>
          <ac:spMkLst>
            <pc:docMk/>
            <pc:sldMk cId="2622725155" sldId="1074"/>
            <ac:spMk id="13314" creationId="{00000000-0000-0000-0000-000000000000}"/>
          </ac:spMkLst>
        </pc:spChg>
        <pc:spChg chg="mod">
          <ac:chgData name="Gilberto Neves Sudre Filho" userId="S::gilberto.neves@faesa.br::d3375f58-c24b-48d7-baef-871d87266953" providerId="AD" clId="Web-{FFAA855F-A2BB-5EA2-317F-2034FCAD39D3}" dt="2020-06-28T23:41:06.099" v="3" actId="20577"/>
          <ac:spMkLst>
            <pc:docMk/>
            <pc:sldMk cId="2622725155" sldId="1074"/>
            <ac:spMk id="13315" creationId="{00000000-0000-0000-0000-000000000000}"/>
          </ac:spMkLst>
        </pc:spChg>
        <pc:picChg chg="mod">
          <ac:chgData name="Gilberto Neves Sudre Filho" userId="S::gilberto.neves@faesa.br::d3375f58-c24b-48d7-baef-871d87266953" providerId="AD" clId="Web-{FFAA855F-A2BB-5EA2-317F-2034FCAD39D3}" dt="2020-06-28T23:41:01.317" v="2" actId="1076"/>
          <ac:picMkLst>
            <pc:docMk/>
            <pc:sldMk cId="2622725155" sldId="1074"/>
            <ac:picMk id="4099" creationId="{00000000-0000-0000-0000-000000000000}"/>
          </ac:picMkLst>
        </pc:picChg>
      </pc:sldChg>
      <pc:sldChg chg="modSp">
        <pc:chgData name="Gilberto Neves Sudre Filho" userId="S::gilberto.neves@faesa.br::d3375f58-c24b-48d7-baef-871d87266953" providerId="AD" clId="Web-{FFAA855F-A2BB-5EA2-317F-2034FCAD39D3}" dt="2020-06-28T23:41:32.553" v="7" actId="1076"/>
        <pc:sldMkLst>
          <pc:docMk/>
          <pc:sldMk cId="2471866069" sldId="1082"/>
        </pc:sldMkLst>
        <pc:picChg chg="mod">
          <ac:chgData name="Gilberto Neves Sudre Filho" userId="S::gilberto.neves@faesa.br::d3375f58-c24b-48d7-baef-871d87266953" providerId="AD" clId="Web-{FFAA855F-A2BB-5EA2-317F-2034FCAD39D3}" dt="2020-06-28T23:41:32.553" v="7" actId="1076"/>
          <ac:picMkLst>
            <pc:docMk/>
            <pc:sldMk cId="2471866069" sldId="1082"/>
            <ac:picMk id="9218" creationId="{00000000-0000-0000-0000-000000000000}"/>
          </ac:picMkLst>
        </pc:picChg>
      </pc:sldChg>
      <pc:sldChg chg="modSp">
        <pc:chgData name="Gilberto Neves Sudre Filho" userId="S::gilberto.neves@faesa.br::d3375f58-c24b-48d7-baef-871d87266953" providerId="AD" clId="Web-{FFAA855F-A2BB-5EA2-317F-2034FCAD39D3}" dt="2020-06-28T23:41:38.678" v="8" actId="14100"/>
        <pc:sldMkLst>
          <pc:docMk/>
          <pc:sldMk cId="725251992" sldId="1083"/>
        </pc:sldMkLst>
        <pc:spChg chg="mod">
          <ac:chgData name="Gilberto Neves Sudre Filho" userId="S::gilberto.neves@faesa.br::d3375f58-c24b-48d7-baef-871d87266953" providerId="AD" clId="Web-{FFAA855F-A2BB-5EA2-317F-2034FCAD39D3}" dt="2020-06-28T23:41:38.678" v="8" actId="14100"/>
          <ac:spMkLst>
            <pc:docMk/>
            <pc:sldMk cId="725251992" sldId="1083"/>
            <ac:spMk id="13314" creationId="{00000000-0000-0000-0000-000000000000}"/>
          </ac:spMkLst>
        </pc:spChg>
      </pc:sldChg>
      <pc:sldChg chg="modSp">
        <pc:chgData name="Gilberto Neves Sudre Filho" userId="S::gilberto.neves@faesa.br::d3375f58-c24b-48d7-baef-871d87266953" providerId="AD" clId="Web-{FFAA855F-A2BB-5EA2-317F-2034FCAD39D3}" dt="2020-06-28T23:41:21.146" v="6" actId="1076"/>
        <pc:sldMkLst>
          <pc:docMk/>
          <pc:sldMk cId="1090649388" sldId="1126"/>
        </pc:sldMkLst>
        <pc:picChg chg="mod">
          <ac:chgData name="Gilberto Neves Sudre Filho" userId="S::gilberto.neves@faesa.br::d3375f58-c24b-48d7-baef-871d87266953" providerId="AD" clId="Web-{FFAA855F-A2BB-5EA2-317F-2034FCAD39D3}" dt="2020-06-28T23:41:21.146" v="6" actId="1076"/>
          <ac:picMkLst>
            <pc:docMk/>
            <pc:sldMk cId="1090649388" sldId="1126"/>
            <ac:picMk id="5122" creationId="{00000000-0000-0000-0000-000000000000}"/>
          </ac:picMkLst>
        </pc:picChg>
      </pc:sldChg>
      <pc:sldChg chg="modSp">
        <pc:chgData name="Gilberto Neves Sudre Filho" userId="S::gilberto.neves@faesa.br::d3375f58-c24b-48d7-baef-871d87266953" providerId="AD" clId="Web-{FFAA855F-A2BB-5EA2-317F-2034FCAD39D3}" dt="2020-06-28T23:41:42.881" v="9" actId="14100"/>
        <pc:sldMkLst>
          <pc:docMk/>
          <pc:sldMk cId="1797906835" sldId="1127"/>
        </pc:sldMkLst>
        <pc:spChg chg="mod">
          <ac:chgData name="Gilberto Neves Sudre Filho" userId="S::gilberto.neves@faesa.br::d3375f58-c24b-48d7-baef-871d87266953" providerId="AD" clId="Web-{FFAA855F-A2BB-5EA2-317F-2034FCAD39D3}" dt="2020-06-28T23:41:42.881" v="9" actId="14100"/>
          <ac:spMkLst>
            <pc:docMk/>
            <pc:sldMk cId="1797906835" sldId="1127"/>
            <ac:spMk id="133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10/10/2025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</a:p>
          <a:p>
            <a:pPr rtl="0">
              <a:buFontTx/>
              <a:buNone/>
            </a:pPr>
            <a:r>
              <a:rPr lang="pt-BR" b="0"/>
              <a:t>Introdução às redes v7.0 (ITN)</a:t>
            </a:r>
          </a:p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8: Camada de 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0"/>
              <a:pPr algn="r" rtl="0"/>
              <a:t>2</a:t>
            </a:fld>
            <a:endParaRPr sz="800" b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8.0 - Introdução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8.0.2- </a:t>
            </a:r>
            <a:r>
              <a:rPr lang="pt-B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 que</a:t>
            </a:r>
            <a:r>
              <a:rPr lang="pt-BR"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aprenderei a fazer neste módulo.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 rtl="0"/>
              <a:t>4</a:t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8.1.1 — </a:t>
            </a:r>
            <a:r>
              <a:rPr lang="pt-BR"/>
              <a:t>A camada de rede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5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8.1.2</a:t>
            </a: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— </a:t>
            </a:r>
            <a:r>
              <a:rPr lang="pt-BR"/>
              <a:t>Encapsulamento IP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6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8.1.3</a:t>
            </a: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 –</a:t>
            </a:r>
            <a:r>
              <a:rPr lang="pt-BR"/>
              <a:t> Características do IP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7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8.1.4</a:t>
            </a: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-</a:t>
            </a:r>
            <a:r>
              <a:rPr lang="pt-BR"/>
              <a:t>Sem Conexão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8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8.1.5 </a:t>
            </a: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-</a:t>
            </a:r>
            <a:r>
              <a:rPr lang="pt-BR"/>
              <a:t>Melhor esforço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9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8.1.6</a:t>
            </a: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–</a:t>
            </a:r>
            <a:r>
              <a:rPr lang="pt-BR" sz="1200" b="0" baseline="0"/>
              <a:t> </a:t>
            </a:r>
            <a:r>
              <a:rPr lang="pt-BR"/>
              <a:t>Independente de mídia</a:t>
            </a:r>
          </a:p>
          <a:p>
            <a:pPr rtl="0">
              <a:buFontTx/>
              <a:buNone/>
            </a:pPr>
            <a:r>
              <a:rPr lang="pt-BR"/>
              <a:t>8.1.7</a:t>
            </a:r>
            <a:r>
              <a:rPr lang="pt-BR" baseline="0"/>
              <a:t> </a:t>
            </a:r>
            <a:r>
              <a:rPr lang="pt-BR" sz="1200">
                <a:effectLst/>
              </a:rPr>
              <a:t>Verifique o seu entendimento —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 Características </a:t>
            </a:r>
            <a:r>
              <a:rPr lang="pt-BR"/>
              <a:t>de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 </a:t>
            </a: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10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8.1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Características de camada de rede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8.1.6</a:t>
            </a:r>
            <a:r>
              <a:rPr lang="pt-BR" baseline="0">
                <a:latin typeface="Arial" charset="0"/>
              </a:rPr>
              <a:t> </a:t>
            </a:r>
            <a:r>
              <a:rPr lang="pt-BR" sz="1200" b="0"/>
              <a:t>–</a:t>
            </a:r>
            <a:r>
              <a:rPr lang="pt-BR" sz="1200" b="0" baseline="0"/>
              <a:t> </a:t>
            </a:r>
            <a:r>
              <a:rPr lang="pt-BR"/>
              <a:t>Independente de mídia</a:t>
            </a:r>
          </a:p>
          <a:p>
            <a:pPr rtl="0">
              <a:buFontTx/>
              <a:buNone/>
            </a:pPr>
            <a:r>
              <a:rPr lang="pt-BR"/>
              <a:t>8.1.7</a:t>
            </a:r>
            <a:r>
              <a:rPr lang="pt-BR" baseline="0"/>
              <a:t> </a:t>
            </a:r>
            <a:r>
              <a:rPr lang="pt-BR" sz="1200">
                <a:effectLst/>
              </a:rPr>
              <a:t>Verifique o seu entendimento —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 Características </a:t>
            </a:r>
            <a:r>
              <a:rPr lang="pt-BR"/>
              <a:t>de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 </a:t>
            </a:r>
          </a:p>
        </p:txBody>
      </p:sp>
    </p:spTree>
    <p:extLst>
      <p:ext uri="{BB962C8B-B14F-4D97-AF65-F5344CB8AC3E}">
        <p14:creationId xmlns:p14="http://schemas.microsoft.com/office/powerpoint/2010/main" val="2465286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8.2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12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8.2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 IPv4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8.2.1 -</a:t>
            </a:r>
            <a:r>
              <a:rPr lang="pt-BR"/>
              <a:t>Cabeçalho do Pacote IPv4</a:t>
            </a: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13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8.2 –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- </a:t>
            </a:r>
            <a:r>
              <a:rPr lang="pt-BR"/>
              <a:t>Campos do cabeçalho de pacote IPv4</a:t>
            </a: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14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8.2 –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-</a:t>
            </a:r>
            <a:r>
              <a:rPr lang="pt-BR"/>
              <a:t>Campos do cabeçalho de pacote IPv4</a:t>
            </a: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 rtl="0"/>
              <a:t>15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8.2 –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8.2.3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-</a:t>
            </a:r>
            <a:r>
              <a:rPr lang="pt-BR"/>
              <a:t>Vídeo - Exemplo de cabeçalhos IPv4 no Wireshark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8.2.4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>
                <a:effectLst/>
              </a:rPr>
              <a:t>— Verifique o seu entendimento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 IPv4 </a:t>
            </a: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16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8.3.1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pt-BR"/>
              <a:t>Limitações do IPv4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17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8.3.2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pt-BR"/>
              <a:t> Visão geral do IPv6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18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8.3.3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— </a:t>
            </a:r>
            <a:r>
              <a:rPr lang="pt-BR"/>
              <a:t> Campos de cabeçalho de pacote IPv4 no cabeçalho do pacote IPv6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19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- </a:t>
            </a:r>
            <a:r>
              <a:rPr lang="pt-BR"/>
              <a:t>Cabeçalho do Pacote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20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- </a:t>
            </a:r>
            <a:r>
              <a:rPr lang="pt-BR"/>
              <a:t>Cabeçalho do Pacote IPv6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21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8.3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8.3.5 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- </a:t>
            </a:r>
            <a:r>
              <a:rPr lang="pt-BR"/>
              <a:t>Vídeo - Exemplo de cabeçalhos IPv6 no Wireshark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8.3.6 </a:t>
            </a:r>
            <a:r>
              <a:rPr lang="pt-BR" sz="1200">
                <a:effectLst/>
              </a:rPr>
              <a:t>— Verifique seu entendimento —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Pacotes IPv6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8.4 -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23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8.4 -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</a:t>
            </a:r>
          </a:p>
          <a:p>
            <a:pPr rtl="0"/>
            <a:r>
              <a:rPr lang="pt-BR"/>
              <a:t>8.4.1</a:t>
            </a:r>
            <a:r>
              <a:rPr lang="pt-BR" baseline="0"/>
              <a:t>- </a:t>
            </a:r>
            <a:r>
              <a:rPr lang="pt-BR"/>
              <a:t> Decisão de encaminhamento do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24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8.4 -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</a:t>
            </a:r>
          </a:p>
          <a:p>
            <a:pPr rtl="0"/>
            <a:r>
              <a:rPr lang="pt-BR"/>
              <a:t>8.4.1</a:t>
            </a:r>
            <a:r>
              <a:rPr lang="pt-BR" baseline="0"/>
              <a:t>- </a:t>
            </a:r>
            <a:r>
              <a:rPr lang="pt-BR"/>
              <a:t> Decisão de encaminhamento do host(Cont.)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25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8.4 -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</a:t>
            </a:r>
          </a:p>
          <a:p>
            <a:pPr rtl="0"/>
            <a:r>
              <a:rPr lang="pt-BR"/>
              <a:t>8.4.2</a:t>
            </a:r>
            <a:r>
              <a:rPr lang="pt-BR" baseline="0"/>
              <a:t>-</a:t>
            </a:r>
            <a:r>
              <a:rPr lang="pt-BR"/>
              <a:t>Gateway padrão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26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8.4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 </a:t>
            </a:r>
          </a:p>
          <a:p>
            <a:pPr rtl="0"/>
            <a:r>
              <a:rPr lang="pt-BR"/>
              <a:t>8.4.3</a:t>
            </a:r>
            <a:r>
              <a:rPr lang="pt-BR" baseline="0"/>
              <a:t>-</a:t>
            </a:r>
            <a:r>
              <a:rPr lang="pt-BR"/>
              <a:t> Um host direciona para o gateway padrão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27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8.4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 </a:t>
            </a:r>
          </a:p>
          <a:p>
            <a:pPr rtl="0"/>
            <a:r>
              <a:rPr lang="pt-BR"/>
              <a:t>8.4.4</a:t>
            </a:r>
            <a:r>
              <a:rPr lang="pt-BR" baseline="0"/>
              <a:t>-</a:t>
            </a:r>
            <a:r>
              <a:rPr lang="pt-BR"/>
              <a:t> Tabelas de Roteamento dos Hosts</a:t>
            </a:r>
          </a:p>
          <a:p>
            <a:pPr rtl="0"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8.4.5</a:t>
            </a:r>
            <a:r>
              <a:rPr lang="pt-BR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pt-BR" sz="1200">
                <a:effectLst/>
              </a:rPr>
              <a:t>— Verifique seu entendimento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Como um host roteia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28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29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8.5.1 -</a:t>
            </a:r>
            <a:r>
              <a:rPr lang="pt-BR"/>
              <a:t>Decisão de Encaminhamento de Pacotes do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30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8.5.2 — </a:t>
            </a:r>
            <a:r>
              <a:rPr lang="pt-BR"/>
              <a:t>Tabela de roteamento de roteador 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31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8.5.3 - </a:t>
            </a:r>
            <a:r>
              <a:rPr lang="pt-BR" sz="1200"/>
              <a:t>Roteamento estático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8.5.4 - </a:t>
            </a:r>
            <a:r>
              <a:rPr lang="pt-BR" sz="1200"/>
              <a:t>Roteamento dinâmico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33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8.5.5 - </a:t>
            </a:r>
            <a:r>
              <a:rPr lang="pt-BR"/>
              <a:t> Vídeo - Tabelas de roteamento de roteador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34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8.5 —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8.5.6 — </a:t>
            </a:r>
            <a:r>
              <a:rPr lang="pt-BR"/>
              <a:t>Introdução a uma Tabela de Roteamento IPv4</a:t>
            </a: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>
                <a:latin typeface="Arial" charset="0"/>
              </a:rPr>
              <a:t>8.5.7 - </a:t>
            </a:r>
            <a:r>
              <a:rPr lang="pt-BR" sz="1200">
                <a:effectLst/>
              </a:rPr>
              <a:t>Verifique sua compreensão -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ao roteamento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35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8.6 -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Prática e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36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0151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8 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-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 Camada de rede</a:t>
            </a:r>
          </a:p>
          <a:p>
            <a:pPr rtl="0">
              <a:buFontTx/>
              <a:buNone/>
            </a:pPr>
            <a:r>
              <a:rPr lang="pt-BR" sz="1200" b="0"/>
              <a:t>8.6 -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8.6.1</a:t>
            </a:r>
            <a:r>
              <a:rPr lang="pt-BR" baseline="0">
                <a:latin typeface="Arial" charset="0"/>
              </a:rPr>
              <a:t> -</a:t>
            </a:r>
            <a:r>
              <a:rPr lang="pt-BR"/>
              <a:t> O que eu aprendi neste módulo?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 rtl="0"/>
              <a:t>37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/>
              <a:pPr rtl="0"/>
              <a:t>38</a:t>
            </a:fld>
            <a:endParaRPr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New Terms and Commands</a:t>
            </a:r>
          </a:p>
        </p:txBody>
      </p:sp>
    </p:spTree>
    <p:extLst>
      <p:ext uri="{BB962C8B-B14F-4D97-AF65-F5344CB8AC3E}">
        <p14:creationId xmlns:p14="http://schemas.microsoft.com/office/powerpoint/2010/main" val="38805241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/>
              <a:pPr rtl="0"/>
              <a:t>39</a:t>
            </a:fld>
            <a:endParaRPr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New Terms and Commands</a:t>
            </a:r>
          </a:p>
        </p:txBody>
      </p:sp>
    </p:spTree>
    <p:extLst>
      <p:ext uri="{BB962C8B-B14F-4D97-AF65-F5344CB8AC3E}">
        <p14:creationId xmlns:p14="http://schemas.microsoft.com/office/powerpoint/2010/main" val="211753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‹nº›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pPr rtl="0"/>
            <a:r>
              <a:rPr lang="pt-BR" sz="4600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8: Camada de rede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rtl="0" eaLnBrk="1" hangingPunct="1"/>
            <a:r>
              <a:rPr lang="pt-BR"/>
              <a:t>Módulo 8: Tópicos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99461" y="654206"/>
            <a:ext cx="8769026" cy="281711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lang="pt-BR"/>
              <a:t>O que vou aprender neste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8170"/>
              </p:ext>
            </p:extLst>
          </p:nvPr>
        </p:nvGraphicFramePr>
        <p:xfrm>
          <a:off x="522512" y="1140033"/>
          <a:ext cx="8348355" cy="3066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3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216">
                <a:tc>
                  <a:txBody>
                    <a:bodyPr/>
                    <a:lstStyle/>
                    <a:p>
                      <a:pPr rtl="0"/>
                      <a:r>
                        <a:rPr lang="pt-BR" b="1">
                          <a:effectLst/>
                        </a:rPr>
                        <a:t>Título do Tópico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Objetivo do Tópico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Características de camada de rede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Explicar como a camada de rede usa protocolos IP para comunicações confiáveis.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Pacote IPv4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Explicar a função dos principais campos do cabeçalho no pacote IPv4.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Pacote IPv6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Explicar a função dos principais campos do cabeçalho no pacote IPv6.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647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Como um host roteia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Explicar como os dispositivos de rede usam tabelas de roteamento para direcionar pacotes para uma rede de destino.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647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Tabelas de roteamento do roteador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Explicar a função dos campos na tabela de roteamento de um roteador.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8.1 Características de camada de rede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5270088" cy="789880"/>
          </a:xfrm>
        </p:spPr>
        <p:txBody>
          <a:bodyPr/>
          <a:lstStyle/>
          <a:p>
            <a:pPr rtl="0"/>
            <a:r>
              <a:rPr lang="pt-BR" sz="1600"/>
              <a:t>Características de camada de rede </a:t>
            </a:r>
            <a:br>
              <a:rPr lang="en-US" altLang="en-US" dirty="0"/>
            </a:br>
            <a:r>
              <a:rPr lang="pt-BR"/>
              <a:t> Camada de Rede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753" y="834570"/>
            <a:ext cx="5151336" cy="317699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Fornece serviços para permitir que dispositivos finais troquem dados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IP versão 4 (IPv4) e IP versão 6 (IPv6) são os principais protocolos de comunicação de camada de rede.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 camada de rede executa quatro operações básicas: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Endereça os dispositivos finais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Encapsulamento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Roteamento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Desencapsulamento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862" y="100234"/>
            <a:ext cx="3067269" cy="2016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088" y="2355550"/>
            <a:ext cx="3230819" cy="2458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de camada de rede </a:t>
            </a:r>
            <a:br>
              <a:rPr lang="en-US" altLang="en-US" dirty="0"/>
            </a:br>
            <a:r>
              <a:rPr lang="pt-BR"/>
              <a:t>Encapsulamento IP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905949"/>
            <a:ext cx="3700139" cy="3764374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IP encapsula o segmento da camada de transporte.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IP pode usar um pacote IPv4 ou IPv6 e não afetar o segmento da camada 4.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pacote IP será examinado por todos os dispositivos de camada 3 à medida que atravessa a rede.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endereçamento IP não muda de origem para destino.</a:t>
            </a:r>
          </a:p>
          <a:p>
            <a:pPr marL="0" indent="0" rtl="0">
              <a:buNone/>
            </a:pPr>
            <a:r>
              <a:rPr lang="pt-BR" sz="1600" b="1"/>
              <a:t>Observação: o </a:t>
            </a:r>
            <a:r>
              <a:rPr lang="pt-BR" sz="1600"/>
              <a:t>NAT mudará o endereçamento, mas será discutido em um módulo posterior. </a:t>
            </a:r>
          </a:p>
          <a:p>
            <a:pPr lvl="1"/>
            <a:endParaRPr lang="en-US" dirty="0"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47" y="905949"/>
            <a:ext cx="5126909" cy="29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da camada de rede</a:t>
            </a:r>
            <a:br>
              <a:rPr lang="en-US" altLang="en-US" dirty="0"/>
            </a:br>
            <a:r>
              <a:rPr lang="pt-BR"/>
              <a:t>Características do IP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8" y="894073"/>
            <a:ext cx="9019391" cy="1947450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O IP deve ter baixa sobrecarga e pode ser descrito como:</a:t>
            </a:r>
          </a:p>
          <a:p>
            <a:pPr lvl="1" rtl="0"/>
            <a:r>
              <a:rPr lang="pt-BR" sz="1800"/>
              <a:t>Sem Conexão </a:t>
            </a:r>
          </a:p>
          <a:p>
            <a:pPr lvl="1" rtl="0"/>
            <a:r>
              <a:rPr lang="pt-BR" sz="1800"/>
              <a:t>Melhor Esforço</a:t>
            </a:r>
          </a:p>
          <a:p>
            <a:pPr lvl="1" rtl="0"/>
            <a:r>
              <a:rPr lang="pt-BR" sz="1800"/>
              <a:t>Independente de Mídia</a:t>
            </a:r>
          </a:p>
        </p:txBody>
      </p:sp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de camada de rede </a:t>
            </a:r>
            <a:br>
              <a:rPr lang="en-US" altLang="en-US" dirty="0"/>
            </a:br>
            <a:r>
              <a:rPr lang="pt-BR"/>
              <a:t>Conexões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8853286" cy="2110086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IP não tem conexão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Nenhuma conexão é estabelecida com o destino antes do envio dos pacotes de dados.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Não há informações de controle necessárias (sincronizações, confirmações, etc.).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destino receberá o pacote quando ele chegar, mas nenhuma pré-notificação é enviada por IP.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Se houver necessidade de tráfego orientado para conexão, outro protocolo irá lidar com isso (normalmente TCP na camada de transporte).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23" y="3370514"/>
            <a:ext cx="5884353" cy="173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de camada de rede</a:t>
            </a:r>
            <a:br>
              <a:rPr lang="en-US" altLang="en-US" dirty="0"/>
            </a:br>
            <a:r>
              <a:rPr lang="pt-BR"/>
              <a:t>Melhor Esforço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3773052" cy="284966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IP é melhor esforço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IP não garantirá a entrega do pacote.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O IP reduziu a sobrecarga, uma vez que não há mecanismo para reenviar dados que não são recebidos.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IP não espera confirmações.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IP não sabe se o outro dispositivo está operacional ou se recebeu o pacote.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503" y="858446"/>
            <a:ext cx="4831504" cy="28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6765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de camada de rede</a:t>
            </a:r>
            <a:br>
              <a:rPr lang="en-US" altLang="en-US" dirty="0"/>
            </a:br>
            <a:r>
              <a:rPr lang="pt-BR"/>
              <a:t>Independente de mídia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798945"/>
            <a:ext cx="4028689" cy="3851714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IP não é confiável  </a:t>
            </a:r>
          </a:p>
          <a:p>
            <a:pPr lvl="1" rtl="0"/>
            <a:r>
              <a:rPr lang="pt-BR" sz="1500"/>
              <a:t>Ele não pode gerenciar ou corrigir pacotes não entregues ou corrompidos.</a:t>
            </a:r>
          </a:p>
          <a:p>
            <a:pPr lvl="1" rtl="0"/>
            <a:r>
              <a:rPr lang="pt-BR" sz="1500"/>
              <a:t>IP não pode retransmitir após um erro.</a:t>
            </a:r>
          </a:p>
          <a:p>
            <a:pPr lvl="1" rtl="0"/>
            <a:r>
              <a:rPr lang="pt-BR" sz="1500"/>
              <a:t>O IP não pode realinhar pacotes fora de sequência.</a:t>
            </a:r>
          </a:p>
          <a:p>
            <a:pPr lvl="1" rtl="0"/>
            <a:r>
              <a:rPr lang="pt-BR" sz="1500"/>
              <a:t>IP deve depender de outros protocolos para essas funções.</a:t>
            </a:r>
          </a:p>
          <a:p>
            <a:pPr marL="0" indent="0" rtl="0">
              <a:buNone/>
            </a:pPr>
            <a:r>
              <a:rPr lang="pt-BR"/>
              <a:t>O protocolo IP independe de meio físico.</a:t>
            </a:r>
          </a:p>
          <a:p>
            <a:pPr lvl="1" rtl="0"/>
            <a:r>
              <a:rPr lang="pt-BR" sz="1500"/>
              <a:t>O IP não se preocupa com o tipo de quadro exigido na camada de link de dados ou com o tipo de mídia na camada física.</a:t>
            </a:r>
          </a:p>
          <a:p>
            <a:pPr lvl="1" rtl="0"/>
            <a:r>
              <a:rPr lang="pt-BR" sz="1500"/>
              <a:t>IP pode ser enviado por qualquer tipo de mídia: cobre, fibra ou sem fio.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573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Características da Camada de Rede</a:t>
            </a:r>
            <a:r>
              <a:rPr lang="pt-BR"/>
              <a:t>Independente deMídia (Contd.) 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5"/>
            <a:ext cx="4028689" cy="3792213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 camada de rede estabelecerá a Unidade Máxima de Transmissão (MTU).</a:t>
            </a:r>
          </a:p>
          <a:p>
            <a:pPr lvl="1" rtl="0"/>
            <a:r>
              <a:rPr lang="pt-BR" sz="1600"/>
              <a:t>camada de rede recebe isso a partir de informações de controle enviadas pela camada de link de dados.</a:t>
            </a:r>
          </a:p>
          <a:p>
            <a:pPr lvl="1" rtl="0"/>
            <a:r>
              <a:rPr lang="pt-BR" sz="1600"/>
              <a:t>Em seguida, a rede estabelece o tamanho da MTU.</a:t>
            </a:r>
          </a:p>
          <a:p>
            <a:pPr marL="0" indent="0" rtl="0">
              <a:buNone/>
            </a:pPr>
            <a:r>
              <a:rPr lang="pt-BR" sz="1600"/>
              <a:t>Fragmentação ocorre quando a Camada 3 divide o pacote IPv4 em unidades menores.</a:t>
            </a:r>
          </a:p>
          <a:p>
            <a:pPr lvl="1" rtl="0"/>
            <a:r>
              <a:rPr lang="pt-BR" sz="1600"/>
              <a:t>Fragmentação causa latência.</a:t>
            </a:r>
          </a:p>
          <a:p>
            <a:pPr lvl="1" rtl="0"/>
            <a:r>
              <a:rPr lang="pt-BR" sz="1600"/>
              <a:t>O IPv6 não fragmenta pacotes.</a:t>
            </a:r>
          </a:p>
          <a:p>
            <a:pPr lvl="1" rtl="0"/>
            <a:r>
              <a:rPr lang="pt-BR" sz="1600"/>
              <a:t>Exemplo: Roteador vai de Ethernet para uma WAN lenta com um MTU menor</a:t>
            </a:r>
          </a:p>
          <a:p>
            <a:pPr lvl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0875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8.2 Pacote IPv4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Pacote IPv4 </a:t>
            </a:r>
            <a:br>
              <a:rPr lang="en-US" altLang="en-US" dirty="0"/>
            </a:br>
            <a:r>
              <a:rPr lang="pt-BR"/>
              <a:t>Cabeçalho do Pacote IPv4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2" y="798946"/>
            <a:ext cx="8184025" cy="349728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IPv4 é o principal protocolo de comunicação para a camada de rede.</a:t>
            </a:r>
          </a:p>
          <a:p>
            <a:pPr marL="0" indent="0" rtl="0">
              <a:buNone/>
            </a:pPr>
            <a:r>
              <a:rPr lang="pt-BR" sz="1600"/>
              <a:t>O cabeçalho de rede tem muitas finalidades:</a:t>
            </a:r>
          </a:p>
          <a:p>
            <a:pPr lvl="1" rtl="0"/>
            <a:r>
              <a:rPr lang="pt-BR" sz="1600"/>
              <a:t>Ele garante que o pacote seja enviado na direção correta (para o destino).</a:t>
            </a:r>
          </a:p>
          <a:p>
            <a:pPr lvl="1" rtl="0"/>
            <a:r>
              <a:rPr lang="pt-BR" sz="1600"/>
              <a:t>Ele contém informações para o processamento da camada de rede em vários campos.</a:t>
            </a:r>
          </a:p>
          <a:p>
            <a:pPr lvl="1" rtl="0"/>
            <a:r>
              <a:rPr lang="pt-BR" sz="1600"/>
              <a:t>As informações no cabeçalho são usadas por todos os dispositivos de camada 3 que manipulam o pacote</a:t>
            </a:r>
          </a:p>
          <a:p>
            <a:pPr lvl="1"/>
            <a:endParaRPr lang="en-US" altLang="en-US" sz="1600" dirty="0"/>
          </a:p>
          <a:p>
            <a:pPr marL="0" indent="0" rtl="0">
              <a:buNone/>
            </a:pPr>
            <a:r>
              <a:rPr lang="pt-BR" sz="160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pPr rtl="0"/>
            <a:r>
              <a:rPr lang="pt-BR" sz="1600"/>
              <a:t>Pacote IPv4 </a:t>
            </a:r>
            <a:br>
              <a:rPr lang="en-US" altLang="en-US" dirty="0"/>
            </a:br>
            <a:r>
              <a:rPr lang="pt-BR"/>
              <a:t>Campos do Cabeçalho do Pacote IPv4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9728" y="792335"/>
            <a:ext cx="4690872" cy="2883553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As características do cabeçalho de rede IPv4:</a:t>
            </a:r>
          </a:p>
          <a:p>
            <a:pPr lvl="1" rtl="0"/>
            <a:r>
              <a:rPr lang="pt-BR" sz="1600"/>
              <a:t>É em binário.</a:t>
            </a:r>
          </a:p>
          <a:p>
            <a:pPr lvl="1" rtl="0"/>
            <a:r>
              <a:rPr lang="pt-BR" sz="1600"/>
              <a:t>Contém vários campos de informação</a:t>
            </a:r>
          </a:p>
          <a:p>
            <a:pPr lvl="1" rtl="0"/>
            <a:r>
              <a:rPr lang="pt-BR" sz="1600"/>
              <a:t>O diagrama é lido da esquerda para a direita, 4 bytes por linha</a:t>
            </a:r>
          </a:p>
          <a:p>
            <a:pPr lvl="1" rtl="0"/>
            <a:r>
              <a:rPr lang="pt-BR" sz="1600"/>
              <a:t>Os dois campos mais importantes são a origem e o destino.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 rtl="0">
              <a:buNone/>
            </a:pPr>
            <a:r>
              <a:rPr lang="pt-BR" sz="1600"/>
              <a:t>Protocolos podem ter uma ou mais funções.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13" y="841248"/>
            <a:ext cx="4251960" cy="408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pPr rtl="0"/>
            <a:r>
              <a:rPr lang="pt-BR" sz="1600"/>
              <a:t>Pacote IPv4 </a:t>
            </a:r>
            <a:br>
              <a:rPr lang="en-US" altLang="en-US" dirty="0"/>
            </a:br>
            <a:r>
              <a:rPr lang="pt-BR"/>
              <a:t>Campos do Cabeçalho do Pacote IPv4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55448" y="792335"/>
            <a:ext cx="8723376" cy="542689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Estes são os campos mais importantes no cabeçalho IPv4: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451830"/>
              </p:ext>
            </p:extLst>
          </p:nvPr>
        </p:nvGraphicFramePr>
        <p:xfrm>
          <a:off x="164592" y="1417319"/>
          <a:ext cx="8750808" cy="348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Versão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Isso</a:t>
                      </a:r>
                      <a:r>
                        <a:rPr lang="pt-BR" baseline="0"/>
                        <a:t> será para v4, ao contrário de v6, um campo de 4 bits = 0100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Serviços Diferenciados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Usado para QoS</a:t>
                      </a:r>
                      <a:r>
                        <a:rPr lang="pt-BR" baseline="0"/>
                        <a:t>: campo DiffServ — DS ou o IntServ mais antigo — ToS ou Tipo de Serviço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Soma de verificação do cabeçalho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Detectar corrupção no cabeçalho IPv4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Tempo de vida (TTL)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Contagem de saltos de camada 3. Quando se tornar zero, o roteador</a:t>
                      </a:r>
                      <a:r>
                        <a:rPr lang="pt-BR" baseline="0"/>
                        <a:t> descartará o pacote.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Protocolos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I.D.s</a:t>
                      </a:r>
                      <a:r>
                        <a:rPr lang="pt-BR" baseline="0"/>
                        <a:t> protocolo de próximo nível: ICMP, TCP, UDP,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Endereço IPv4 Origem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Endereço de origem de 32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Endereço IPV4 de destino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baseline="0"/>
                        <a:t> Endereço</a:t>
                      </a:r>
                      <a:r>
                        <a:rPr lang="pt-BR"/>
                        <a:t>de destino de 32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9841431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9144000" cy="829464"/>
          </a:xfrm>
        </p:spPr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Pacote IPv4 </a:t>
            </a:r>
            <a:r>
              <a:rPr lang="pt-BR" sz="1600"/>
              <a:t>Demonstração em vídeo - Exemplo de cabeçalhos IPv4 em Wireshark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0" y="986970"/>
            <a:ext cx="8593327" cy="2103701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Este vídeo aborda o seguinte: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Pacotes Ethernet IPv4 em Wireshark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As informações de controle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 diferença entre pacotes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414468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8.3 Pacotes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Pacote IPv6 </a:t>
            </a:r>
            <a:r>
              <a:rPr lang="pt-BR" sz="1600"/>
              <a:t>Limitações do IPv4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672954" cy="357342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 dirty="0"/>
              <a:t>O IPv6 tem três limitações principais:</a:t>
            </a:r>
          </a:p>
          <a:p>
            <a:pPr lvl="1" rtl="0"/>
            <a:r>
              <a:rPr lang="pt-BR" sz="1600" dirty="0"/>
              <a:t>Esgotamento de endereços IPv4 — Nós basicamente ficamos sem endereçamento IPv4.</a:t>
            </a:r>
          </a:p>
          <a:p>
            <a:pPr lvl="1" rtl="0"/>
            <a:r>
              <a:rPr lang="pt-BR" sz="1600" dirty="0"/>
              <a:t>Falta de conectividade de ponta a ponta — Para que o IPv4 sobreviva a esse tempo, o endereçamento privado e o NAT foram criados. Isso terminou comunicações diretas com endereçamento público.</a:t>
            </a:r>
          </a:p>
          <a:p>
            <a:pPr lvl="1" rtl="0"/>
            <a:r>
              <a:rPr lang="pt-BR" sz="1600" dirty="0"/>
              <a:t>Maior complexidade da rede — o NAT foi concebido como solução temporária e cria problemas na rede como um efeito colateral da manipulação do endereçamento de cabeçalhos de rede. O NAT causa latência e solução de problemas.</a:t>
            </a:r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4710310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Visão geral do IPv6 PacketsIPv6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997630" cy="3841213"/>
          </a:xfrm>
        </p:spPr>
        <p:txBody>
          <a:bodyPr/>
          <a:lstStyle/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ＭＳ Ｐゴシック"/>
              </a:rPr>
              <a:t>O IPv6 foi desenvolvido pela Internet Engineering Task Force (IETF).</a:t>
            </a: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ＭＳ Ｐゴシック"/>
              </a:rPr>
              <a:t>O IPv6 supera as limitações do IPv4.</a:t>
            </a: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ＭＳ Ｐゴシック"/>
              </a:rPr>
              <a:t>Melhorias que o IPv6 fornece: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b="1">
                <a:ea typeface="ＭＳ Ｐゴシック"/>
              </a:rPr>
              <a:t>Aumento do espaço de endereço </a:t>
            </a:r>
            <a:r>
              <a:rPr lang="pt-BR">
                <a:ea typeface="ＭＳ Ｐゴシック"/>
              </a:rPr>
              <a:t>— baseado no endereço de 128 bits, não em 32 bits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b="1">
                <a:ea typeface="ＭＳ Ｐゴシック"/>
              </a:rPr>
              <a:t>Manipulação aprimorada de pacotes </a:t>
            </a:r>
            <a:r>
              <a:rPr lang="pt-BR">
                <a:ea typeface="ＭＳ Ｐゴシック"/>
              </a:rPr>
              <a:t>- O cabeçalho IPv6 foi simplificado com menos campos.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b="1">
                <a:ea typeface="ＭＳ Ｐゴシック"/>
              </a:rPr>
              <a:t>Elimina a necessidade de NAT </a:t>
            </a:r>
            <a:r>
              <a:rPr lang="pt-BR">
                <a:ea typeface="ＭＳ Ｐゴシック"/>
              </a:rPr>
              <a:t>— uma vez que há uma grande quantidade de endereçamento, não há necessidade de usar o endereçamento privado internamente e ser mapeado para um endereço público compartilhado</a:t>
            </a:r>
          </a:p>
          <a:p>
            <a:pPr lvl="1"/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004" y="804672"/>
            <a:ext cx="488699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63026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114662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Pacotes</a:t>
            </a:r>
            <a:br>
              <a:rPr lang="en-US" altLang="en-US" dirty="0"/>
            </a:br>
            <a:r>
              <a:rPr lang="pt-BR"/>
              <a:t>IPv6 Campos de cabeçalho de pacote IPv4 no cabeçalho do pacote IPv6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3359855" cy="3733082"/>
          </a:xfrm>
        </p:spPr>
        <p:txBody>
          <a:bodyPr/>
          <a:lstStyle/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ＭＳ Ｐゴシック"/>
              </a:rPr>
              <a:t>O cabeçalho IPv6 é simplificado, mas não menor.</a:t>
            </a: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ＭＳ Ｐゴシック"/>
              </a:rPr>
              <a:t>O cabeçalho é fixado em 40 bytes ou octetos de comprimento.</a:t>
            </a: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ＭＳ Ｐゴシック"/>
              </a:rPr>
              <a:t>Vários campos IPv4 foram removidos para melhorar o desempenho.</a:t>
            </a:r>
          </a:p>
          <a:p>
            <a:pPr marL="169545" indent="-169545" rtl="0">
              <a:buFont typeface="Arial" panose="020B0604020202020204" pitchFamily="34" charset="0"/>
              <a:buChar char="•"/>
            </a:pPr>
            <a:r>
              <a:rPr lang="pt-BR" sz="1400">
                <a:ea typeface="ＭＳ Ｐゴシック"/>
              </a:rPr>
              <a:t>Alguns campos IPv4 foram removidos para melhorar o desempenho:</a:t>
            </a:r>
          </a:p>
          <a:p>
            <a:pPr lvl="1" rtl="0"/>
            <a:r>
              <a:rPr lang="pt-BR">
                <a:ea typeface="ＭＳ Ｐゴシック"/>
              </a:rPr>
              <a:t>Flag</a:t>
            </a:r>
          </a:p>
          <a:p>
            <a:pPr lvl="1" rtl="0"/>
            <a:r>
              <a:rPr lang="pt-BR">
                <a:ea typeface="ＭＳ Ｐゴシック"/>
              </a:rPr>
              <a:t>Deslocamento do fragmento</a:t>
            </a:r>
          </a:p>
          <a:p>
            <a:pPr lvl="1" rtl="0"/>
            <a:r>
              <a:rPr lang="pt-BR">
                <a:ea typeface="ＭＳ Ｐゴシック"/>
              </a:rPr>
              <a:t>Soma de verificação do cabeçalho</a:t>
            </a:r>
          </a:p>
          <a:p>
            <a:pPr lvl="1"/>
            <a:endParaRPr lang="en-CA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5" y="1328283"/>
            <a:ext cx="5526755" cy="357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725155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Pacotes IPv6</a:t>
            </a:r>
            <a:br>
              <a:rPr lang="en-US" altLang="en-US" dirty="0"/>
            </a:br>
            <a:r>
              <a:rPr lang="pt-BR"/>
              <a:t>Cabeçalho do Pacote IPv6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457933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Campos significativos no cabeçalho IPv4: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482612"/>
              </p:ext>
            </p:extLst>
          </p:nvPr>
        </p:nvGraphicFramePr>
        <p:xfrm>
          <a:off x="219456" y="1449174"/>
          <a:ext cx="8750808" cy="36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Versão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Isso</a:t>
                      </a:r>
                      <a:r>
                        <a:rPr lang="pt-BR" baseline="0"/>
                        <a:t> será para v6, ao contrário de v4, um campo de 4 bits = 0110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Classe de tráfego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Usado para QoS</a:t>
                      </a:r>
                      <a:r>
                        <a:rPr lang="pt-BR" baseline="0"/>
                        <a:t>: Equivalente ao campo DiffServ — 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Rótulo de fluxo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baseline="0"/>
                        <a:t>Informa o dispositivo para lidar com rótulos de fluxo idênticos da mesma maneira, </a:t>
                      </a:r>
                      <a:r>
                        <a:rPr lang="pt-BR"/>
                        <a:t>campo de 20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Tamanho da carga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Este campo de 16 bits indica o comprimento da parte dos dados ou da carga útil do pacote IPv6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Próximo cabeçalho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I.D.s</a:t>
                      </a:r>
                      <a:r>
                        <a:rPr lang="pt-BR" baseline="0"/>
                        <a:t> protocolo de próximo nível: ICMP, TCP, UDP,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Limite de saltos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Substitui o</a:t>
                      </a:r>
                      <a:r>
                        <a:rPr lang="pt-BR" baseline="0"/>
                        <a:t> campo TTL </a:t>
                      </a:r>
                      <a:r>
                        <a:rPr lang="pt-BR"/>
                        <a:t>Contagem de saltos da Camada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Endereço IPv4 Origem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Endereço de origem de 128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pPr rtl="0"/>
                      <a:r>
                        <a:rPr lang="pt-BR" b="1"/>
                        <a:t>Endereço IPV4 de destino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baseline="0"/>
                        <a:t> Endereço</a:t>
                      </a:r>
                      <a:r>
                        <a:rPr lang="pt-BR"/>
                        <a:t>de destino de 128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041384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Pacote IPv6 </a:t>
            </a:r>
            <a:br>
              <a:rPr lang="en-US" altLang="en-US" dirty="0"/>
            </a:br>
            <a:r>
              <a:rPr lang="pt-BR"/>
              <a:t>Cabeçalho do pacote IPv6 (continuação)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3073117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O pacote IPv6 também pode conter cabeçalhos de extensão (EH). </a:t>
            </a:r>
          </a:p>
          <a:p>
            <a:pPr marL="0" indent="0" rtl="0">
              <a:buNone/>
            </a:pPr>
            <a:r>
              <a:rPr lang="pt-BR" sz="1600"/>
              <a:t>Características dos cabeçalhos EH: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fornecer informações opcionais sobre a camada de rede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são opcionais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são colocados entre o cabeçalho IPv6 e a carga útil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podem ser usado para fragmentação, segurança, suporte à mobilidade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0" indent="0" rtl="0">
              <a:buNone/>
            </a:pPr>
            <a:r>
              <a:rPr lang="pt-BR" sz="1600" b="1"/>
              <a:t>Nota:</a:t>
            </a:r>
            <a:r>
              <a:rPr lang="pt-BR" sz="1600"/>
              <a:t> Ao contrário do IPv4, os roteadores não fragmentam pacotes IPv6.</a:t>
            </a:r>
          </a:p>
        </p:txBody>
      </p:sp>
    </p:spTree>
    <p:extLst>
      <p:ext uri="{BB962C8B-B14F-4D97-AF65-F5344CB8AC3E}">
        <p14:creationId xmlns:p14="http://schemas.microsoft.com/office/powerpoint/2010/main" val="239298384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Pacote IPv6 </a:t>
            </a:r>
            <a:br>
              <a:rPr lang="en-US" altLang="en-US" dirty="0"/>
            </a:br>
            <a:r>
              <a:rPr lang="pt-BR"/>
              <a:t>Vídeo - Exemplo de cabeçalhos IPv6 em Wireshark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8581514" cy="2131285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Este vídeo aborda o seguinte: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Pacotes Ethernet IPv6 em Wireshark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As informações de controle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 diferença entre pacotes</a:t>
            </a:r>
          </a:p>
          <a:p>
            <a:pPr marL="0" indent="0">
              <a:buNone/>
            </a:pPr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32752531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8.4 Como um host roteia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pPr rtl="0"/>
            <a:r>
              <a:rPr lang="pt-BR" sz="1600"/>
              <a:t>Como um host roteia </a:t>
            </a:r>
            <a:br>
              <a:rPr lang="en-US" altLang="en-US" sz="1600" dirty="0"/>
            </a:br>
            <a:r>
              <a:rPr lang="pt-BR"/>
              <a:t>Decisão de encaminhamento do host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516566" cy="2250825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Os pacotes são sempre criados na origem.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Cada dispositivo host cria sua própria tabela de roteamento.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Um host pode enviar pacotes para o seguinte:</a:t>
            </a:r>
          </a:p>
          <a:p>
            <a:pPr lvl="1" rtl="0"/>
            <a:r>
              <a:rPr lang="pt-BR" sz="1700"/>
              <a:t>Próprio — 127.0.0.1 (IPv4),: :1 (IPv6)</a:t>
            </a:r>
          </a:p>
          <a:p>
            <a:pPr lvl="1" rtl="0"/>
            <a:r>
              <a:rPr lang="pt-BR" sz="1700"/>
              <a:t>Hosts locais — o destino está na mesma LAN</a:t>
            </a:r>
          </a:p>
          <a:p>
            <a:pPr lvl="1" rtl="0"/>
            <a:r>
              <a:rPr lang="pt-BR" sz="1700"/>
              <a:t>Hosts remotos — os dispositivos não estão na mesma LAN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051" y="3181961"/>
            <a:ext cx="4799457" cy="192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pPr rtl="0"/>
            <a:r>
              <a:rPr lang="pt-BR" sz="1600"/>
              <a:t>Como um host roteia </a:t>
            </a:r>
            <a:br>
              <a:rPr lang="en-US" altLang="en-US" sz="1600" dirty="0"/>
            </a:br>
            <a:r>
              <a:rPr lang="pt-BR"/>
              <a:t>Decisão de encaminhamento do host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915400" cy="2530460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O dispositivo de origem determina se o destino é local ou remoto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Método de determinação: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IPv4 — A fonte usa seu próprio endereço IP e máscara de sub-rede, juntamente com o endereço IP de destino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IPv6 — A fonte usa o endereço de rede e o prefixo anunciados pelo roteador local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700"/>
              <a:t>O tráfego local é despejado da interface do host a ser tratado por um dispositivo intermediário.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700"/>
              <a:t>O tráfego remoto é encaminhado diretamente para o gateway padrão na LAN.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984" y="3520108"/>
            <a:ext cx="4296537" cy="15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649388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Como um host roteia </a:t>
            </a:r>
            <a:br>
              <a:rPr lang="en-US" altLang="en-US" sz="1600" dirty="0"/>
            </a:br>
            <a:r>
              <a:rPr lang="pt-BR"/>
              <a:t>Gateway padrão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821052"/>
            <a:ext cx="8535435" cy="3376044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Um roteador ou switch de camada 3 pode ser um gateway padrão.</a:t>
            </a:r>
          </a:p>
          <a:p>
            <a:pPr marL="0" indent="0" rtl="0">
              <a:buNone/>
            </a:pPr>
            <a:r>
              <a:rPr lang="pt-BR" sz="1800"/>
              <a:t>Recursos de um gateway padrão (DGW):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700"/>
              <a:t>Ele deve ter um endereço IP no mesmo intervalo que o resto da LAN.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700"/>
              <a:t>Ele pode aceitar dados da LAN e é capaz de encaminhar o tráfego fora da LAN.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700"/>
              <a:t>Ele pode rotear para outras redes.</a:t>
            </a:r>
          </a:p>
          <a:p>
            <a:pPr marL="0" indent="0" rtl="0">
              <a:buNone/>
            </a:pPr>
            <a:r>
              <a:rPr lang="pt-BR" sz="1800"/>
              <a:t>Se um dispositivo não tiver um gateway padrão ou um gateway padrão incorreto, seu tráfego não poderá sair da LAN.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Como um host é roteia</a:t>
            </a:r>
            <a:br>
              <a:rPr lang="en-US" altLang="en-US" sz="1600" dirty="0"/>
            </a:br>
            <a:r>
              <a:rPr lang="pt-BR"/>
              <a:t> Um host é roteado para o gateway padrão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115747" cy="379449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O host saberá o gateway padrão (DGW) estaticamente ou por meio de DHCP no IPv4.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O IPv6 envia o DGW através de uma solicitação de roteador (RS) ou pode ser configurado manualmente.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 Um DGW é uma rota estática que será uma rota de último recurso na tabela de roteamento.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Todos os dispositivos na LAN precisarão do DGW do roteador se pretenderem enviar tráfego remotamente.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70" y="1501170"/>
            <a:ext cx="4765834" cy="222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191498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Como um host roteia </a:t>
            </a:r>
            <a:br>
              <a:rPr lang="en-US" altLang="en-US" sz="1600" dirty="0"/>
            </a:br>
            <a:r>
              <a:rPr lang="pt-BR"/>
              <a:t>Tabelas de roteamento do host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2819110" cy="379449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700"/>
              <a:t>No Windows, rotee print ou netstat -r para exibir a tabela de roteamento do PC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700"/>
              <a:t>Três seções exibidas por estes dois comandos:</a:t>
            </a:r>
          </a:p>
          <a:p>
            <a:pPr lvl="1" rtl="0"/>
            <a:r>
              <a:rPr lang="pt-BR" sz="1600"/>
              <a:t>Lista de interfaces — todas as interfaces potenciais e endereçamento MAC</a:t>
            </a:r>
          </a:p>
          <a:p>
            <a:pPr lvl="1" rtl="0"/>
            <a:r>
              <a:rPr lang="pt-BR" sz="1600"/>
              <a:t>Tabela de roteamento IPv4</a:t>
            </a:r>
          </a:p>
          <a:p>
            <a:pPr lvl="1" rtl="0"/>
            <a:r>
              <a:rPr lang="pt-BR" sz="1600"/>
              <a:t>Tabela de roteamento IPv6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64" y="932688"/>
            <a:ext cx="5485829" cy="373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614824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8.5 Introdução ao Roteamento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Introdução à</a:t>
            </a:r>
            <a:r>
              <a:rPr lang="pt-BR"/>
              <a:t>decisão de encaminhamento de pacotes doroteador de roteamento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3255" y="822098"/>
            <a:ext cx="8807116" cy="538969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O que acontece quando o roteador recebe o quadro do dispositivo host?</a:t>
            </a:r>
          </a:p>
          <a:p>
            <a:pPr lvl="1"/>
            <a:endParaRPr lang="en-CA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5" y="1361067"/>
            <a:ext cx="5439072" cy="33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11" y="2162150"/>
            <a:ext cx="2983832" cy="187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408560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Introdução à</a:t>
            </a:r>
            <a:r>
              <a:rPr lang="pt-BR"/>
              <a:t>Tabela de Roteamento do RoteadorIP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0286" y="798943"/>
            <a:ext cx="8853715" cy="2422943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Há três tipos de rotas na tabela de roteamento de um roteador: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Conexão Direta </a:t>
            </a:r>
            <a:r>
              <a:rPr lang="pt-BR"/>
              <a:t>— Essas rotas são adicionadas automaticamente pelo roteador, desde que a interface esteja ativa e tenha endereçamento.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Remoto</a:t>
            </a:r>
            <a:r>
              <a:rPr lang="pt-BR"/>
              <a:t> — Estas são as rotas em que o roteador não tem uma conexão direta e pode ser aprendido: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Manualmente — com uma rota estática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Dinamicamente — usando um protocolo de roteamento para que os roteadores compartilhem suas informações entre si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Rota Padrão </a:t>
            </a:r>
            <a:r>
              <a:rPr lang="pt-BR"/>
              <a:t>— isso encaminha todo o tráfego para uma direção específica quando não houver correspondência na tabela de roteamento </a:t>
            </a:r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235" y="3617541"/>
            <a:ext cx="5351646" cy="15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866069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5996198" cy="757551"/>
          </a:xfrm>
        </p:spPr>
        <p:txBody>
          <a:bodyPr/>
          <a:lstStyle/>
          <a:p>
            <a:pPr rtl="0"/>
            <a:r>
              <a:rPr lang="pt-BR" sz="1600"/>
              <a:t>Introdução ao Roteamento</a:t>
            </a:r>
            <a:br>
              <a:rPr lang="en-US" altLang="en-US" dirty="0"/>
            </a:br>
            <a:r>
              <a:rPr lang="pt-BR" sz="2400"/>
              <a:t>Estático de Roteamento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306647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Características estáticas da rota: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Deve ser configurado manualmente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Deve ser ajustado manualmente pelo administrador quando houver uma alteração na topologia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Bom para pequenas redes não redundantes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Muitas vezes usado em conjunto com um protocolo de roteamento dinâmico para configurar uma rota padrão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28982"/>
            <a:ext cx="5007756" cy="238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687848"/>
            <a:ext cx="5007757" cy="211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5417371" cy="757551"/>
          </a:xfrm>
        </p:spPr>
        <p:txBody>
          <a:bodyPr/>
          <a:lstStyle/>
          <a:p>
            <a:pPr rtl="0"/>
            <a:r>
              <a:rPr lang="pt-BR" sz="1600"/>
              <a:t>Introdução ao Roteamento</a:t>
            </a:r>
            <a:br>
              <a:rPr lang="en-US" altLang="en-US" sz="1600" dirty="0"/>
            </a:br>
            <a:r>
              <a:rPr lang="pt-BR"/>
              <a:t>Dinâmico de Roteamento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296256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Rotas dinâmicas automaticamente: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Descobrir redes remotas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Manter as informações de roteamento atualizadas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Escolher o melhor caminho para uma rede de destino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Encontre novos caminhos melhores quando houver uma alteração de topologia</a:t>
            </a:r>
          </a:p>
          <a:p>
            <a:pPr marL="0" indent="0" rtl="0">
              <a:buNone/>
            </a:pPr>
            <a:r>
              <a:rPr lang="pt-BR" sz="1600"/>
              <a:t>O roteamento dinâmico também pode compartilhar rotas padrão estáticas com os outros roteadores.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358055"/>
            <a:ext cx="5007757" cy="192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312213"/>
            <a:ext cx="4644736" cy="247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906835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Introdução ao Roteamento de</a:t>
            </a:r>
            <a:br>
              <a:rPr lang="en-US" altLang="en-US" dirty="0"/>
            </a:br>
            <a:r>
              <a:rPr lang="pt-BR"/>
              <a:t>Vídeo — Tabelas de Roteamento de Roteadores IPv4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49383" y="798944"/>
            <a:ext cx="8427026" cy="309335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rtl="0">
              <a:buNone/>
            </a:pPr>
            <a:r>
              <a:rPr lang="pt-BR" sz="1800"/>
              <a:t>Este vídeo explicará as informações na tabela de roteamento do roteador IPv4.</a:t>
            </a:r>
          </a:p>
        </p:txBody>
      </p:sp>
    </p:spTree>
    <p:extLst>
      <p:ext uri="{BB962C8B-B14F-4D97-AF65-F5344CB8AC3E}">
        <p14:creationId xmlns:p14="http://schemas.microsoft.com/office/powerpoint/2010/main" val="3462195043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Introdução a roteamento</a:t>
            </a:r>
            <a:br>
              <a:rPr lang="en-US" altLang="en-US" dirty="0"/>
            </a:br>
            <a:r>
              <a:rPr lang="pt-BR"/>
              <a:t>Introdução a uma tabela de roteamento IPv4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5082" y="817311"/>
            <a:ext cx="3979718" cy="3723515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O comando </a:t>
            </a:r>
            <a:r>
              <a:rPr lang="pt-BR" b="1"/>
              <a:t>show ip route </a:t>
            </a:r>
            <a:r>
              <a:rPr lang="pt-BR"/>
              <a:t>mostra as seguintes fontes de rota:</a:t>
            </a:r>
          </a:p>
          <a:p>
            <a:pPr lvl="1" rtl="0"/>
            <a:r>
              <a:rPr lang="pt-BR" b="1"/>
              <a:t>L</a:t>
            </a:r>
            <a:r>
              <a:rPr lang="pt-BR"/>
              <a:t> - Endereço IP da interface local diretamente conectado</a:t>
            </a:r>
          </a:p>
          <a:p>
            <a:pPr lvl="1" rtl="0"/>
            <a:r>
              <a:rPr lang="pt-BR" b="1"/>
              <a:t>C</a:t>
            </a:r>
            <a:r>
              <a:rPr lang="pt-BR"/>
              <a:t> - Rede diretamente conectada</a:t>
            </a:r>
          </a:p>
          <a:p>
            <a:pPr lvl="1" rtl="0"/>
            <a:r>
              <a:rPr lang="pt-BR" b="1"/>
              <a:t>S</a:t>
            </a:r>
            <a:r>
              <a:rPr lang="pt-BR"/>
              <a:t> — A rota estática foi configurada manualmente por um administrador</a:t>
            </a:r>
          </a:p>
          <a:p>
            <a:pPr lvl="1" rtl="0"/>
            <a:r>
              <a:rPr lang="pt-BR" b="1"/>
              <a:t>O</a:t>
            </a:r>
            <a:r>
              <a:rPr lang="pt-BR"/>
              <a:t>- OSPF</a:t>
            </a:r>
          </a:p>
          <a:p>
            <a:pPr lvl="1" rtl="0"/>
            <a:r>
              <a:rPr lang="pt-BR" b="1"/>
              <a:t>D</a:t>
            </a:r>
            <a:r>
              <a:rPr lang="pt-BR"/>
              <a:t>- EIGRP</a:t>
            </a:r>
          </a:p>
          <a:p>
            <a:pPr marL="0" indent="0" rtl="0">
              <a:buNone/>
            </a:pPr>
            <a:r>
              <a:rPr lang="pt-BR"/>
              <a:t>Este comando mostra tipos de rotas:</a:t>
            </a:r>
          </a:p>
          <a:p>
            <a:pPr lvl="1" rtl="0"/>
            <a:r>
              <a:rPr lang="pt-BR"/>
              <a:t>Conexão Direta - C e L</a:t>
            </a:r>
          </a:p>
          <a:p>
            <a:pPr lvl="1" rtl="0"/>
            <a:r>
              <a:rPr lang="pt-BR"/>
              <a:t>Rotas remotas - O, D, etc.</a:t>
            </a:r>
          </a:p>
          <a:p>
            <a:pPr lvl="1" rtl="0"/>
            <a:r>
              <a:rPr lang="pt-BR"/>
              <a:t>Rotas padrão - S *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91" y="817312"/>
            <a:ext cx="4904509" cy="390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737095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8.6 -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2653524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Módulo Prática e Quiz</a:t>
            </a:r>
            <a:br>
              <a:rPr lang="en-US" altLang="en-US" dirty="0"/>
            </a:br>
            <a:r>
              <a:rPr lang="pt-BR"/>
              <a:t>O que aprendi neste módulo?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801475"/>
            <a:ext cx="8840141" cy="3874434"/>
          </a:xfrm>
        </p:spPr>
        <p:txBody>
          <a:bodyPr/>
          <a:lstStyle/>
          <a:p>
            <a:pPr lvl="2" rtl="0"/>
            <a:r>
              <a:rPr lang="pt-BR" sz="1600"/>
              <a:t>O IP é sem conexão, o melhor esforço e independente da mídia.</a:t>
            </a:r>
          </a:p>
          <a:p>
            <a:pPr lvl="2" rtl="0"/>
            <a:r>
              <a:rPr lang="pt-BR" sz="1600"/>
              <a:t>O IP não garante a entrega de pacotes.</a:t>
            </a:r>
          </a:p>
          <a:p>
            <a:pPr lvl="2" rtl="0"/>
            <a:r>
              <a:rPr lang="pt-BR" sz="1600"/>
              <a:t>Um cabeçalho de pacote IPv4 consiste em campos que contêm informações sobre o pacote.</a:t>
            </a:r>
          </a:p>
          <a:p>
            <a:pPr lvl="2" rtl="0"/>
            <a:r>
              <a:rPr lang="pt-BR" sz="1600"/>
              <a:t>O IPv6 supera a falta de conectividade de ponta a ponta do IPv4 e o aumento da complexidade da rede.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Um dispositivo determinará se um destino é ele próprio, outro host local e um host remoto.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Um gateway padrão é o roteador que faz parte da LAN e será usado como porta para outras redes.</a:t>
            </a:r>
          </a:p>
          <a:p>
            <a:pPr lvl="2" rtl="0"/>
            <a:r>
              <a:rPr lang="pt-BR" sz="1600"/>
              <a:t>A tabela de roteamento contém uma lista de todos os endereços de rede conhecidos (prefixos) e para onde encaminhar o pacote.</a:t>
            </a:r>
          </a:p>
          <a:p>
            <a:pPr lvl="2" rtl="0"/>
            <a:r>
              <a:rPr lang="pt-BR" sz="1600"/>
              <a:t>O roteador usa máscara de sub-rede mais longa ou correspondência de prefixo.</a:t>
            </a:r>
          </a:p>
          <a:p>
            <a:pPr lvl="2" rtl="0"/>
            <a:r>
              <a:rPr lang="pt-BR" sz="1600"/>
              <a:t>A tabela de roteamento tem três tipos de entradas de rota: redes conectadas diretamente, redes remotas e uma rota padrão.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69723964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993"/>
            <a:ext cx="9144000" cy="757551"/>
          </a:xfrm>
        </p:spPr>
        <p:txBody>
          <a:bodyPr/>
          <a:lstStyle/>
          <a:p>
            <a:pPr rtl="0"/>
            <a:r>
              <a:rPr lang="pt-BR" sz="1800"/>
              <a:t>Network Layer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286690" y="1028311"/>
            <a:ext cx="2721476" cy="3709769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Encapsulation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Routing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De-encapsulation</a:t>
            </a:r>
          </a:p>
          <a:p>
            <a:pPr rtl="0" fontAlgn="b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Data payload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Packet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Internet Protocol Version 4 (IPv4)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Internet Protocol Version 6 (IPv6)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Network Layer PDU = IP Packet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IP Header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3008166" y="1019059"/>
            <a:ext cx="2850381" cy="3709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xmlns:c15="http://schemas.microsoft.com/office/drawing/2012/chart" xmlns:c="http://schemas.openxmlformats.org/drawingml/2006/chart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rtl="0" eaLnBrk="1" fontAlgn="ctr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Best effort delivery</a:t>
            </a:r>
          </a:p>
          <a:p>
            <a:pPr rtl="0" eaLnBrk="1" fontAlgn="ctr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Media independent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Connectionless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Unreliable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Maximum Transmission Unit (MTU)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Version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Differentiated Services (DS)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Time-to-Live (TTL)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Internet Control Message Protocol (ICMP)</a:t>
            </a:r>
          </a:p>
          <a:p>
            <a:pPr marL="0" indent="0" eaLnBrk="1" fontAlgn="b" hangingPunct="1">
              <a:buNone/>
            </a:pPr>
            <a:endParaRPr lang="en-US" sz="1600" dirty="0"/>
          </a:p>
        </p:txBody>
      </p:sp>
      <p:sp>
        <p:nvSpPr>
          <p:cNvPr id="8" name="Content Placeholder 1"/>
          <p:cNvSpPr txBox="1">
            <a:spLocks/>
          </p:cNvSpPr>
          <p:nvPr/>
        </p:nvSpPr>
        <p:spPr bwMode="auto">
          <a:xfrm>
            <a:off x="5858547" y="1028311"/>
            <a:ext cx="2841064" cy="3657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xmlns:c15="http://schemas.microsoft.com/office/drawing/2012/chart" xmlns:c="http://schemas.openxmlformats.org/drawingml/2006/chart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Identification, Flags, Fragment Offset fields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Network Address Translation (NAT)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Traffic Class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Flow Label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Payload Length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Next Header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Hop Limit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Extension Headers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Local host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Remote host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Default Gateway</a:t>
            </a:r>
          </a:p>
        </p:txBody>
      </p:sp>
    </p:spTree>
    <p:extLst>
      <p:ext uri="{BB962C8B-B14F-4D97-AF65-F5344CB8AC3E}">
        <p14:creationId xmlns:p14="http://schemas.microsoft.com/office/powerpoint/2010/main" val="494180527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pt-BR" sz="1800">
                <a:latin typeface="Arial" charset="0"/>
              </a:rPr>
              <a:t>Network Layer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276908" y="1019059"/>
            <a:ext cx="2721476" cy="3709769"/>
          </a:xfrm>
          <a:ln>
            <a:solidFill>
              <a:srgbClr val="000000"/>
            </a:solidFill>
          </a:ln>
        </p:spPr>
        <p:txBody>
          <a:bodyPr/>
          <a:lstStyle/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netstat –r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route print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interface list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IPv4 Route Table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IPv6 Route Table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directly-connected routes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remote routes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default route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 b="1"/>
              <a:t>show ip route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route source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destination network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outgoing interface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administrative distance</a:t>
            </a:r>
          </a:p>
          <a:p>
            <a:pPr rtl="0"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metric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3005998" y="1019058"/>
            <a:ext cx="2850381" cy="3709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xmlns:c15="http://schemas.microsoft.com/office/drawing/2012/chart" xmlns:c="http://schemas.openxmlformats.org/drawingml/2006/chart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next-hop</a:t>
            </a:r>
          </a:p>
          <a:p>
            <a:pPr rtl="0"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route timestamp</a:t>
            </a:r>
          </a:p>
        </p:txBody>
      </p:sp>
    </p:spTree>
    <p:extLst>
      <p:ext uri="{BB962C8B-B14F-4D97-AF65-F5344CB8AC3E}">
        <p14:creationId xmlns:p14="http://schemas.microsoft.com/office/powerpoint/2010/main" val="1301599263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918512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21120</TotalTime>
  <Words>3165</Words>
  <Application>Microsoft Office PowerPoint</Application>
  <PresentationFormat>Apresentação na tela (16:9)</PresentationFormat>
  <Paragraphs>445</Paragraphs>
  <Slides>40</Slides>
  <Notes>39</Notes>
  <HiddenSlides>2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Wingdings</vt:lpstr>
      <vt:lpstr>Default Theme</vt:lpstr>
      <vt:lpstr>Módulo 8: Camada de rede</vt:lpstr>
      <vt:lpstr>Módulo 8: Tópicos</vt:lpstr>
      <vt:lpstr>8.1 Características de camada de rede</vt:lpstr>
      <vt:lpstr>Características de camada de rede   Camada de Rede</vt:lpstr>
      <vt:lpstr>Características de camada de rede  Encapsulamento IP</vt:lpstr>
      <vt:lpstr>Características da camada de rede Características do IP</vt:lpstr>
      <vt:lpstr>Características de camada de rede  Conexões</vt:lpstr>
      <vt:lpstr>Características de camada de rede Melhor Esforço</vt:lpstr>
      <vt:lpstr>Características de camada de rede Independente de mídia</vt:lpstr>
      <vt:lpstr>Características da Camada de RedeIndependente deMídia (Contd.) </vt:lpstr>
      <vt:lpstr>8.2 Pacote IPv4</vt:lpstr>
      <vt:lpstr>Pacote IPv4  Cabeçalho do Pacote IPv4</vt:lpstr>
      <vt:lpstr>Pacote IPv4  Campos do Cabeçalho do Pacote IPv4</vt:lpstr>
      <vt:lpstr>Pacote IPv4  Campos do Cabeçalho do Pacote IPv4</vt:lpstr>
      <vt:lpstr> Pacote IPv4 Demonstração em vídeo - Exemplo de cabeçalhos IPv4 em Wireshark</vt:lpstr>
      <vt:lpstr>8.3 Pacotes IPv6</vt:lpstr>
      <vt:lpstr> Pacote IPv6 Limitações do IPv4</vt:lpstr>
      <vt:lpstr>Visão geral do IPv6 PacketsIPv6</vt:lpstr>
      <vt:lpstr>Pacotes IPv6 Campos de cabeçalho de pacote IPv4 no cabeçalho do pacote IPv6</vt:lpstr>
      <vt:lpstr>Pacotes IPv6 Cabeçalho do Pacote IPv6</vt:lpstr>
      <vt:lpstr>Pacote IPv6  Cabeçalho do pacote IPv6 (continuação)</vt:lpstr>
      <vt:lpstr>Pacote IPv6  Vídeo - Exemplo de cabeçalhos IPv6 em Wireshark</vt:lpstr>
      <vt:lpstr>8.4 Como um host roteia</vt:lpstr>
      <vt:lpstr>Como um host roteia  Decisão de encaminhamento do host</vt:lpstr>
      <vt:lpstr>Como um host roteia  Decisão de encaminhamento do host (Cont.)</vt:lpstr>
      <vt:lpstr>Como um host roteia  Gateway padrão</vt:lpstr>
      <vt:lpstr>Como um host é roteia  Um host é roteado para o gateway padrão</vt:lpstr>
      <vt:lpstr>Como um host roteia  Tabelas de roteamento do host</vt:lpstr>
      <vt:lpstr>8.5 Introdução ao Roteamento</vt:lpstr>
      <vt:lpstr>Introdução àdecisão de encaminhamento de pacotes doroteador de roteamento</vt:lpstr>
      <vt:lpstr>Introdução àTabela de Roteamento do RoteadorIP</vt:lpstr>
      <vt:lpstr>Introdução ao Roteamento Estático de Roteamento</vt:lpstr>
      <vt:lpstr>Introdução ao Roteamento Dinâmico de Roteamento</vt:lpstr>
      <vt:lpstr>Introdução ao Roteamento de Vídeo — Tabelas de Roteamento de Roteadores IPv4</vt:lpstr>
      <vt:lpstr>Introdução a roteamento Introdução a uma tabela de roteamento IPv4</vt:lpstr>
      <vt:lpstr>8.6 - Módulo Prática e Quiz</vt:lpstr>
      <vt:lpstr>Módulo Prática e Quiz O que aprendi neste módulo?</vt:lpstr>
      <vt:lpstr>Network Layer New Terms and Commands</vt:lpstr>
      <vt:lpstr>Network Layer New Terms and Commands</vt:lpstr>
      <vt:lpstr>Apresentação do PowerPoint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ISMAEL MOURA PAREDE</cp:lastModifiedBy>
  <cp:revision>1044</cp:revision>
  <dcterms:created xsi:type="dcterms:W3CDTF">2016-08-22T22:27:36Z</dcterms:created>
  <dcterms:modified xsi:type="dcterms:W3CDTF">2025-10-10T23:31:56Z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