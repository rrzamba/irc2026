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7.xml" ContentType="application/vnd.openxmlformats-officedocument.presentationml.tags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0.xml" ContentType="application/vnd.openxmlformats-officedocument.presentationml.tags+xml"/>
  <Override PartName="/ppt/notesSlides/notesSlide28.xml" ContentType="application/vnd.openxmlformats-officedocument.presentationml.notesSlide+xml"/>
  <Override PartName="/ppt/tags/tag11.xml" ContentType="application/vnd.openxmlformats-officedocument.presentationml.tags+xml"/>
  <Override PartName="/ppt/notesSlides/notesSlide29.xml" ContentType="application/vnd.openxmlformats-officedocument.presentationml.notesSlide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3"/>
  </p:notesMasterIdLst>
  <p:sldIdLst>
    <p:sldId id="876" r:id="rId2"/>
    <p:sldId id="1090" r:id="rId3"/>
    <p:sldId id="759" r:id="rId4"/>
    <p:sldId id="1054" r:id="rId5"/>
    <p:sldId id="1091" r:id="rId6"/>
    <p:sldId id="1103" r:id="rId7"/>
    <p:sldId id="1056" r:id="rId8"/>
    <p:sldId id="1058" r:id="rId9"/>
    <p:sldId id="1092" r:id="rId10"/>
    <p:sldId id="1093" r:id="rId11"/>
    <p:sldId id="1094" r:id="rId12"/>
    <p:sldId id="1061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4" r:id="rId22"/>
    <p:sldId id="1105" r:id="rId23"/>
    <p:sldId id="957" r:id="rId24"/>
    <p:sldId id="958" r:id="rId25"/>
    <p:sldId id="1102" r:id="rId26"/>
    <p:sldId id="1106" r:id="rId27"/>
    <p:sldId id="1107" r:id="rId28"/>
    <p:sldId id="1101" r:id="rId29"/>
    <p:sldId id="1089" r:id="rId30"/>
    <p:sldId id="874" r:id="rId31"/>
    <p:sldId id="291" r:id="rId32"/>
  </p:sldIdLst>
  <p:sldSz cx="9144000" cy="5143500" type="screen16x9"/>
  <p:notesSz cx="6858000" cy="9144000"/>
  <p:custDataLst>
    <p:tags r:id="rId3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0340" autoAdjust="0"/>
  </p:normalViewPr>
  <p:slideViewPr>
    <p:cSldViewPr snapToGrid="0" showGuides="1">
      <p:cViewPr varScale="1">
        <p:scale>
          <a:sx n="79" d="100"/>
          <a:sy n="79" d="100"/>
        </p:scale>
        <p:origin x="1570" y="7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</a:p>
          <a:p>
            <a:pPr rtl="0"/>
            <a:r>
              <a:rPr lang="pt-BR"/>
              <a:t>Módulo 10: Configuração básica do roteador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2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buFontTx/>
              <a:buNone/>
            </a:pPr>
            <a:r>
              <a:rPr lang="pt-BR"/>
              <a:t>10 - Configuração básica do roteador</a:t>
            </a:r>
          </a:p>
          <a:p>
            <a:pPr rtl="0">
              <a:buFontTx/>
              <a:buNone/>
            </a:pPr>
            <a:r>
              <a:rPr lang="pt-BR"/>
              <a:t>10.0.2- O que vou aprender neste módulo?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Definir configurações iniciais do roteador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10.1.1 - Etapas básicas da configuração de roteamento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10.1.2 — Exemplo de Configuração de Roteamento Básico</a:t>
            </a:r>
          </a:p>
          <a:p>
            <a:pPr rtl="0"/>
            <a:r>
              <a:rPr lang="pt-BR"/>
              <a:t>10.1.3 - Verificador de Sintaxe — Configurar Definições Iniciais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10.1 - Definir configurações iniciais do roteador</a:t>
            </a:r>
          </a:p>
          <a:p>
            <a:pPr rtl="0"/>
            <a:r>
              <a:rPr lang="pt-BR"/>
              <a:t>10.1.4 – Packet Tracer – Definição das configurações iniciais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30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Configurar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10.2.1 Configurar interfaces do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10.2.2 — Exemplo de Configuração de Interfaces de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10.2.2 — Exemplo de Configuração de Interfaces de Roteador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10.2.3 – Verificar a configuração da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442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10.2 — Configurar interfaces</a:t>
            </a:r>
          </a:p>
          <a:p>
            <a:pPr rtl="0"/>
            <a:r>
              <a:rPr lang="pt-BR"/>
              <a:t>10.2.4 — Comandos de Verificação de Configuração (Cont.)</a:t>
            </a:r>
          </a:p>
          <a:p>
            <a:pPr rtl="0"/>
            <a:r>
              <a:rPr lang="pt-BR"/>
              <a:t>10.2.5 Verificador de Sintaxe — Configurar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Configurar o Gateway Padrão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– Configurar o gateway padrão</a:t>
            </a:r>
          </a:p>
          <a:p>
            <a:pPr rtl="0"/>
            <a:r>
              <a:rPr lang="pt-BR"/>
              <a:t>10.3.1 - Gateway padrão em um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– Configurar o gateway padrão</a:t>
            </a:r>
          </a:p>
          <a:p>
            <a:pPr rtl="0"/>
            <a:r>
              <a:rPr lang="pt-BR"/>
              <a:t>10.3.2 - Gateway padrão em um switch</a:t>
            </a:r>
          </a:p>
          <a:p>
            <a:pPr rtl="0"/>
            <a:r>
              <a:rPr lang="pt-BR"/>
              <a:t>10.3.3 — Verificador de Sintaxe — Configurar o 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10.3 - Configurar o gateway padrão</a:t>
            </a:r>
          </a:p>
          <a:p>
            <a:pPr rtl="0"/>
            <a:r>
              <a:rPr lang="pt-BR"/>
              <a:t>10.3.4 – Packet Tracer – Conectar um roteador a uma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3664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10.3 - Configurar o gateway padrão</a:t>
            </a:r>
          </a:p>
          <a:p>
            <a:pPr rtl="0"/>
            <a:r>
              <a:rPr lang="pt-BR"/>
              <a:t>10.3.5 - Packet Tracer - Solucionar problemas de gateway padrão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651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24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10.4.1 — Vídeo — Diferenças de Dispositivos de Rede: Parte 1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25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10.4.2 — Vídeo — Diferenças de Dispositivos de Rede: Parte 2</a:t>
            </a:r>
          </a:p>
        </p:txBody>
      </p:sp>
    </p:spTree>
    <p:extLst>
      <p:ext uri="{BB962C8B-B14F-4D97-AF65-F5344CB8AC3E}">
        <p14:creationId xmlns:p14="http://schemas.microsoft.com/office/powerpoint/2010/main" val="253370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Configurar o gateway padrão</a:t>
            </a:r>
          </a:p>
          <a:p>
            <a:pPr rtl="0"/>
            <a:r>
              <a:rPr lang="pt-BR"/>
              <a:t>10.4.3 — Tracer de Pacotes — Configuração Básica do Dispositivo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9733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Configurar o gateway padrão</a:t>
            </a:r>
          </a:p>
          <a:p>
            <a:pPr rtl="0"/>
            <a:r>
              <a:rPr lang="pt-BR"/>
              <a:t>10.4.4 – PTPM e Laboratório – Construa uma rede de switches e roteador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28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10.4.5 -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2606168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29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10 - Configuração básica do roteador</a:t>
            </a:r>
          </a:p>
          <a:p>
            <a:pPr rtl="0"/>
            <a:r>
              <a:rPr lang="pt-BR"/>
              <a:t>10.4 - Módulo Prática e Quiz</a:t>
            </a:r>
          </a:p>
          <a:p>
            <a:pPr rtl="0"/>
            <a:r>
              <a:rPr lang="pt-BR"/>
              <a:t>10.4.5 - O que aprendi neste módulo (cont.)?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 rtl="0"/>
              <a:t>30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="http://schemas.openxmlformats.org/drawingml/2006/chart" xmlns:c15="http://schemas.microsoft.com/office/drawing/2012/chart"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76473" y="4741653"/>
            <a:ext cx="2849053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10: Configuração básica do roteador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Configuração básica do roteador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rtl="0" eaLnBrk="0" hangingPunct="0"/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sz="16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Implementar configurações iniciais em um roteador e dispositivos finais.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32762"/>
              </p:ext>
            </p:extLst>
          </p:nvPr>
        </p:nvGraphicFramePr>
        <p:xfrm>
          <a:off x="880345" y="2118939"/>
          <a:ext cx="6980904" cy="1481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Configurar definições iniciais do roteador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Definir as configurações iniciais em um roteador Cisco IOS.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Configurar interfaces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Configurar duas interfaces ativas em um roteador Cisco IOS.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Configurar o gateway padrão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>
                          <a:effectLst/>
                        </a:rPr>
                        <a:t>Configurar dispositivos para que usem o gateway padrão.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93895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10.1 Definir configurações iniciais do roteador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ajustes iniciais </a:t>
            </a:r>
            <a:br>
              <a:rPr lang="en-US" dirty="0"/>
            </a:br>
            <a:r>
              <a:rPr lang="pt-BR" sz="2400"/>
              <a:t>Etapas de configuração básica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o nome do dispositivo.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modo EXEC privilegiado.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modo EXEC usuário.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Proteger o acesso remoto Telnet/SSH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Criptografe todas as senhas em texto simples.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Forneça notificação legal e salve a configuração.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pt-BR" sz="1200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pt-BR" sz="1200" b="1" i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Definir configurações iniciais do roteador </a:t>
            </a:r>
            <a:br>
              <a:rPr lang="en-US" dirty="0"/>
            </a:br>
            <a:r>
              <a:rPr lang="pt-BR" sz="2400"/>
              <a:t>Exemplo de configuração básica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Comandos para configuração básica do roteador no R1.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A configuração é salva na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Digite a mensagem TEXT. Termine com uma nova linha e o #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*************************************************** 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AVISO: O acesso não autorizado é proibido!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lang="pt-BR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- Definir configurações iniciais do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Verifique a configuração padrão do roteador.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e verifique a configuração inicial do roteador.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Salve o arquivo de configuração em execução.</a:t>
            </a:r>
          </a:p>
        </p:txBody>
      </p:sp>
    </p:spTree>
    <p:extLst>
      <p:ext uri="{BB962C8B-B14F-4D97-AF65-F5344CB8AC3E}">
        <p14:creationId xmlns:p14="http://schemas.microsoft.com/office/powerpoint/2010/main" val="109019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Configurar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de interfaces</a:t>
            </a:r>
            <a:br>
              <a:rPr lang="en-US" dirty="0"/>
            </a:br>
            <a:r>
              <a:rPr lang="pt-BR" sz="2400"/>
              <a:t>Configurar interfaces de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A configuração de uma interface de roteador inclui a emissão dos seguintes comandos: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200" b="0" i="1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pt-BR" sz="12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pt-BR" sz="12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 </a:t>
            </a:r>
            <a:r>
              <a:rPr kumimoji="0" lang="pt-BR" sz="9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É uma boa prática usar o comando </a:t>
            </a:r>
            <a:r>
              <a:rPr lang="pt-BR" b="1">
                <a:solidFill>
                  <a:srgbClr val="000000"/>
                </a:solidFill>
              </a:rPr>
              <a:t>description</a:t>
            </a:r>
            <a:r>
              <a:rPr lang="pt-BR">
                <a:solidFill>
                  <a:srgbClr val="000000"/>
                </a:solidFill>
              </a:rPr>
              <a:t> para adicionar informações sobre a rede conectada à interface.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comando </a:t>
            </a:r>
            <a:r>
              <a:rPr lang="pt-BR" b="1">
                <a:solidFill>
                  <a:srgbClr val="000000"/>
                </a:solidFill>
              </a:rPr>
              <a:t>no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lang="pt-BR" b="1">
                <a:solidFill>
                  <a:srgbClr val="000000"/>
                </a:solidFill>
              </a:rPr>
              <a:t>shutdown</a:t>
            </a:r>
            <a:r>
              <a:rPr lang="pt-BR">
                <a:solidFill>
                  <a:srgbClr val="000000"/>
                </a:solidFill>
              </a:rPr>
              <a:t> ativa a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Exemplo de configuração de interfaces de roteador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G0/0/0 em R1 são 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467" y="1515383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3176834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0/0/0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config-if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Link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LAN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config-if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192.168.10.1 255.255.255.0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config-if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2001:db8:acad:10::1/64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config-if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config-if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 </a:t>
            </a:r>
            <a:r>
              <a:rPr lang="pt-BR" sz="9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endParaRPr lang="pt-BR" sz="9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Aug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01:43:53.435: %LINK-3-UPDOWN: Interface GigabitEthernet0/0/0,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</a:t>
            </a:r>
            <a:endParaRPr lang="pt-BR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Aug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01:43:56.447: %LINK-3-UPDOWN: Interface GigabitEthernet0/0/0,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endParaRPr lang="pt-BR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Aug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01:43:57.447: %LINEPROTO-5-UPDOWN: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protocol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Interface GigabitEthernet0/0/0,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pt-BR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endParaRPr lang="pt-BR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 </a:t>
            </a:r>
            <a:br>
              <a:rPr lang="en-US" dirty="0"/>
            </a:br>
            <a:r>
              <a:rPr lang="pt-BR" sz="2400"/>
              <a:t>Exemplo de configuração de interfaces de roteador (cont)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comandos para configurar a interface G0/0/1 em R1 são 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01:46:29.170: %LINK-3-UPDOWN: Interface GigabitEthernet0/0/1, changed state to down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01:46:32.171: %LINK-3-UPDOWN: Interface GigabitEthernet0/0/1, changed state to up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 </a:t>
            </a:r>
            <a:br>
              <a:rPr lang="en-US" dirty="0"/>
            </a:br>
            <a:r>
              <a:rPr lang="pt-BR" sz="2400"/>
              <a:t>Verificar a configuração da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Para verificar a configuração da interface, use os comandos </a:t>
            </a:r>
            <a:r>
              <a:rPr lang="pt-BR" b="1">
                <a:solidFill>
                  <a:srgbClr val="000000"/>
                </a:solidFill>
              </a:rPr>
              <a:t>show ip interface brief </a:t>
            </a:r>
            <a:r>
              <a:rPr lang="pt-BR">
                <a:solidFill>
                  <a:srgbClr val="000000"/>
                </a:solidFill>
              </a:rPr>
              <a:t>e </a:t>
            </a:r>
            <a:r>
              <a:rPr lang="pt-BR" b="1">
                <a:solidFill>
                  <a:srgbClr val="000000"/>
                </a:solidFill>
              </a:rPr>
              <a:t>show ipv6 interface brief </a:t>
            </a:r>
            <a:r>
              <a:rPr lang="pt-BR">
                <a:solidFill>
                  <a:srgbClr val="000000"/>
                </a:solidFill>
              </a:rPr>
              <a:t>mostrados aqui: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rgbClr val="000000"/>
                </a:solidFill>
              </a:rPr>
              <a:t>A tabela resume os comandos show usados para verificar a configuração da interface</a:t>
            </a:r>
            <a:r>
              <a:rPr lang="pt-BR" sz="160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304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Comandos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todas as interfaces, seus endereços IP e seu status atual.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o conteúdo das tabelas de roteamento IP armazenadas na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estatísticas para todas as interfaces no dispositivo. Exibe somente as informações de endereçamento IPv4.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as estatísticas do IPv4 para todas as interfaces em um roteador.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pPr rtl="0"/>
                      <a:r>
                        <a:rPr lang="pt-BR" sz="1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/>
                        <a:t>Exibe as estatísticas do IPv6 para todas as interfaces em um roteador.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Veja o status de todas as interfaces com os comandos </a:t>
            </a:r>
            <a:r>
              <a:rPr lang="pt-BR" sz="1600" b="1">
                <a:solidFill>
                  <a:srgbClr val="000000"/>
                </a:solidFill>
              </a:rPr>
              <a:t>show ip interface brief </a:t>
            </a:r>
            <a:r>
              <a:rPr lang="pt-BR" sz="1600">
                <a:solidFill>
                  <a:srgbClr val="000000"/>
                </a:solidFill>
              </a:rPr>
              <a:t>e </a:t>
            </a:r>
            <a:r>
              <a:rPr lang="pt-BR" sz="1600" b="1">
                <a:solidFill>
                  <a:srgbClr val="000000"/>
                </a:solidFill>
              </a:rPr>
              <a:t>show ipv6 interface brief </a:t>
            </a:r>
            <a:r>
              <a:rPr lang="pt-BR" sz="1600">
                <a:solidFill>
                  <a:srgbClr val="000000"/>
                </a:solidFill>
              </a:rPr>
              <a:t>, mostrados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IP-Address OK? Method Status Protocol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GigabitEthernet0/0/0 192.168.10.1 YES manual up up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Gigabitethernet0/0/1 209.165.200.225 SIM manual up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unassigned YES unset administratively down down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[up/up]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2001:DB8:FEED:224። 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[administratively down/down]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4882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o conteúdo das tabelas de roteamento IP com os comandos </a:t>
            </a:r>
            <a:r>
              <a:rPr lang="pt-BR" sz="1600" b="1">
                <a:solidFill>
                  <a:srgbClr val="000000"/>
                </a:solidFill>
              </a:rPr>
              <a:t>show ip route </a:t>
            </a:r>
            <a:r>
              <a:rPr lang="pt-BR" sz="1600">
                <a:solidFill>
                  <a:srgbClr val="000000"/>
                </a:solidFill>
              </a:rPr>
              <a:t>e </a:t>
            </a:r>
            <a:r>
              <a:rPr lang="pt-BR" sz="1600" b="1">
                <a:solidFill>
                  <a:srgbClr val="000000"/>
                </a:solidFill>
              </a:rPr>
              <a:t>show ipv6 route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set.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192.168.10.0/24 is directly connected, GigabitEthernet0/0/0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192.168.10.1/32 is directly connected, GigabitEthernet0/0/0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209.165.200.224/30 está conectado diretamente, GigabitEthernet0 / 0/1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209.165.200.225/32 está conectado diretamente, GigabitEthernet0 / 0/1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2001:DB8:ACAD:10::/64 [0/0]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2001:DB8:ACAD:10::1/128 [0/0]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2001:DB8:FEED:224::/64 [0/0]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2001:DB8:FEED:224: :1/128 [0/0]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receba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FF00::/8 [0/0]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Exibe estatísticas para todas as interfaces com o comando </a:t>
            </a:r>
            <a:r>
              <a:rPr lang="pt-BR" sz="1600" b="1">
                <a:solidFill>
                  <a:srgbClr val="000000"/>
                </a:solidFill>
              </a:rPr>
              <a:t>show interfaces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9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hardware é ISR4321-2x1ge, o endereço é a0e0.af0d.e140 (bia a0e0.af0d.e140)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 Mbps, o tipo de link é automático, o tipo de mídia é RJ45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controle de fluxo de saída está desativado, o controle de fluxo de entrada está desativado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Fila de entrada: 0/375/0/0 (tamanho/máx/quedas/descargas); Quedas na produção total: 0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9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estatísticas IPv4 para interfaces de roteador com o comando </a:t>
            </a:r>
            <a:r>
              <a:rPr lang="pt-BR" sz="1600" b="1">
                <a:solidFill>
                  <a:srgbClr val="000000"/>
                </a:solidFill>
              </a:rPr>
              <a:t>show ip interface </a:t>
            </a:r>
            <a:r>
              <a:rPr lang="pt-BR" sz="1600">
                <a:solidFill>
                  <a:srgbClr val="000000"/>
                </a:solidFill>
              </a:rPr>
              <a:t>, conforme 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lista de acesso de entrada não está definida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proxy ARP está ativado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ARP de Proxy Local está desativado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nível de segurança é padrão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Dividir horizonte está ativado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Os redirecionamentos ICMP são sempre enviados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 ICMP inacessível é sempre enviado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respostas da máscara ICMP nunca são enviadas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rápida de IP está habilitada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 comutação de fluxo de IP está desativada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&lt;saída omitida&gt;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Interfaces</a:t>
            </a:r>
            <a:br>
              <a:rPr lang="en-US" dirty="0"/>
            </a:br>
            <a:r>
              <a:rPr lang="pt-BR" sz="2400"/>
              <a:t>Configurar Comandos de Verificação (Cont.)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Exiba estatísticas IPv6 para interfaces de roteador com o comando </a:t>
            </a:r>
            <a:r>
              <a:rPr lang="pt-BR" sz="1600" b="1">
                <a:solidFill>
                  <a:srgbClr val="000000"/>
                </a:solidFill>
              </a:rPr>
              <a:t>show ipv6 interface </a:t>
            </a:r>
            <a:r>
              <a:rPr lang="pt-BR" sz="1600">
                <a:solidFill>
                  <a:srgbClr val="000000"/>
                </a:solidFill>
              </a:rPr>
              <a:t>mostrado aqui: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pt-BR" sz="1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Configurar o Gateway Padrão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o gateway padrão</a:t>
            </a:r>
            <a:br>
              <a:rPr lang="en-US" dirty="0"/>
            </a:br>
            <a:r>
              <a:rPr lang="pt-BR" sz="2400"/>
              <a:t>Gateway padrão em um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gateway padrão é usado quando um host envia um pacote para um dispositivo em outra rede.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endereço do gateway padrão geralmente é o endereço da interface do roteador associado à rede local do host.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alcançar o PC3, o PC1 aborda um pacote com o endereço IPv4 do PC3, mas encaminha o pacote para seu gateway padrão, a interface G0/0/0 de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>
                <a:solidFill>
                  <a:srgbClr val="000000"/>
                </a:solidFill>
              </a:rPr>
              <a:t>Nota</a:t>
            </a:r>
            <a:r>
              <a:rPr lang="pt-BR" sz="1600">
                <a:solidFill>
                  <a:srgbClr val="000000"/>
                </a:solidFill>
              </a:rPr>
              <a:t>: O endereço IP do host e a interface do roteador devem estar na mesma rede.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Configurar o gateway padrão</a:t>
            </a:r>
            <a:br>
              <a:rPr lang="en-US" dirty="0"/>
            </a:br>
            <a:r>
              <a:rPr lang="pt-BR" sz="2400"/>
              <a:t>Gateway padrão em um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Um switch deve ter um endereço de gateway padrão configurado para gerenciar remotamente o switch de outra rede.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Para configurar um gateway padrão IPv4 em um switch, use o comando de configuração global </a:t>
            </a:r>
            <a:r>
              <a:rPr lang="pt-BR" b="1">
                <a:solidFill>
                  <a:srgbClr val="000000"/>
                </a:solidFill>
              </a:rPr>
              <a:t>ip default-gateway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lang="pt-BR" i="1">
                <a:solidFill>
                  <a:srgbClr val="000000"/>
                </a:solidFill>
              </a:rPr>
              <a:t>ip-address </a:t>
            </a:r>
            <a:r>
              <a:rPr lang="pt-BR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1D5D00-3D9F-3E4A-B62C-66D13E5CE20B}"/>
              </a:ext>
            </a:extLst>
          </p:cNvPr>
          <p:cNvSpPr txBox="1"/>
          <p:nvPr/>
        </p:nvSpPr>
        <p:spPr>
          <a:xfrm>
            <a:off x="3829878" y="731837"/>
            <a:ext cx="4402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>
                <a:solidFill>
                  <a:srgbClr val="C00000"/>
                </a:solidFill>
              </a:rPr>
              <a:t>A MÍDIA ESTÁ TRABALHANDO EM UMA VERSÃO CORRIGIDA DO GRÁFICO DE 10.3.2.</a:t>
            </a:r>
          </a:p>
          <a:p>
            <a:pPr algn="ctr" rtl="0"/>
            <a:r>
              <a:rPr lang="pt-BR">
                <a:solidFill>
                  <a:srgbClr val="C00000"/>
                </a:solidFill>
              </a:rPr>
              <a:t>ESTÁ ERRADO NO AR, E NA LISTA GLOBAL DE ERROS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F983A9E2-6668-F24E-8A3A-4D0990AAC601}"/>
              </a:ext>
            </a:extLst>
          </p:cNvPr>
          <p:cNvSpPr/>
          <p:nvPr/>
        </p:nvSpPr>
        <p:spPr>
          <a:xfrm>
            <a:off x="5116546" y="2355952"/>
            <a:ext cx="1828800" cy="1830983"/>
          </a:xfrm>
          <a:prstGeom prst="octagon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t-BR" sz="320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 </a:t>
            </a:r>
            <a:br>
              <a:rPr lang="en-US" dirty="0"/>
            </a:br>
            <a:r>
              <a:rPr lang="pt-BR" sz="2400"/>
              <a:t>Packet Tracer – Conecte um roteador a uma 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Exibe as informações do roteador.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interfaces do roteador. 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Verifique a configuração.</a:t>
            </a:r>
          </a:p>
        </p:txBody>
      </p:sp>
    </p:spTree>
    <p:extLst>
      <p:ext uri="{BB962C8B-B14F-4D97-AF65-F5344CB8AC3E}">
        <p14:creationId xmlns:p14="http://schemas.microsoft.com/office/powerpoint/2010/main" val="3358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– Solucionar problemas de gateway padrão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Verificar a documentação de rede e usar testes para isolar problemas.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Determinar uma solução apropriada para um problema específico.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Implementar a solução.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Testar para verificar se o problema foi resolvido.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Documentar a solução.</a:t>
            </a:r>
          </a:p>
        </p:txBody>
      </p:sp>
    </p:spTree>
    <p:extLst>
      <p:ext uri="{BB962C8B-B14F-4D97-AF65-F5344CB8AC3E}">
        <p14:creationId xmlns:p14="http://schemas.microsoft.com/office/powerpoint/2010/main" val="3848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10.4 -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Prática do Módulo e Quiz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Vídeo - Diferenças de Dispositivos de Rede: Parte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Este vídeo abordará as diferentes características físicas do seguinte: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4000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2900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1900 Series.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Prática do Módulo e Quiz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Vídeo - Diferenças de Dispositivos de Rede: Parte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Este vídeo abordará as diferentes configurações do seguinte: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4000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2900 Series.</a:t>
            </a:r>
          </a:p>
          <a:p>
            <a:pPr marL="261937" lvl="2" rtl="0">
              <a:spcBef>
                <a:spcPts val="0"/>
              </a:spcBef>
              <a:spcAft>
                <a:spcPts val="0"/>
              </a:spcAft>
            </a:pPr>
            <a:r>
              <a:rPr lang="pt-BR" sz="1800"/>
              <a:t>Roteador Cisco 1900 Series.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7585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Configurações iniciais do roteador</a:t>
            </a:r>
            <a:br>
              <a:rPr lang="en-US" dirty="0"/>
            </a:br>
            <a:r>
              <a:rPr lang="pt-BR" sz="2400"/>
              <a:t>Packet Tracer – Configuração básica do dispositivo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Complete a documentação da rede.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Executar as configurações básicas de dispositivo em um roteador e em um switch.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Verificar a conectividade e solucionar problemas.</a:t>
            </a:r>
          </a:p>
        </p:txBody>
      </p:sp>
    </p:spTree>
    <p:extLst>
      <p:ext uri="{BB962C8B-B14F-4D97-AF65-F5344CB8AC3E}">
        <p14:creationId xmlns:p14="http://schemas.microsoft.com/office/powerpoint/2010/main" val="11220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2" y="1654450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a topologia e inicialize os dispositivos.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Configure dispositivos e verifique a conectividade.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Exibir informações do dispositivo.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lang="pt-BR" sz="1600"/>
              <a:t>Configure configurações iniciais do roteador</a:t>
            </a:r>
            <a:br>
              <a:rPr lang="en-US" dirty="0"/>
            </a:br>
            <a:r>
              <a:rPr lang="pt-BR" sz="2400"/>
              <a:t>Packet Tracer – Construa uma rede de switches e roteador – Laboratório </a:t>
            </a:r>
            <a:br>
              <a:rPr lang="en-US" sz="2400" dirty="0"/>
            </a:br>
            <a:r>
              <a:rPr lang="pt-BR" sz="2400"/>
              <a:t>Modo Físico – Construa uma rede de switch e roteador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="http://schemas.openxmlformats.org/drawingml/2006/chart" xmlns:c15="http://schemas.microsoft.com/office/drawing/2012/chart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As tarefas que devem ser concluídas ao definir as configurações iniciais em um roteador.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Configurar o nome do dispositivo.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modo EXEC privilegiado.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modo EXEC usuário.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o acesso remoto Telnet/SSH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Proteger todas as senhas do arquivo de configuração.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Apresentar a notificação legal.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Salvar a configuração.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Para que os roteadores estejam acessíveis, as interfaces do roteador devem estar configuradas.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600"/>
              <a:t>O uso do comando </a:t>
            </a:r>
            <a:r>
              <a:rPr lang="pt-BR" sz="1600" b="1"/>
              <a:t>no shutdown</a:t>
            </a:r>
            <a:r>
              <a:rPr lang="pt-BR" sz="1600"/>
              <a:t> ativa a interface. A interface também deve ser conectada a outro dispositivo, como switch ou roteador, para que a camada física esteja ativa. </a:t>
            </a:r>
            <a:r>
              <a:rPr lang="pt-BR" sz="1600" b="1"/>
              <a:t>Existem vários comandos que podem ser usados para verificar a configuração da interface, incluindo o show ip interface brief e show ipv6 interface brief , o show ip route e show ipv6 route , bem como show interfaces , show ip interface</a:t>
            </a:r>
            <a:r>
              <a:rPr lang="pt-BR" sz="1600"/>
              <a:t> e </a:t>
            </a:r>
            <a:r>
              <a:rPr lang="pt-BR" sz="1600" b="1"/>
              <a:t>show ipv6 interface.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35251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eu aprendi neste módulo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Para que um dispositivo final alcance outras redes, um gateway padrão deve ser configurado.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O endereço IP do dispositivo host e o endereço da interface do roteador devem estar na mesma rede.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Um switch deve ter um endereço de gateway padrão configurado para gerenciar remotamente o switch de outra rede.</a:t>
            </a:r>
          </a:p>
          <a:p>
            <a:pPr lvl="1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/>
              <a:t>Para configurar um gateway padrão IPv4 em um switch, use o comando de configuração global </a:t>
            </a:r>
            <a:r>
              <a:rPr lang="pt-BR" sz="1800" b="1"/>
              <a:t>ip default-gateway</a:t>
            </a:r>
            <a:r>
              <a:rPr lang="pt-BR" sz="1800"/>
              <a:t> </a:t>
            </a:r>
            <a:r>
              <a:rPr lang="pt-BR" sz="1800" i="1"/>
              <a:t>ip-address</a:t>
            </a:r>
            <a:r>
              <a:rPr lang="pt-BR" sz="1800"/>
              <a:t>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charset="0"/>
              </a:rPr>
              <a:t>Módulo 10: Configuração básica do roteador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2187D21-D66C-4895-A65D-7270601A2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9341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interfaces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show ipv6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b="1">
                          <a:solidFill>
                            <a:srgbClr val="000000"/>
                          </a:solidFill>
                        </a:rPr>
                        <a:t>ip default-gateway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5240</TotalTime>
  <Words>3342</Words>
  <Application>Microsoft Office PowerPoint</Application>
  <PresentationFormat>Apresentação na tela (16:9)</PresentationFormat>
  <Paragraphs>433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Wingdings</vt:lpstr>
      <vt:lpstr>Default Theme</vt:lpstr>
      <vt:lpstr>Módulo 10: Configuração básica do roteador</vt:lpstr>
      <vt:lpstr>Objetivos do módulo</vt:lpstr>
      <vt:lpstr>10.1 Definir configurações iniciais do roteador</vt:lpstr>
      <vt:lpstr>Configurar ajustes iniciais  Etapas de configuração básica do roteador</vt:lpstr>
      <vt:lpstr>Definir configurações iniciais do roteador  Exemplo de configuração básica do roteador</vt:lpstr>
      <vt:lpstr>Configurações iniciais do roteador Packet Tracer - Definir configurações iniciais do roteador</vt:lpstr>
      <vt:lpstr>10.2 Configurar interfaces</vt:lpstr>
      <vt:lpstr>Configuração de interfaces Configurar interfaces de roteador</vt:lpstr>
      <vt:lpstr>Configurar interfaces Exemplo de configuração de interfaces de roteador</vt:lpstr>
      <vt:lpstr>Configurar interfaces  Exemplo de configuração de interfaces de roteador (cont)</vt:lpstr>
      <vt:lpstr>Configurar interfaces  Verificar a configuração da interface</vt:lpstr>
      <vt:lpstr>Configurar interfaces Configurar comandos de verificação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Configurar Interfaces Configurar Comandos de Verificação (Cont.) </vt:lpstr>
      <vt:lpstr>10.3 Configurar o Gateway Padrão</vt:lpstr>
      <vt:lpstr>Configurar o gateway padrão Gateway padrão em um host</vt:lpstr>
      <vt:lpstr>Configurar o gateway padrão Gateway padrão em um switch</vt:lpstr>
      <vt:lpstr>Configurações iniciais do roteador  Packet Tracer – Conecte um roteador a uma LAN</vt:lpstr>
      <vt:lpstr>Configurações iniciais do roteador Packet Tracer – Solucionar problemas de gateway padrão</vt:lpstr>
      <vt:lpstr>10.4 - Módulo Prática e Quiz</vt:lpstr>
      <vt:lpstr>Prática do Módulo e Quiz  Vídeo - Diferenças de Dispositivos de Rede: Parte 1</vt:lpstr>
      <vt:lpstr>Prática do Módulo e Quiz  Vídeo - Diferenças de Dispositivos de Rede: Parte 2</vt:lpstr>
      <vt:lpstr>Configurações iniciais do roteador Packet Tracer – Configuração básica do dispositivo</vt:lpstr>
      <vt:lpstr>Configure configurações iniciais do roteador Packet Tracer – Construa uma rede de switches e roteador – Laboratório  Modo Físico – Construa uma rede de switch e roteador</vt:lpstr>
      <vt:lpstr>Módulo Prática e Quiz O que aprendi neste módulo?</vt:lpstr>
      <vt:lpstr>Módulo Prática e Quiz O que eu aprendi neste módulo (Cont.)?</vt:lpstr>
      <vt:lpstr>Módulo 10: Configuração básica do roteador  Novos Termos e Comandos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ISMAEL MOURA PAREDE</cp:lastModifiedBy>
  <cp:revision>230</cp:revision>
  <dcterms:created xsi:type="dcterms:W3CDTF">2019-10-18T06:21:22Z</dcterms:created>
  <dcterms:modified xsi:type="dcterms:W3CDTF">2025-10-17T14:51:13Z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