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6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7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tags/tag8.xml" ContentType="application/vnd.openxmlformats-officedocument.presentationml.tags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tags/tag9.xml" ContentType="application/vnd.openxmlformats-officedocument.presentationml.tags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tags/tag10.xml" ContentType="application/vnd.openxmlformats-officedocument.presentationml.tags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tags/tag11.xml" ContentType="application/vnd.openxmlformats-officedocument.presentationml.tags+xml"/>
  <Override PartName="/ppt/notesSlides/notesSlide36.xml" ContentType="application/vnd.openxmlformats-officedocument.presentationml.notesSlide+xml"/>
  <Override PartName="/ppt/tags/tag12.xml" ContentType="application/vnd.openxmlformats-officedocument.presentationml.tags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tags/tag13.xml" ContentType="application/vnd.openxmlformats-officedocument.presentationml.tags+xml"/>
  <Override PartName="/ppt/notesSlides/notesSlide41.xml" ContentType="application/vnd.openxmlformats-officedocument.presentationml.notesSlide+xml"/>
  <Override PartName="/ppt/tags/tag14.xml" ContentType="application/vnd.openxmlformats-officedocument.presentationml.tags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tags/tag15.xml" ContentType="application/vnd.openxmlformats-officedocument.presentationml.tags+xml"/>
  <Override PartName="/ppt/notesSlides/notesSlide47.xml" ContentType="application/vnd.openxmlformats-officedocument.presentationml.notesSlide+xml"/>
  <Override PartName="/ppt/tags/tag16.xml" ContentType="application/vnd.openxmlformats-officedocument.presentationml.tags+xml"/>
  <Override PartName="/ppt/notesSlides/notesSlide48.xml" ContentType="application/vnd.openxmlformats-officedocument.presentationml.notesSlide+xml"/>
  <Override PartName="/ppt/tags/tag17.xml" ContentType="application/vnd.openxmlformats-officedocument.presentationml.tags+xml"/>
  <Override PartName="/ppt/notesSlides/notesSlide49.xml" ContentType="application/vnd.openxmlformats-officedocument.presentationml.notesSlide+xml"/>
  <Override PartName="/ppt/tags/tag18.xml" ContentType="application/vnd.openxmlformats-officedocument.presentationml.tags+xml"/>
  <Override PartName="/ppt/notesSlides/notesSlide50.xml" ContentType="application/vnd.openxmlformats-officedocument.presentationml.notesSlide+xml"/>
  <Override PartName="/ppt/tags/tag19.xml" ContentType="application/vnd.openxmlformats-officedocument.presentationml.tags+xml"/>
  <Override PartName="/ppt/notesSlides/notesSlide51.xml" ContentType="application/vnd.openxmlformats-officedocument.presentationml.notesSlide+xml"/>
  <Override PartName="/ppt/tags/tag20.xml" ContentType="application/vnd.openxmlformats-officedocument.presentationml.tags+xml"/>
  <Override PartName="/ppt/notesSlides/notesSlide52.xml" ContentType="application/vnd.openxmlformats-officedocument.presentationml.notesSlide+xml"/>
  <Override PartName="/ppt/tags/tag21.xml" ContentType="application/vnd.openxmlformats-officedocument.presentationml.tags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0" r:id="rId1"/>
  </p:sldMasterIdLst>
  <p:notesMasterIdLst>
    <p:notesMasterId r:id="rId55"/>
  </p:notesMasterIdLst>
  <p:sldIdLst>
    <p:sldId id="876" r:id="rId2"/>
    <p:sldId id="860" r:id="rId3"/>
    <p:sldId id="1150" r:id="rId4"/>
    <p:sldId id="759" r:id="rId5"/>
    <p:sldId id="1054" r:id="rId6"/>
    <p:sldId id="1151" r:id="rId7"/>
    <p:sldId id="1056" r:id="rId8"/>
    <p:sldId id="1152" r:id="rId9"/>
    <p:sldId id="1153" r:id="rId10"/>
    <p:sldId id="1154" r:id="rId11"/>
    <p:sldId id="1063" r:id="rId12"/>
    <p:sldId id="1119" r:id="rId13"/>
    <p:sldId id="1155" r:id="rId14"/>
    <p:sldId id="1156" r:id="rId15"/>
    <p:sldId id="1157" r:id="rId16"/>
    <p:sldId id="1158" r:id="rId17"/>
    <p:sldId id="1159" r:id="rId18"/>
    <p:sldId id="1160" r:id="rId19"/>
    <p:sldId id="957" r:id="rId20"/>
    <p:sldId id="1161" r:id="rId21"/>
    <p:sldId id="1162" r:id="rId22"/>
    <p:sldId id="1163" r:id="rId23"/>
    <p:sldId id="1105" r:id="rId24"/>
    <p:sldId id="1164" r:id="rId25"/>
    <p:sldId id="1165" r:id="rId26"/>
    <p:sldId id="1166" r:id="rId27"/>
    <p:sldId id="1167" r:id="rId28"/>
    <p:sldId id="1168" r:id="rId29"/>
    <p:sldId id="1169" r:id="rId30"/>
    <p:sldId id="1170" r:id="rId31"/>
    <p:sldId id="1106" r:id="rId32"/>
    <p:sldId id="1171" r:id="rId33"/>
    <p:sldId id="1172" r:id="rId34"/>
    <p:sldId id="1174" r:id="rId35"/>
    <p:sldId id="1173" r:id="rId36"/>
    <p:sldId id="1184" r:id="rId37"/>
    <p:sldId id="1107" r:id="rId38"/>
    <p:sldId id="1175" r:id="rId39"/>
    <p:sldId id="1176" r:id="rId40"/>
    <p:sldId id="1177" r:id="rId41"/>
    <p:sldId id="1185" r:id="rId42"/>
    <p:sldId id="1104" r:id="rId43"/>
    <p:sldId id="1178" r:id="rId44"/>
    <p:sldId id="1179" r:id="rId45"/>
    <p:sldId id="1180" r:id="rId46"/>
    <p:sldId id="1181" r:id="rId47"/>
    <p:sldId id="1182" r:id="rId48"/>
    <p:sldId id="1064" r:id="rId49"/>
    <p:sldId id="1065" r:id="rId50"/>
    <p:sldId id="958" r:id="rId51"/>
    <p:sldId id="1183" r:id="rId52"/>
    <p:sldId id="874" r:id="rId53"/>
    <p:sldId id="291" r:id="rId54"/>
  </p:sldIdLst>
  <p:sldSz cx="9144000" cy="5143500" type="screen16x9"/>
  <p:notesSz cx="6858000" cy="9144000"/>
  <p:custDataLst>
    <p:tags r:id="rId56"/>
  </p:custDataLst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33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arbara Reif" initials="BR" lastIdx="3" clrIdx="0"/>
  <p:cmAuthor id="1" name="Jane Gibbons -X (jagibbon - DEL ORO CONSULTING INC at Cisco)" initials="JG-(-DOCIaC" lastIdx="28" clrIdx="1">
    <p:extLst>
      <p:ext uri="{19B8F6BF-5375-455C-9EA6-DF929625EA0E}">
        <p15:presenceInfo xmlns:p15="http://schemas.microsoft.com/office/powerpoint/2012/main" userId="S-1-5-21-1708537768-1303643608-725345543-200204" providerId="AD"/>
      </p:ext>
    </p:extLst>
  </p:cmAuthor>
  <p:cmAuthor id="2" name="Bob Vachon" initials="BV" lastIdx="24" clrIdx="2">
    <p:extLst>
      <p:ext uri="{19B8F6BF-5375-455C-9EA6-DF929625EA0E}">
        <p15:presenceInfo xmlns:p15="http://schemas.microsoft.com/office/powerpoint/2012/main" userId="c7abe87968a0b633" providerId="Windows Live"/>
      </p:ext>
    </p:extLst>
  </p:cmAuthor>
  <p:cmAuthor id="3" name="Sue Livingston -X (suliving - UNICON INC at Cisco)" initials="SL-(-UIaC" lastIdx="29" clrIdx="3">
    <p:extLst>
      <p:ext uri="{19B8F6BF-5375-455C-9EA6-DF929625EA0E}">
        <p15:presenceInfo xmlns:p15="http://schemas.microsoft.com/office/powerpoint/2012/main" userId="S::suliving@cisco.com::dc701d48-dd51-411a-9041-b7f1328f1486" providerId="AD"/>
      </p:ext>
    </p:extLst>
  </p:cmAuthor>
  <p:cmAuthor id="4" name="jagibbon" initials="jmg" lastIdx="8" clrIdx="4">
    <p:extLst>
      <p:ext uri="{19B8F6BF-5375-455C-9EA6-DF929625EA0E}">
        <p15:presenceInfo xmlns:p15="http://schemas.microsoft.com/office/powerpoint/2012/main" userId="jagibbo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E7E9EB"/>
    <a:srgbClr val="592A8A"/>
    <a:srgbClr val="0000CC"/>
    <a:srgbClr val="000099"/>
    <a:srgbClr val="CC99FF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38" autoAdjust="0"/>
    <p:restoredTop sz="84371" autoAdjust="0"/>
  </p:normalViewPr>
  <p:slideViewPr>
    <p:cSldViewPr snapToGrid="0" showGuides="1">
      <p:cViewPr varScale="1">
        <p:scale>
          <a:sx n="95" d="100"/>
          <a:sy n="95" d="100"/>
        </p:scale>
        <p:origin x="1253" y="67"/>
      </p:cViewPr>
      <p:guideLst>
        <p:guide orient="horz" pos="1620"/>
        <p:guide pos="336"/>
      </p:guideLst>
    </p:cSldViewPr>
  </p:slideViewPr>
  <p:outlineViewPr>
    <p:cViewPr>
      <p:scale>
        <a:sx n="33" d="100"/>
        <a:sy n="33" d="100"/>
      </p:scale>
      <p:origin x="0" y="-22670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11" d="100"/>
        <a:sy n="111" d="100"/>
      </p:scale>
      <p:origin x="0" y="-512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gs" Target="tags/tag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commentAuthors" Target="commentAuthor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6337D9-3022-3D41-8D8A-BDF2F3B0DD8E}" type="datetimeFigureOut">
              <a:rPr lang="en-US" smtClean="0"/>
              <a:t>10/17/2025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1018C-6CAF-B84E-B92C-ECB119457FBA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564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 dirty="0"/>
              <a:t>Programa da Cisco Networking </a:t>
            </a:r>
            <a:r>
              <a:rPr lang="pt-BR" dirty="0" err="1"/>
              <a:t>Academy</a:t>
            </a:r>
            <a:endParaRPr lang="pt-BR" dirty="0"/>
          </a:p>
          <a:p>
            <a:pPr rtl="0"/>
            <a:r>
              <a:rPr lang="pt-BR" dirty="0"/>
              <a:t>Introdução às redes v7.0 (ITN)</a:t>
            </a:r>
          </a:p>
          <a:p>
            <a:pPr rtl="0"/>
            <a:r>
              <a:rPr lang="pt-BR" dirty="0"/>
              <a:t>Módulo 12: Endereçamento IPv6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081187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7C839C26-801B-42B6-A101-60F37FE2B0A8}" type="slidenum">
              <a:rPr sz="800" b="0">
                <a:solidFill>
                  <a:prstClr val="black"/>
                </a:solidFill>
              </a:rPr>
              <a:pPr algn="r" rtl="0"/>
              <a:t>2</a:t>
            </a:fld>
            <a:endParaRPr sz="800" b="0">
              <a:solidFill>
                <a:prstClr val="black"/>
              </a:solidFill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buFontTx/>
              <a:buNone/>
            </a:pPr>
            <a:r>
              <a:rPr lang="pt-BR"/>
              <a:t>Módulo 12: Endereçamento IPv6</a:t>
            </a:r>
          </a:p>
          <a:p>
            <a:pPr rtl="0">
              <a:buFontTx/>
              <a:buNone/>
            </a:pPr>
            <a:r>
              <a:rPr lang="pt-BR"/>
              <a:t>12.0.2- O que aprenderei a fazer neste módulo.</a:t>
            </a:r>
          </a:p>
        </p:txBody>
      </p:sp>
    </p:spTree>
    <p:extLst>
      <p:ext uri="{BB962C8B-B14F-4D97-AF65-F5344CB8AC3E}">
        <p14:creationId xmlns:p14="http://schemas.microsoft.com/office/powerpoint/2010/main" val="17344456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7C839C26-801B-42B6-A101-60F37FE2B0A8}" type="slidenum">
              <a:rPr sz="800" b="0">
                <a:solidFill>
                  <a:prstClr val="black"/>
                </a:solidFill>
              </a:rPr>
              <a:pPr algn="r" rtl="0"/>
              <a:t>3</a:t>
            </a:fld>
            <a:endParaRPr sz="800" b="0">
              <a:solidFill>
                <a:prstClr val="black"/>
              </a:solidFill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buFontTx/>
              <a:buNone/>
            </a:pPr>
            <a:r>
              <a:rPr lang="pt-BR"/>
              <a:t>Módulo 12: Endereçamento IPv6</a:t>
            </a:r>
          </a:p>
          <a:p>
            <a:pPr rtl="0">
              <a:buFontTx/>
              <a:buNone/>
            </a:pPr>
            <a:r>
              <a:rPr lang="pt-BR"/>
              <a:t>12.0.2- O que aprenderei a fazer neste módulo.</a:t>
            </a:r>
          </a:p>
          <a:p>
            <a:pPr>
              <a:buFontTx/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834367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12- Endereçamento IPv6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12.1 Problemas IPv4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255296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Módulo 12: Endereçamento IPv6</a:t>
            </a:r>
          </a:p>
          <a:p>
            <a:pPr rtl="0"/>
            <a:r>
              <a:rPr lang="pt-BR"/>
              <a:t>12.1 — Problemas IPv4</a:t>
            </a:r>
          </a:p>
          <a:p>
            <a:pPr rtl="0"/>
            <a:r>
              <a:rPr lang="pt-BR"/>
              <a:t>12.1.1 — Necessidade de IPv6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923122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Módulo 12: Endereçamento IPv6</a:t>
            </a:r>
          </a:p>
          <a:p>
            <a:pPr rtl="0"/>
            <a:r>
              <a:rPr lang="pt-BR"/>
              <a:t>12.1 — Problemas IPv4</a:t>
            </a:r>
          </a:p>
          <a:p>
            <a:pPr rtl="0"/>
            <a:r>
              <a:rPr lang="pt-BR"/>
              <a:t>12.1.2 — Coexistência IPv4 e IPv6</a:t>
            </a:r>
          </a:p>
          <a:p>
            <a:pPr rtl="0"/>
            <a:r>
              <a:rPr lang="pt-BR"/>
              <a:t>12.1.3 — Verifique o seu entendimento — Problemas IPv4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156587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12- Endereçamento IPv6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12.2 Representação do Endereço IPv4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632910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12 - Endereçamento IPv6</a:t>
            </a:r>
          </a:p>
          <a:p>
            <a:pPr rtl="0"/>
            <a:r>
              <a:rPr lang="pt-BR"/>
              <a:t>12.2 - Representação do Endereço IPv6</a:t>
            </a:r>
          </a:p>
          <a:p>
            <a:pPr rtl="0"/>
            <a:r>
              <a:rPr lang="pt-BR"/>
              <a:t>12.2.1 — Formatos de endereçamento IPv6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427594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12 - Endereçamento IPv6</a:t>
            </a:r>
          </a:p>
          <a:p>
            <a:pPr rtl="0"/>
            <a:r>
              <a:rPr lang="pt-BR"/>
              <a:t>12.2 - Representação do Endereço IPv6</a:t>
            </a:r>
          </a:p>
          <a:p>
            <a:pPr rtl="0"/>
            <a:r>
              <a:rPr lang="pt-BR"/>
              <a:t>12.2.2 — Omitir zero à esquerda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349840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12 - Endereçamento IPv6</a:t>
            </a:r>
          </a:p>
          <a:p>
            <a:pPr rtl="0"/>
            <a:r>
              <a:rPr lang="pt-BR"/>
              <a:t>12.2 - Representação do Endereço IPv6</a:t>
            </a:r>
          </a:p>
          <a:p>
            <a:pPr rtl="0"/>
            <a:r>
              <a:rPr lang="pt-BR"/>
              <a:t>12.2.2 — Regra 2 — Dois-pontos duplos</a:t>
            </a:r>
          </a:p>
          <a:p>
            <a:pPr rtl="0"/>
            <a:r>
              <a:rPr lang="pt-BR"/>
              <a:t>12.2.4 - Atividade - Representação do Endereço IPv6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866465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12- Endereçamento IPv6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12.2 Tipos de endereço IPv4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777554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12 - Endereçamento IPv6</a:t>
            </a:r>
          </a:p>
          <a:p>
            <a:pPr rtl="0"/>
            <a:r>
              <a:rPr lang="pt-BR"/>
              <a:t>12.3 — Tipos de endereço IPv6</a:t>
            </a:r>
          </a:p>
          <a:p>
            <a:pPr rtl="0"/>
            <a:r>
              <a:rPr lang="pt-BR"/>
              <a:t>12.3.1 — Unicast, Multicast, Anycast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440815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12 - Endereçamento IPv6</a:t>
            </a:r>
          </a:p>
          <a:p>
            <a:pPr rtl="0"/>
            <a:r>
              <a:rPr lang="pt-BR"/>
              <a:t>12.3 — Tipos de endereço IPv6</a:t>
            </a:r>
          </a:p>
          <a:p>
            <a:pPr rtl="0"/>
            <a:r>
              <a:rPr lang="pt-BR"/>
              <a:t>Tamanho do prefixo IPv6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230026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12 - Endereçamento IPv6</a:t>
            </a:r>
          </a:p>
          <a:p>
            <a:pPr rtl="0"/>
            <a:r>
              <a:rPr lang="pt-BR"/>
              <a:t>12.3 — Tipos de endereço IPv6</a:t>
            </a:r>
          </a:p>
          <a:p>
            <a:pPr rtl="0"/>
            <a:r>
              <a:rPr lang="pt-BR"/>
              <a:t>12.3.3 - Outros Tipos de Endereços IPv6 Unicast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839377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12 - Endereçamento IPv6</a:t>
            </a:r>
          </a:p>
          <a:p>
            <a:pPr rtl="0"/>
            <a:r>
              <a:rPr lang="pt-BR"/>
              <a:t>12.3 — Tipos de endereço IPv6</a:t>
            </a:r>
          </a:p>
          <a:p>
            <a:pPr rtl="0"/>
            <a:r>
              <a:rPr lang="pt-BR"/>
              <a:t>12.3.4 — Uma nota sobre o endereço local exclusivo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884096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12 - Endereçamento IPv6</a:t>
            </a:r>
          </a:p>
          <a:p>
            <a:pPr rtl="0"/>
            <a:r>
              <a:rPr lang="pt-BR"/>
              <a:t>12.3 — Tipos de endereço IPv6</a:t>
            </a:r>
          </a:p>
          <a:p>
            <a:pPr rtl="0"/>
            <a:r>
              <a:rPr lang="pt-BR"/>
              <a:t>12.3.5 — GUA IPv6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509466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12 - Endereçamento IPv6</a:t>
            </a:r>
          </a:p>
          <a:p>
            <a:pPr rtl="0"/>
            <a:r>
              <a:rPr lang="pt-BR"/>
              <a:t>12.3 — Tipos de endereço IPv6</a:t>
            </a:r>
          </a:p>
          <a:p>
            <a:pPr rtl="0"/>
            <a:r>
              <a:rPr lang="pt-BR"/>
              <a:t>12.3.5 — Estrutura IPv6 GUA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203906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12 - Endereçamento IPv6</a:t>
            </a:r>
          </a:p>
          <a:p>
            <a:pPr rtl="0"/>
            <a:r>
              <a:rPr lang="pt-BR"/>
              <a:t>12.3 — Tipos de endereço IPv6</a:t>
            </a:r>
          </a:p>
          <a:p>
            <a:pPr rtl="0"/>
            <a:r>
              <a:rPr lang="pt-BR"/>
              <a:t>12.3.6 — IPv6 LLA</a:t>
            </a:r>
          </a:p>
          <a:p>
            <a:pPr rtl="0"/>
            <a:r>
              <a:rPr lang="pt-BR"/>
              <a:t>12.3.7 — Verifique seu entendimento — Tipos de endereço IPv6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17694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12- Endereçamento IPv6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12.4- Configuração estática GUA e LLA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1714368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12 - Endereçamento IPv6</a:t>
            </a:r>
          </a:p>
          <a:p>
            <a:pPr rtl="0"/>
            <a:r>
              <a:rPr lang="pt-BR"/>
              <a:t>12.4 — Configuração estática GUA e LLA</a:t>
            </a:r>
          </a:p>
          <a:p>
            <a:pPr rtl="0"/>
            <a:r>
              <a:rPr lang="pt-BR"/>
              <a:t>12.4.1 — Configuração de GUA Estática em um Roteador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8756711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12 - Endereçamento IPv6</a:t>
            </a:r>
          </a:p>
          <a:p>
            <a:pPr rtl="0"/>
            <a:r>
              <a:rPr lang="pt-BR"/>
              <a:t>12.4 — Configuração estática GUA e LLA</a:t>
            </a:r>
          </a:p>
          <a:p>
            <a:pPr rtl="0"/>
            <a:r>
              <a:rPr lang="pt-BR"/>
              <a:t>12.4.2 — Configuração de GUA Estática em um Host Windows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02344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12 - Endereçamento IPv6</a:t>
            </a:r>
          </a:p>
          <a:p>
            <a:pPr rtl="0"/>
            <a:r>
              <a:rPr lang="pt-BR"/>
              <a:t>12.4 — Configuração estática GUA e LLA</a:t>
            </a:r>
          </a:p>
          <a:p>
            <a:pPr rtl="0"/>
            <a:r>
              <a:rPr lang="pt-BR"/>
              <a:t>12.4.3 — Configuração de GUA estática de um endereço unicast local de link</a:t>
            </a:r>
          </a:p>
          <a:p>
            <a:pPr rtl="0"/>
            <a:r>
              <a:rPr lang="pt-BR"/>
              <a:t>12.4.4 — Verificador de sintaxe — Configuração Estática GUA e LLA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22878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12- Endereçamento IPv6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12.5 Endereçamento Dinâmico IPv4 para GUAs IPv6</a:t>
            </a:r>
          </a:p>
          <a:p>
            <a:pPr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8795270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12 - Endereçamento IPv6</a:t>
            </a:r>
          </a:p>
          <a:p>
            <a:pPr rtl="0"/>
            <a:r>
              <a:rPr lang="pt-BR"/>
              <a:t>12.5 — Endereçamento dinâmico para GUAs IPv6</a:t>
            </a:r>
          </a:p>
          <a:p>
            <a:pPr rtl="0"/>
            <a:r>
              <a:rPr lang="pt-BR"/>
              <a:t>12.5.1 — Mensagens RS e 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9959092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12 - Endereçamento IPv6</a:t>
            </a:r>
          </a:p>
          <a:p>
            <a:pPr rtl="0"/>
            <a:r>
              <a:rPr lang="pt-BR"/>
              <a:t>12.5 — Endereçamento dinâmico para GUAs IPv6</a:t>
            </a:r>
          </a:p>
          <a:p>
            <a:pPr rtl="0"/>
            <a:r>
              <a:rPr lang="pt-BR"/>
              <a:t>12.5.2 — Método 1: SLAAC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2577679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12 - Endereçamento IPv6</a:t>
            </a:r>
          </a:p>
          <a:p>
            <a:pPr rtl="0"/>
            <a:r>
              <a:rPr lang="pt-BR"/>
              <a:t>12.5 — Endereçamento dinâmico para GUAs IPv6</a:t>
            </a:r>
          </a:p>
          <a:p>
            <a:pPr rtl="0"/>
            <a:r>
              <a:rPr lang="pt-BR"/>
              <a:t>12.5.3 — Método 2: SLAAC e DHCP sem estado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100162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12 - Endereçamento IPv6</a:t>
            </a:r>
          </a:p>
          <a:p>
            <a:pPr rtl="0"/>
            <a:r>
              <a:rPr lang="pt-BR"/>
              <a:t>12.5 — Endereçamento dinâmico para GUAs IPv6</a:t>
            </a:r>
          </a:p>
          <a:p>
            <a:pPr rtl="0"/>
            <a:r>
              <a:rPr lang="pt-BR"/>
              <a:t>12.5.4 — Método 3: DHCPv6 com estado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1836720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12 - Endereçamento IPv6</a:t>
            </a:r>
          </a:p>
          <a:p>
            <a:pPr rtl="0"/>
            <a:r>
              <a:rPr lang="pt-BR"/>
              <a:t>12.5 — Endereçamento dinâmico para GUAs IPv6</a:t>
            </a:r>
          </a:p>
          <a:p>
            <a:pPr rtl="0"/>
            <a:r>
              <a:rPr lang="pt-BR"/>
              <a:t>12.5.5 - Processo EUI-64 ou Gerado Aleatoriamente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283846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12 - Endereçamento IPv6</a:t>
            </a:r>
          </a:p>
          <a:p>
            <a:pPr rtl="0"/>
            <a:r>
              <a:rPr lang="pt-BR"/>
              <a:t>12.5 — Endereçamento dinâmico para GUAs IPv6</a:t>
            </a:r>
          </a:p>
          <a:p>
            <a:pPr rtl="0"/>
            <a:r>
              <a:rPr lang="pt-BR"/>
              <a:t>12.5.6 — Processo EUI-64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3307582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12 - Endereçamento IPv6</a:t>
            </a:r>
          </a:p>
          <a:p>
            <a:pPr rtl="0"/>
            <a:r>
              <a:rPr lang="pt-BR"/>
              <a:t>12.5 — Endereçamento dinâmico para GUAs IPv6</a:t>
            </a:r>
          </a:p>
          <a:p>
            <a:pPr rtl="0"/>
            <a:r>
              <a:rPr lang="pt-BR"/>
              <a:t>12.5.7 - IDs da Interface Geradas Aleatoriamente</a:t>
            </a:r>
          </a:p>
          <a:p>
            <a:pPr rtl="0"/>
            <a:r>
              <a:rPr lang="pt-BR"/>
              <a:t>12.5.8 — Verifique seu entendimento — Endereço dinâmico para GUAs IPv6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2270173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12- Endereçamento IPv6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12.6 Endereçamento dinâmico IPv4 para LLAs IPv6</a:t>
            </a:r>
          </a:p>
          <a:p>
            <a:pPr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31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8748049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 dirty="0"/>
              <a:t>12 - Endereçamento IPv6</a:t>
            </a:r>
          </a:p>
          <a:p>
            <a:pPr rtl="0"/>
            <a:r>
              <a:rPr lang="pt-BR" dirty="0"/>
              <a:t>12.6 — Endereçamento dinâmico para </a:t>
            </a:r>
            <a:r>
              <a:rPr lang="pt-BR" dirty="0" err="1"/>
              <a:t>LLAs</a:t>
            </a:r>
            <a:r>
              <a:rPr lang="pt-BR" dirty="0"/>
              <a:t> IPv6</a:t>
            </a:r>
          </a:p>
          <a:p>
            <a:pPr rtl="0"/>
            <a:r>
              <a:rPr lang="pt-BR" dirty="0"/>
              <a:t>12.6.1 — </a:t>
            </a:r>
            <a:r>
              <a:rPr lang="pt-BR" dirty="0" err="1"/>
              <a:t>LLAs</a:t>
            </a:r>
            <a:r>
              <a:rPr lang="pt-BR" dirty="0"/>
              <a:t> dinâmicos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32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9526048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12 - Endereçamento IPv6</a:t>
            </a:r>
          </a:p>
          <a:p>
            <a:pPr rtl="0"/>
            <a:r>
              <a:rPr lang="pt-BR"/>
              <a:t>12.6 — Endereçamento dinâmico para LLAs IPv6</a:t>
            </a:r>
          </a:p>
          <a:p>
            <a:pPr rtl="0"/>
            <a:r>
              <a:rPr lang="pt-BR"/>
              <a:t>12.6.2 — LLAs dinâmicos no Windows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33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592384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12 - Endereçamento IPv6</a:t>
            </a:r>
          </a:p>
          <a:p>
            <a:pPr rtl="0"/>
            <a:r>
              <a:rPr lang="pt-BR"/>
              <a:t>12.6 — Endereçamento dinâmico para LLAs IPv6</a:t>
            </a:r>
          </a:p>
          <a:p>
            <a:pPr rtl="0"/>
            <a:r>
              <a:rPr lang="pt-BR"/>
              <a:t>12.6.3 — LLAs dinâmicos em Cisco Routers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34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442229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12 - Endereçamento IPv6</a:t>
            </a:r>
          </a:p>
          <a:p>
            <a:pPr rtl="0"/>
            <a:r>
              <a:rPr lang="pt-BR"/>
              <a:t>12.6 — Endereçamento dinâmico para LLAs IPv6</a:t>
            </a:r>
          </a:p>
          <a:p>
            <a:pPr rtl="0"/>
            <a:r>
              <a:rPr lang="pt-BR"/>
              <a:t>12.6.4 - Verificar a Configuração de Endereço IPv6</a:t>
            </a:r>
          </a:p>
          <a:p>
            <a:pPr rtl="0"/>
            <a:r>
              <a:rPr lang="pt-BR"/>
              <a:t>12.6.5 - Verificador de sintaxe - Verifique a configuração do endereço IPv6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35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155349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rtl="0"/>
            <a:fld id="{04267211-205D-47E8-9F29-7E4C01D43DC3}" type="slidenum">
              <a:rPr sz="800"/>
              <a:pPr rtl="0"/>
              <a:t>36</a:t>
            </a:fld>
            <a:endParaRPr sz="80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t-BR"/>
              <a:t>12 - Endereçamento IPv6</a:t>
            </a:r>
          </a:p>
          <a:p>
            <a:pPr rtl="0"/>
            <a:r>
              <a:rPr lang="pt-BR"/>
              <a:t>12.6 — Endereçamento dinâmico para LLAs IPv6</a:t>
            </a:r>
          </a:p>
          <a:p>
            <a:pPr rtl="0"/>
            <a:r>
              <a:rPr lang="pt-BR"/>
              <a:t>12.6.6 - Packet Tracer – Configurando Endereçamento IPv6</a:t>
            </a:r>
          </a:p>
        </p:txBody>
      </p:sp>
    </p:spTree>
    <p:extLst>
      <p:ext uri="{BB962C8B-B14F-4D97-AF65-F5344CB8AC3E}">
        <p14:creationId xmlns:p14="http://schemas.microsoft.com/office/powerpoint/2010/main" val="413312277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12- Endereçamento IPv6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12.7 Endereços de multicast IPv4</a:t>
            </a:r>
          </a:p>
          <a:p>
            <a:pPr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37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386019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12 - Endereçamento IPv6</a:t>
            </a:r>
          </a:p>
          <a:p>
            <a:pPr rtl="0"/>
            <a:r>
              <a:rPr lang="pt-BR"/>
              <a:t>12.7 — Endereços Multicast IPv6</a:t>
            </a:r>
          </a:p>
          <a:p>
            <a:pPr rtl="0"/>
            <a:r>
              <a:rPr lang="pt-BR"/>
              <a:t>12.7.1 - Endereços IPv6 Multicast Atribuídos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38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2218536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12 - Endereçamento IPv6</a:t>
            </a:r>
          </a:p>
          <a:p>
            <a:pPr rtl="0"/>
            <a:r>
              <a:rPr lang="pt-BR"/>
              <a:t>12.7 — Endereços Multicast IPv6</a:t>
            </a:r>
          </a:p>
          <a:p>
            <a:pPr rtl="0"/>
            <a:r>
              <a:rPr lang="pt-BR"/>
              <a:t>12.7.2 — Endereços Multicast IPv6 bem conhecidos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39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603982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12 - Endereçamento IPv6</a:t>
            </a:r>
          </a:p>
          <a:p>
            <a:pPr rtl="0"/>
            <a:r>
              <a:rPr lang="pt-BR"/>
              <a:t>12.7 — Endereços Multicast IPv6</a:t>
            </a:r>
          </a:p>
          <a:p>
            <a:pPr rtl="0"/>
            <a:r>
              <a:rPr lang="pt-BR"/>
              <a:t>12.7.3 - Endereços IPv6 Multicast Solicited-Node</a:t>
            </a:r>
          </a:p>
          <a:p>
            <a:pPr rtl="0"/>
            <a:r>
              <a:rPr lang="pt-BR"/>
              <a:t>12.7.4 - Laboratório – Identificando Endereços IPv6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40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093750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rtl="0"/>
            <a:fld id="{04267211-205D-47E8-9F29-7E4C01D43DC3}" type="slidenum">
              <a:rPr sz="800"/>
              <a:pPr rtl="0"/>
              <a:t>41</a:t>
            </a:fld>
            <a:endParaRPr sz="80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t-BR"/>
              <a:t>12 - Endereçamento IPv6</a:t>
            </a:r>
          </a:p>
          <a:p>
            <a:pPr rtl="0"/>
            <a:r>
              <a:rPr lang="pt-BR"/>
              <a:t>12.7 — Endereços Multicast IPv6</a:t>
            </a:r>
          </a:p>
          <a:p>
            <a:pPr rtl="0"/>
            <a:r>
              <a:rPr lang="pt-BR"/>
              <a:t>12.7.4 - Laboratório – Identificando Endereços IPv6</a:t>
            </a:r>
          </a:p>
        </p:txBody>
      </p:sp>
    </p:spTree>
    <p:extLst>
      <p:ext uri="{BB962C8B-B14F-4D97-AF65-F5344CB8AC3E}">
        <p14:creationId xmlns:p14="http://schemas.microsoft.com/office/powerpoint/2010/main" val="188469704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12- Endereçamento IPv6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12.8 Sub-rede uma rede IPv6</a:t>
            </a:r>
          </a:p>
          <a:p>
            <a:pPr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42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9226657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12 - Endereçamento IPv6</a:t>
            </a:r>
          </a:p>
          <a:p>
            <a:pPr rtl="0"/>
            <a:r>
              <a:rPr lang="pt-BR"/>
              <a:t>12.8 Sub-rede uma rede IPv6</a:t>
            </a:r>
          </a:p>
          <a:p>
            <a:pPr rtl="0"/>
            <a:r>
              <a:rPr lang="pt-BR"/>
              <a:t>12.8.1 - Sub-rede usando o ID de sub-rede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43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2436831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12 - Endereçamento IPv6</a:t>
            </a:r>
          </a:p>
          <a:p>
            <a:pPr rtl="0"/>
            <a:r>
              <a:rPr lang="pt-BR"/>
              <a:t>12.8 Sub-rede uma rede IPv6</a:t>
            </a:r>
          </a:p>
          <a:p>
            <a:pPr rtl="0"/>
            <a:r>
              <a:rPr lang="pt-BR"/>
              <a:t>12.8.2 — Exemplo de sub-redes IPv6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44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861324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12 - Endereçamento IPv6</a:t>
            </a:r>
          </a:p>
          <a:p>
            <a:pPr rtl="0"/>
            <a:r>
              <a:rPr lang="pt-BR"/>
              <a:t>12.8 Sub-rede uma rede IPv6</a:t>
            </a:r>
          </a:p>
          <a:p>
            <a:pPr rtl="0"/>
            <a:r>
              <a:rPr lang="pt-BR"/>
              <a:t>12.8.3 – Alocação de sub-redes IPv6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45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54208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12 - Endereçamento IPv6</a:t>
            </a:r>
          </a:p>
          <a:p>
            <a:pPr rtl="0"/>
            <a:r>
              <a:rPr lang="pt-BR"/>
              <a:t>12.8 Sub-rede uma rede IPv6</a:t>
            </a:r>
          </a:p>
          <a:p>
            <a:pPr rtl="0"/>
            <a:r>
              <a:rPr lang="pt-BR"/>
              <a:t>12.8.4 — Roteador configurado com sub-redes IPv6</a:t>
            </a:r>
          </a:p>
          <a:p>
            <a:pPr rtl="0"/>
            <a:r>
              <a:rPr lang="pt-BR"/>
              <a:t>12.8.5 — Verifique seu entendimento — Sub-rede uma rede IPv6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46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48710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12 - Endereçamento IPv6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12.9 - Módulo Prática e Quiz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47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1714368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rtl="0"/>
            <a:fld id="{04267211-205D-47E8-9F29-7E4C01D43DC3}" type="slidenum">
              <a:rPr sz="800"/>
              <a:pPr rtl="0"/>
              <a:t>48</a:t>
            </a:fld>
            <a:endParaRPr sz="80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12 - Endereçamento IPv6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12.9 - Módulo Prática e Quiz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b="0" kern="1200">
                <a:solidFill>
                  <a:schemeClr val="tx1"/>
                </a:solidFill>
                <a:latin typeface="Arial" charset="0"/>
                <a:ea typeface="ＭＳ Ｐゴシック" charset="0"/>
              </a:rPr>
              <a:t>12.9.1 - Packet Tracer – Implementando um Esquema de Endereçamento IPv6 com Sub-Redes</a:t>
            </a:r>
          </a:p>
        </p:txBody>
      </p:sp>
    </p:spTree>
    <p:extLst>
      <p:ext uri="{BB962C8B-B14F-4D97-AF65-F5344CB8AC3E}">
        <p14:creationId xmlns:p14="http://schemas.microsoft.com/office/powerpoint/2010/main" val="365203947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rtl="0"/>
            <a:fld id="{04267211-205D-47E8-9F29-7E4C01D43DC3}" type="slidenum">
              <a:rPr sz="800"/>
              <a:pPr rtl="0"/>
              <a:t>49</a:t>
            </a:fld>
            <a:endParaRPr sz="80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12 - Endereçamento IPv6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12.9 - Módulo Prática e Quiz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b="0" kern="1200">
                <a:solidFill>
                  <a:schemeClr val="tx1"/>
                </a:solidFill>
                <a:latin typeface="Arial" charset="0"/>
                <a:ea typeface="ＭＳ Ｐゴシック" charset="0"/>
              </a:rPr>
              <a:t>12.9.2 – PTPM e Laboratório – Configurar Endereços IPv6 em Dispositivos de Rede</a:t>
            </a:r>
          </a:p>
        </p:txBody>
      </p:sp>
    </p:spTree>
    <p:extLst>
      <p:ext uri="{BB962C8B-B14F-4D97-AF65-F5344CB8AC3E}">
        <p14:creationId xmlns:p14="http://schemas.microsoft.com/office/powerpoint/2010/main" val="168164330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rtl="0"/>
            <a:fld id="{3997A419-355F-A04A-96E0-21643AF8E9FF}" type="slidenum">
              <a:rPr sz="800">
                <a:solidFill>
                  <a:prstClr val="black"/>
                </a:solidFill>
              </a:rPr>
              <a:pPr rtl="0"/>
              <a:t>50</a:t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t-BR"/>
              <a:t>12 - Conceitos de WLAN</a:t>
            </a:r>
          </a:p>
          <a:p>
            <a:pPr rtl="0"/>
            <a:r>
              <a:rPr lang="pt-BR"/>
              <a:t>12.8 - Módulo Prática e Quiz</a:t>
            </a:r>
          </a:p>
          <a:p>
            <a:pPr rtl="0"/>
            <a:r>
              <a:rPr lang="pt-BR"/>
              <a:t>12.9.3 - O que eu aprendi neste módulo?</a:t>
            </a:r>
          </a:p>
          <a:p>
            <a:pPr rtl="0"/>
            <a:r>
              <a:rPr lang="pt-BR"/>
              <a:t>12.9.4 — Teste de Módulo — Endereçamento IPv6</a:t>
            </a:r>
          </a:p>
        </p:txBody>
      </p:sp>
    </p:spTree>
    <p:extLst>
      <p:ext uri="{BB962C8B-B14F-4D97-AF65-F5344CB8AC3E}">
        <p14:creationId xmlns:p14="http://schemas.microsoft.com/office/powerpoint/2010/main" val="147682419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rtl="0"/>
            <a:fld id="{3997A419-355F-A04A-96E0-21643AF8E9FF}" type="slidenum">
              <a:rPr sz="800">
                <a:solidFill>
                  <a:prstClr val="black"/>
                </a:solidFill>
              </a:rPr>
              <a:pPr rtl="0"/>
              <a:t>51</a:t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t-BR"/>
              <a:t>12 - Conceitos de WLAN</a:t>
            </a:r>
          </a:p>
          <a:p>
            <a:pPr rtl="0"/>
            <a:r>
              <a:rPr lang="pt-BR"/>
              <a:t>12.8 - Módulo Prática e Quiz</a:t>
            </a:r>
          </a:p>
          <a:p>
            <a:pPr rtl="0"/>
            <a:r>
              <a:rPr lang="pt-BR"/>
              <a:t>12.9.3 - O que eu aprendi neste módulo?</a:t>
            </a:r>
          </a:p>
          <a:p>
            <a:pPr rtl="0"/>
            <a:r>
              <a:rPr lang="pt-BR"/>
              <a:t>12.9.4 — Teste de Módulo — Endereçamento IPv6</a:t>
            </a:r>
          </a:p>
        </p:txBody>
      </p:sp>
    </p:spTree>
    <p:extLst>
      <p:ext uri="{BB962C8B-B14F-4D97-AF65-F5344CB8AC3E}">
        <p14:creationId xmlns:p14="http://schemas.microsoft.com/office/powerpoint/2010/main" val="166675872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rtl="0"/>
            <a:fld id="{6C92755B-29FD-8743-9094-C0E3A734D22E}" type="slidenum">
              <a:rPr sz="800">
                <a:solidFill>
                  <a:prstClr val="black"/>
                </a:solidFill>
              </a:rPr>
              <a:pPr rtl="0"/>
              <a:t>52</a:t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674291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53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913942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86725553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1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rgbClr val="004C69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accent1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chemeClr val="accent1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042546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617842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Seg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256994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4600" b="0" i="0" spc="0" baseline="0">
                <a:solidFill>
                  <a:schemeClr val="accent5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sz="60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9" name="Rectangle 4"/>
          <p:cNvSpPr>
            <a:spLocks noChangeArrowheads="1"/>
          </p:cNvSpPr>
          <p:nvPr userDrawn="1"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t>© 2016 Cisco e/ou suas afiliadas. Todos os direitos reservados.   Documento confidencial da Cisco</a:t>
            </a:r>
          </a:p>
        </p:txBody>
      </p:sp>
      <p:grpSp>
        <p:nvGrpSpPr>
          <p:cNvPr id="11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rgbClr val="086D8E"/>
          </a:solidFill>
        </p:grpSpPr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90854121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lti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4662" y="1347788"/>
            <a:ext cx="8280057" cy="307394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="0" i="0" baseline="0">
                <a:solidFill>
                  <a:schemeClr val="bg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Placeholder 5"/>
          <p:cNvSpPr>
            <a:spLocks noGrp="1"/>
          </p:cNvSpPr>
          <p:nvPr>
            <p:ph type="title"/>
          </p:nvPr>
        </p:nvSpPr>
        <p:spPr bwMode="auto">
          <a:xfrm>
            <a:off x="437766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2967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c15="http://schemas.microsoft.com/office/drawing/2012/chart" xmlns:c="http://schemas.openxmlformats.org/drawingml/2006/chart">
      <p:transition xmlns:p14="http://schemas.microsoft.com/office/powerpoint/2010/main"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29121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0" y="2552550"/>
            <a:ext cx="698624" cy="698624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FFFFFF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426607"/>
            <a:ext cx="698624" cy="698624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bg1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0" y="3653093"/>
            <a:ext cx="698624" cy="698624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049FD9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365250" y="1432522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365250" y="25577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365250" y="36530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0" y="2552550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1" y="3651140"/>
            <a:ext cx="698624" cy="693381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575610" y="1427248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53872667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62125011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rgbClr val="FFFFFF"/>
              </a:solidFill>
              <a:cs typeface="Arial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5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49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50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51" name="Oval 50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2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54" name="Oval 53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5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  <p:sp>
        <p:nvSpPr>
          <p:cNvPr id="57" name="Oval 56"/>
          <p:cNvSpPr/>
          <p:nvPr/>
        </p:nvSpPr>
        <p:spPr>
          <a:xfrm>
            <a:off x="4414576" y="1983084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4414575" y="1332693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4414576" y="2631212"/>
            <a:ext cx="464815" cy="464815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0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5011349" y="1338608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17"/>
          <p:cNvSpPr>
            <a:spLocks noGrp="1"/>
          </p:cNvSpPr>
          <p:nvPr>
            <p:ph type="body" sz="quarter" idx="24"/>
          </p:nvPr>
        </p:nvSpPr>
        <p:spPr>
          <a:xfrm>
            <a:off x="5011350" y="198832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7"/>
          <p:cNvSpPr>
            <a:spLocks noGrp="1"/>
          </p:cNvSpPr>
          <p:nvPr>
            <p:ph type="body" sz="quarter" idx="25"/>
          </p:nvPr>
        </p:nvSpPr>
        <p:spPr>
          <a:xfrm>
            <a:off x="5011350" y="263121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4414576" y="1331287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6</a:t>
            </a:r>
          </a:p>
        </p:txBody>
      </p:sp>
      <p:sp>
        <p:nvSpPr>
          <p:cNvPr id="6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4414576" y="198308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7</a:t>
            </a:r>
          </a:p>
        </p:txBody>
      </p:sp>
      <p:sp>
        <p:nvSpPr>
          <p:cNvPr id="65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4414577" y="262925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8</a:t>
            </a:r>
          </a:p>
        </p:txBody>
      </p:sp>
      <p:sp>
        <p:nvSpPr>
          <p:cNvPr id="66" name="Oval 65"/>
          <p:cNvSpPr/>
          <p:nvPr/>
        </p:nvSpPr>
        <p:spPr>
          <a:xfrm>
            <a:off x="4414577" y="3278347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7" name="Text Placeholder 17"/>
          <p:cNvSpPr>
            <a:spLocks noGrp="1"/>
          </p:cNvSpPr>
          <p:nvPr>
            <p:ph type="body" sz="quarter" idx="29"/>
          </p:nvPr>
        </p:nvSpPr>
        <p:spPr>
          <a:xfrm>
            <a:off x="5011351" y="327834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17"/>
          <p:cNvSpPr>
            <a:spLocks noGrp="1"/>
          </p:cNvSpPr>
          <p:nvPr>
            <p:ph type="body" sz="quarter" idx="30" hasCustomPrompt="1"/>
          </p:nvPr>
        </p:nvSpPr>
        <p:spPr>
          <a:xfrm>
            <a:off x="4414578" y="327639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9</a:t>
            </a:r>
          </a:p>
        </p:txBody>
      </p:sp>
      <p:sp>
        <p:nvSpPr>
          <p:cNvPr id="69" name="Oval 68"/>
          <p:cNvSpPr/>
          <p:nvPr/>
        </p:nvSpPr>
        <p:spPr>
          <a:xfrm>
            <a:off x="4414578" y="3925482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70" name="Text Placeholder 17"/>
          <p:cNvSpPr>
            <a:spLocks noGrp="1"/>
          </p:cNvSpPr>
          <p:nvPr>
            <p:ph type="body" sz="quarter" idx="31"/>
          </p:nvPr>
        </p:nvSpPr>
        <p:spPr>
          <a:xfrm>
            <a:off x="5011352" y="392548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17"/>
          <p:cNvSpPr>
            <a:spLocks noGrp="1"/>
          </p:cNvSpPr>
          <p:nvPr>
            <p:ph type="body" sz="quarter" idx="32" hasCustomPrompt="1"/>
          </p:nvPr>
        </p:nvSpPr>
        <p:spPr>
          <a:xfrm>
            <a:off x="4414579" y="392352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643099958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"/>
            <a:ext cx="9143999" cy="5165874"/>
          </a:xfrm>
          <a:prstGeom prst="rect">
            <a:avLst/>
          </a:prstGeom>
        </p:spPr>
      </p:pic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98843304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7974899"/>
      </p:ext>
    </p:extLst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1">
              <a:lumMod val="75000"/>
            </a:schemeClr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51544963"/>
      </p:ext>
    </p:extLst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473441" y="4954263"/>
            <a:ext cx="676910" cy="1892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5">
                <a:solidFill>
                  <a:schemeClr val="tx2"/>
                </a:solidFill>
              </a:defRPr>
            </a:lvl1pPr>
          </a:lstStyle>
          <a:p>
            <a:pPr defTabSz="385763">
              <a:defRPr/>
            </a:pPr>
            <a:fld id="{2F5CCB13-0A32-4557-88E9-079F0C330695}" type="slidenum">
              <a:rPr lang="en-US" kern="0" smtClean="0">
                <a:solidFill>
                  <a:srgbClr val="595959"/>
                </a:solidFill>
              </a:rPr>
              <a:pPr defTabSz="385763">
                <a:defRPr/>
              </a:pPr>
              <a:t>‹nº›</a:t>
            </a:fld>
            <a:endParaRPr lang="en-US" kern="0" dirty="0">
              <a:solidFill>
                <a:srgbClr val="595959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44065" y="798944"/>
            <a:ext cx="8853286" cy="4155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4pPr>
          </a:lstStyle>
          <a:p>
            <a:pPr lvl="0"/>
            <a:r>
              <a:rPr lang="en-US">
                <a:sym typeface="Arial" pitchFamily="34" charset="0"/>
              </a:rPr>
              <a:t>Click to edit Master text styles</a:t>
            </a:r>
          </a:p>
          <a:p>
            <a:pPr lvl="1"/>
            <a:r>
              <a:rPr lang="en-US">
                <a:sym typeface="Arial" pitchFamily="34" charset="0"/>
              </a:rPr>
              <a:t>Second level</a:t>
            </a:r>
          </a:p>
          <a:p>
            <a:pPr lvl="2"/>
            <a:r>
              <a:rPr lang="en-US">
                <a:sym typeface="Arial" pitchFamily="34" charset="0"/>
              </a:rPr>
              <a:t>Third level</a:t>
            </a:r>
          </a:p>
          <a:p>
            <a:pPr lvl="3"/>
            <a:r>
              <a:rPr lang="en-US">
                <a:sym typeface="Arial" pitchFamily="34" charset="0"/>
              </a:rPr>
              <a:t>Fourth level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sz="2400"/>
            </a:lvl1pPr>
          </a:lstStyle>
          <a:p>
            <a:pPr lvl="0"/>
            <a:r>
              <a:rPr lang="en-US">
                <a:sym typeface="Arial" pitchFamily="34" charset="0"/>
              </a:rPr>
              <a:t>Click to edit Master title style</a:t>
            </a:r>
            <a:endParaRPr lang="en-US" dirty="0">
              <a:sym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7996623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9250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5"/>
          <p:cNvSpPr>
            <a:spLocks noGrp="1"/>
          </p:cNvSpPr>
          <p:nvPr>
            <p:ph type="title"/>
          </p:nvPr>
        </p:nvSpPr>
        <p:spPr bwMode="auto">
          <a:xfrm>
            <a:off x="438150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Title Goes Here</a:t>
            </a: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sz="600">
              <a:solidFill>
                <a:schemeClr val="accent3">
                  <a:lumMod val="85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ltGray">
          <a:xfrm>
            <a:off x="5543048" y="4741653"/>
            <a:ext cx="298247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61586" tIns="30792" rIns="61586" bIns="30792" anchor="b">
            <a:spAutoFit/>
          </a:bodyPr>
          <a:lstStyle/>
          <a:p>
            <a:pPr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t>© 2019 Cisco e/ou suas afiliadas. Todos os direitos reservados.   Documento confidencial da Cisco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chemeClr val="accent5"/>
          </a:solidFill>
        </p:grpSpPr>
        <p:sp>
          <p:nvSpPr>
            <p:cNvPr id="7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2" r:id="rId1"/>
    <p:sldLayoutId id="2147484013" r:id="rId2"/>
    <p:sldLayoutId id="2147484014" r:id="rId3"/>
    <p:sldLayoutId id="2147483965" r:id="rId4"/>
    <p:sldLayoutId id="2147483967" r:id="rId5"/>
    <p:sldLayoutId id="2147483995" r:id="rId6"/>
    <p:sldLayoutId id="2147484007" r:id="rId7"/>
    <p:sldLayoutId id="2147484010" r:id="rId8"/>
    <p:sldLayoutId id="2147484011" r:id="rId9"/>
    <p:sldLayoutId id="2147484015" r:id="rId10"/>
    <p:sldLayoutId id="2147483998" r:id="rId11"/>
    <p:sldLayoutId id="2147484027" r:id="rId12"/>
    <p:sldLayoutId id="2147484029" r:id="rId13"/>
    <p:sldLayoutId id="2147484031" r:id="rId14"/>
  </p:sldLayoutIdLst>
  <p:transition spd="slow">
    <p:wipe/>
  </p:transition>
  <p:txStyles>
    <p:titleStyle>
      <a:lvl1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lang="en-US" sz="3200" kern="1200" dirty="0">
          <a:solidFill>
            <a:schemeClr val="accent4"/>
          </a:solidFill>
          <a:latin typeface="+mj-lt"/>
          <a:ea typeface="ＭＳ Ｐゴシック" charset="0"/>
          <a:cs typeface="CiscoSans"/>
        </a:defRPr>
      </a:lvl1pPr>
      <a:lvl2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2pPr>
      <a:lvl3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3pPr>
      <a:lvl4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4pPr>
      <a:lvl5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5pPr>
      <a:lvl6pPr marL="4572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6pPr>
      <a:lvl7pPr marL="9144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7pPr>
      <a:lvl8pPr marL="13716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8pPr>
      <a:lvl9pPr marL="18288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169863" indent="-169863" algn="l" defTabSz="684213" rtl="0" eaLnBrk="1" fontAlgn="base" hangingPunct="1">
        <a:lnSpc>
          <a:spcPct val="95000"/>
        </a:lnSpc>
        <a:spcBef>
          <a:spcPts val="1075"/>
        </a:spcBef>
        <a:spcAft>
          <a:spcPct val="0"/>
        </a:spcAft>
        <a:buClr>
          <a:schemeClr val="tx2"/>
        </a:buClr>
        <a:buSzPct val="90000"/>
        <a:buFont typeface="Arial" charset="0"/>
        <a:buChar char="•"/>
        <a:defRPr lang="en-US" sz="15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1pPr>
      <a:lvl2pPr marL="358775" indent="-215900" algn="l" defTabSz="684213" rtl="0" eaLnBrk="1" fontAlgn="base" hangingPunct="1">
        <a:lnSpc>
          <a:spcPct val="95000"/>
        </a:lnSpc>
        <a:spcBef>
          <a:spcPts val="600"/>
        </a:spcBef>
        <a:spcAft>
          <a:spcPct val="0"/>
        </a:spcAft>
        <a:buClr>
          <a:schemeClr val="tx2"/>
        </a:buClr>
        <a:buFont typeface="Arial" charset="0"/>
        <a:buChar char="•"/>
        <a:defRPr lang="en-US" sz="14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2pPr>
      <a:lvl3pPr marL="431800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2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3pPr>
      <a:lvl4pPr marL="503238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4pPr>
      <a:lvl5pPr marL="574675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5pPr>
      <a:lvl6pPr marL="863856" indent="-171445" algn="l" defTabSz="685777" rtl="0" eaLnBrk="1" latinLnBrk="0" hangingPunct="1">
        <a:spcBef>
          <a:spcPts val="600"/>
        </a:spcBef>
        <a:buFont typeface="Arial" pitchFamily="34" charset="0"/>
        <a:buChar char="•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935844" indent="-171422" algn="l" defTabSz="685777" rtl="0" eaLnBrk="1" latinLnBrk="0" hangingPunct="1">
        <a:spcBef>
          <a:spcPts val="600"/>
        </a:spcBef>
        <a:buFont typeface="Arial" pitchFamily="34" charset="0"/>
        <a:buChar char="•"/>
        <a:defRPr sz="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400220" indent="0" algn="l" defTabSz="685777" rtl="0" eaLnBrk="1" latinLnBrk="0" hangingPunct="1">
        <a:spcBef>
          <a:spcPct val="20000"/>
        </a:spcBef>
        <a:buFont typeface="Arial" pitchFamily="34" charset="0"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53" indent="-171445" algn="l" defTabSz="685777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6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7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6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5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41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32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2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1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3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5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6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8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9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0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469497" y="2316480"/>
            <a:ext cx="6672708" cy="1080143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Módulo 12: endereçamento IPv6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469497" y="3809526"/>
            <a:ext cx="2368954" cy="902174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Introdução às redes v7.0 (ITN)</a:t>
            </a:r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89389863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 eaLnBrk="1" hangingPunct="1"/>
            <a:r>
              <a:rPr lang="pt-BR"/>
              <a:t>Objetivos do módulo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5758CB9-E7D6-4639-ACDC-3F86DC2D2F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511" y="821755"/>
            <a:ext cx="8012573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Título do módulo: </a:t>
            </a:r>
            <a:r>
              <a:rPr kumimoji="0" lang="pt-BR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Endereçamento IPv6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Objetivo do Módulo</a:t>
            </a:r>
            <a:r>
              <a:rPr kumimoji="0" lang="pt-BR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: Implementar um esquema de endereçamento IPv6</a:t>
            </a:r>
            <a:r>
              <a:rPr kumimoji="0" lang="pt-BR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55F2CA0-8AB1-46F5-A42B-3D4DECC8AA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9590912"/>
              </p:ext>
            </p:extLst>
          </p:nvPr>
        </p:nvGraphicFramePr>
        <p:xfrm>
          <a:off x="642616" y="1952562"/>
          <a:ext cx="7456362" cy="234938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728181">
                  <a:extLst>
                    <a:ext uri="{9D8B030D-6E8A-4147-A177-3AD203B41FA5}">
                      <a16:colId xmlns:a16="http://schemas.microsoft.com/office/drawing/2014/main" val="1523797708"/>
                    </a:ext>
                  </a:extLst>
                </a:gridCol>
                <a:gridCol w="3728181">
                  <a:extLst>
                    <a:ext uri="{9D8B030D-6E8A-4147-A177-3AD203B41FA5}">
                      <a16:colId xmlns:a16="http://schemas.microsoft.com/office/drawing/2014/main" val="2750207184"/>
                    </a:ext>
                  </a:extLst>
                </a:gridCol>
              </a:tblGrid>
              <a:tr h="272935"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050">
                          <a:effectLst/>
                        </a:rPr>
                        <a:t>Título do Tópico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050">
                          <a:effectLst/>
                        </a:rPr>
                        <a:t>Objetivo do Tópico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74061904"/>
                  </a:ext>
                </a:extLst>
              </a:tr>
              <a:tr h="333554">
                <a:tc>
                  <a:txBody>
                    <a:bodyPr/>
                    <a:lstStyle/>
                    <a:p>
                      <a:pPr rtl="0" fontAlgn="ctr"/>
                      <a:r>
                        <a:rPr lang="pt-BR" sz="1050" b="0">
                          <a:effectLst/>
                        </a:rPr>
                        <a:t>Problemas do IPv4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50"/>
                        <a:t>Explicar a necessidade do endereçamento IPv6.</a:t>
                      </a:r>
                    </a:p>
                    <a:p>
                      <a:pPr fontAlgn="ctr"/>
                      <a:endParaRPr lang="en-US" sz="1050" b="0" dirty="0">
                        <a:effectLst/>
                      </a:endParaRP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646858405"/>
                  </a:ext>
                </a:extLst>
              </a:tr>
              <a:tr h="333554">
                <a:tc>
                  <a:txBody>
                    <a:bodyPr/>
                    <a:lstStyle/>
                    <a:p>
                      <a:pPr rtl="0" fontAlgn="ctr"/>
                      <a:r>
                        <a:rPr lang="pt-BR" sz="1050" b="0"/>
                        <a:t>Representação do Endereço IPv6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50"/>
                        <a:t>Explicar como os endereços IPv6 são representados.</a:t>
                      </a:r>
                    </a:p>
                    <a:p>
                      <a:pPr fontAlgn="ctr"/>
                      <a:endParaRPr lang="en-US" sz="1050" b="0" dirty="0">
                        <a:effectLst/>
                      </a:endParaRP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3216917477"/>
                  </a:ext>
                </a:extLst>
              </a:tr>
              <a:tr h="333554">
                <a:tc>
                  <a:txBody>
                    <a:bodyPr/>
                    <a:lstStyle/>
                    <a:p>
                      <a:pPr rtl="0" fontAlgn="ctr"/>
                      <a:r>
                        <a:rPr lang="pt-BR" sz="1050" b="0"/>
                        <a:t>Tipos de Endereço IPv6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50"/>
                        <a:t>Comparar os tipos de endereços de rede IPv6.</a:t>
                      </a:r>
                    </a:p>
                    <a:p>
                      <a:pPr fontAlgn="ctr"/>
                      <a:endParaRPr lang="en-US" sz="1050" b="0" dirty="0">
                        <a:effectLst/>
                      </a:endParaRP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223668542"/>
                  </a:ext>
                </a:extLst>
              </a:tr>
              <a:tr h="201235">
                <a:tc>
                  <a:txBody>
                    <a:bodyPr/>
                    <a:lstStyle/>
                    <a:p>
                      <a:pPr rtl="0" fontAlgn="ctr"/>
                      <a:r>
                        <a:rPr lang="pt-BR" sz="1050" b="0"/>
                        <a:t>Configuração Estática do GUA e do LLA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50"/>
                        <a:t>Explique como configurar endereços de rede IPv6 globais estáticos e unicast.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435904258"/>
                  </a:ext>
                </a:extLst>
              </a:tr>
              <a:tr h="333554">
                <a:tc>
                  <a:txBody>
                    <a:bodyPr/>
                    <a:lstStyle/>
                    <a:p>
                      <a:pPr rtl="0" fontAlgn="ctr"/>
                      <a:r>
                        <a:rPr lang="pt-BR" sz="1050" b="0"/>
                        <a:t>Endereçamento dinâmico para GUAs IPv6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50"/>
                        <a:t>Explicar como configurar endereços unicast globais de forma dinâmica.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31737215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11192384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 eaLnBrk="1" hangingPunct="1"/>
            <a:r>
              <a:rPr lang="pt-BR"/>
              <a:t>Objetivos do módulo (Cont.)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F3ABF05-935F-4C72-8377-C67A9CC04D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511" y="821755"/>
            <a:ext cx="8012573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Título do módulo: </a:t>
            </a:r>
            <a:r>
              <a:rPr kumimoji="0" lang="pt-BR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Endereçamento IPv6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Objetivo do Módulo</a:t>
            </a:r>
            <a:r>
              <a:rPr kumimoji="0" lang="pt-BR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: Implementar um esquema de endereçamento IPv6</a:t>
            </a:r>
            <a:r>
              <a:rPr kumimoji="0" lang="pt-BR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55F2CA0-8AB1-46F5-A42B-3D4DECC8AA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5775158"/>
              </p:ext>
            </p:extLst>
          </p:nvPr>
        </p:nvGraphicFramePr>
        <p:xfrm>
          <a:off x="642616" y="2013235"/>
          <a:ext cx="7456362" cy="111702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91184">
                  <a:extLst>
                    <a:ext uri="{9D8B030D-6E8A-4147-A177-3AD203B41FA5}">
                      <a16:colId xmlns:a16="http://schemas.microsoft.com/office/drawing/2014/main" val="1523797708"/>
                    </a:ext>
                  </a:extLst>
                </a:gridCol>
                <a:gridCol w="4365178">
                  <a:extLst>
                    <a:ext uri="{9D8B030D-6E8A-4147-A177-3AD203B41FA5}">
                      <a16:colId xmlns:a16="http://schemas.microsoft.com/office/drawing/2014/main" val="2750207184"/>
                    </a:ext>
                  </a:extLst>
                </a:gridCol>
              </a:tblGrid>
              <a:tr h="272935"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050">
                          <a:effectLst/>
                        </a:rPr>
                        <a:t>Título do Tópico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050">
                          <a:effectLst/>
                        </a:rPr>
                        <a:t>Objetivo do Tópico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74061904"/>
                  </a:ext>
                </a:extLst>
              </a:tr>
              <a:tr h="333554">
                <a:tc>
                  <a:txBody>
                    <a:bodyPr/>
                    <a:lstStyle/>
                    <a:p>
                      <a:pPr rtl="0" fontAlgn="ctr"/>
                      <a:r>
                        <a:rPr lang="pt-BR" sz="1050" b="0"/>
                        <a:t>Endereçamento dinâmico para LLAsIPv6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50"/>
                        <a:t>Configurar endereços link-local dinamicamente.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3818444524"/>
                  </a:ext>
                </a:extLst>
              </a:tr>
              <a:tr h="201235">
                <a:tc>
                  <a:txBody>
                    <a:bodyPr/>
                    <a:lstStyle/>
                    <a:p>
                      <a:pPr rtl="0" fontAlgn="ctr"/>
                      <a:r>
                        <a:rPr lang="pt-BR" sz="1050" b="0"/>
                        <a:t>Endereços multicast IPv6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50"/>
                        <a:t>Identificando Endereços IPv6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846877670"/>
                  </a:ext>
                </a:extLst>
              </a:tr>
              <a:tr h="201235">
                <a:tc>
                  <a:txBody>
                    <a:bodyPr/>
                    <a:lstStyle/>
                    <a:p>
                      <a:pPr rtl="0" fontAlgn="ctr"/>
                      <a:r>
                        <a:rPr lang="pt-BR" sz="1050" b="0"/>
                        <a:t>Sub-rede de uma rede IPv6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50"/>
                        <a:t>Implementando um Esquema de Endereçamento IPv6 com Sub-Redes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3702584445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920584680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244338"/>
            <a:ext cx="7598042" cy="1473462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12.1 Problemas IPv4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73099643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Problemas IPv4</a:t>
            </a:r>
            <a:br>
              <a:rPr lang="en-US" dirty="0"/>
            </a:br>
            <a:r>
              <a:rPr lang="pt-BR" sz="2400"/>
              <a:t>Necessidade de IPv6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2" y="855419"/>
            <a:ext cx="4140028" cy="3073946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chemeClr val="tx1"/>
                </a:solidFill>
              </a:rPr>
              <a:t>O IPv4 está ficando sem endereços. O IPv6 é o sucessor do IPv4. Tem um maior espaço de endereço de 128 bits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chemeClr val="tx1"/>
                </a:solidFill>
              </a:rPr>
              <a:t>O desenvolvimento do IPv6 também incluiu correções para limitações de IPv4 e outros aprimoramentos.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chemeClr val="tx1"/>
                </a:solidFill>
              </a:rPr>
              <a:t>Com uma população cada vez maior na Internet, espaço de endereços IPv4 limitado, problemas com NAT e uma Internet das Coisas, chegou o momento de iniciar a transição para o IPv6.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B1C0E8-9A48-4776-9AE6-431C4EFFF4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275" y="855419"/>
            <a:ext cx="3478852" cy="2063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064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15="http://schemas.microsoft.com/office/drawing/2012/chart" xmlns:c="http://schemas.openxmlformats.org/drawingml/2006/chart"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Problemas do IPv4 </a:t>
            </a:r>
            <a:br>
              <a:rPr lang="en-US" dirty="0"/>
            </a:br>
            <a:r>
              <a:rPr lang="pt-BR" sz="2400"/>
              <a:t>A coexistência do IPv4 e do IPv6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7913517" cy="3073946"/>
          </a:xfrm>
        </p:spPr>
        <p:txBody>
          <a:bodyPr/>
          <a:lstStyle/>
          <a:p>
            <a:pPr marL="0" indent="0" algn="l" rtl="0"/>
            <a:r>
              <a:rPr lang="pt-BR" sz="1600">
                <a:solidFill>
                  <a:schemeClr val="tx1"/>
                </a:solidFill>
              </a:rPr>
              <a:t>Tanto o IPv4 como o IPv6 coexistirão no futuro próximo e a transição levará vários anos.</a:t>
            </a:r>
          </a:p>
          <a:p>
            <a:pPr marL="0" indent="0" algn="l" rtl="0"/>
            <a:r>
              <a:rPr lang="pt-BR" sz="1600">
                <a:solidFill>
                  <a:schemeClr val="tx1"/>
                </a:solidFill>
              </a:rPr>
              <a:t>A IETF criou vários protocolos e ferramentas para ajudar os administradores de rede a migrarem as redes para IPv6. As técnicas de migração podem ser divididas em três categorias:</a:t>
            </a:r>
          </a:p>
          <a:p>
            <a:pPr marL="415985" lvl="1" indent="-342900" rtl="0">
              <a:buFont typeface="Arial" panose="020B0604020202020204" pitchFamily="34" charset="0"/>
              <a:buChar char="•"/>
            </a:pPr>
            <a:r>
              <a:rPr lang="pt-BR">
                <a:solidFill>
                  <a:schemeClr val="tx1"/>
                </a:solidFill>
              </a:rPr>
              <a:t>Pilha dupla - Os dispositivos de pilha dupla executam os protocolos IPv4 e IPv6 simultaneamente.</a:t>
            </a:r>
          </a:p>
          <a:p>
            <a:pPr marL="415985" lvl="1" indent="-342900" rtl="0">
              <a:buFont typeface="Arial" panose="020B0604020202020204" pitchFamily="34" charset="0"/>
              <a:buChar char="•"/>
            </a:pPr>
            <a:r>
              <a:rPr lang="pt-BR" b="1"/>
              <a:t>Tunelamento</a:t>
            </a:r>
            <a:r>
              <a:rPr lang="pt-BR"/>
              <a:t> -  Um método de transporte de pacotes IPv6 através de uma rede IPv4. O pacote IPv6 é encapsulado dentro de um pacote IPv4.</a:t>
            </a:r>
          </a:p>
          <a:p>
            <a:pPr marL="415985" lvl="1" indent="-342900" rtl="0">
              <a:buFont typeface="Arial" panose="020B0604020202020204" pitchFamily="34" charset="0"/>
              <a:buChar char="•"/>
            </a:pPr>
            <a:r>
              <a:rPr lang="pt-BR" b="1">
                <a:solidFill>
                  <a:schemeClr val="tx1"/>
                </a:solidFill>
              </a:rPr>
              <a:t>Tradução</a:t>
            </a:r>
            <a:r>
              <a:rPr lang="pt-BR">
                <a:solidFill>
                  <a:schemeClr val="tx1"/>
                </a:solidFill>
              </a:rPr>
              <a:t>: </a:t>
            </a:r>
            <a:r>
              <a:rPr lang="pt-BR" b="1">
                <a:solidFill>
                  <a:schemeClr val="tx1"/>
                </a:solidFill>
              </a:rPr>
              <a:t>a </a:t>
            </a:r>
            <a:r>
              <a:rPr lang="pt-BR"/>
              <a:t>NAT64 (Network Address Translation 64) permite que os dispositivos habilitados para IPv6 se comuniquem com os dispositivos habilitados para IPv4 usando uma técnica de tradução semelhante à NAT IPv4.</a:t>
            </a:r>
            <a:r>
              <a:rPr lang="pt-BR" b="1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D35741-D333-4DBC-B285-F99CC22F97CD}"/>
              </a:ext>
            </a:extLst>
          </p:cNvPr>
          <p:cNvSpPr txBox="1"/>
          <p:nvPr/>
        </p:nvSpPr>
        <p:spPr>
          <a:xfrm>
            <a:off x="431971" y="3918749"/>
            <a:ext cx="79135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pt-BR" sz="1400" b="1"/>
              <a:t>Observação: O</a:t>
            </a:r>
            <a:r>
              <a:rPr lang="pt-BR" sz="1400"/>
              <a:t> tunelamento e a tradução são para transição para IPv6 nativo e só devem ser usados quando necessário. O objetivo deve ser as comunicações IPv6 nativas da origem até o destino.</a:t>
            </a:r>
          </a:p>
        </p:txBody>
      </p:sp>
    </p:spTree>
    <p:extLst>
      <p:ext uri="{BB962C8B-B14F-4D97-AF65-F5344CB8AC3E}">
        <p14:creationId xmlns:p14="http://schemas.microsoft.com/office/powerpoint/2010/main" val="3543553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15="http://schemas.microsoft.com/office/drawing/2012/chart" xmlns:c="http://schemas.openxmlformats.org/drawingml/2006/chart"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848344" cy="92964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Representação do Endereço IPv6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19359580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Representação deendereço IPv6 Formatos deendereçamentoIPv6 </a:t>
            </a:r>
            <a:br>
              <a:rPr lang="en-US" dirty="0"/>
            </a:b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2" y="855419"/>
            <a:ext cx="7913516" cy="4003184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chemeClr val="tx1"/>
                </a:solidFill>
              </a:rPr>
              <a:t>Os endereços IPv6 têm 128 bits e são gravados em hexadecimal.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chemeClr val="tx1"/>
                </a:solidFill>
              </a:rPr>
              <a:t>Os endereços IPv6 não diferenciam maiúsculas e minúsculas e podem ser escritos tanto em minúsculas como em maiúsculas.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chemeClr val="tx1"/>
                </a:solidFill>
              </a:rPr>
              <a:t>Como mostrado na Figura 1, o formato preferencial para escrever um endereço IPv6 é x: x: x: x: x: x: x: x, com cada “x” consistindo de quatro valores hexadecimais.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chemeClr val="tx1"/>
                </a:solidFill>
              </a:rPr>
              <a:t>No IPv6, um hexteto é o termo não oficial usado para se referir a um segmento de 16 bits ou quatro valores hexadecimais.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chemeClr val="tx1"/>
                </a:solidFill>
              </a:rPr>
              <a:t>Exemplos de endereços IPv6 no formato preferido:</a:t>
            </a:r>
          </a:p>
          <a:p>
            <a:pPr marL="358775" lvl="4" indent="0" rtl="0">
              <a:buNone/>
            </a:pPr>
            <a:r>
              <a:rPr lang="pt-BR" sz="160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2001:0db8:0000:1111:0000:0000:0000:0200 </a:t>
            </a:r>
          </a:p>
          <a:p>
            <a:pPr marL="358775" lvl="4" indent="0" rtl="0">
              <a:buNone/>
            </a:pPr>
            <a:r>
              <a:rPr lang="pt-BR" sz="160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2001:0db8:0000:00 a3:abcd:</a:t>
            </a:r>
            <a:r>
              <a:rPr lang="pt-BR" sz="160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pt-BR" sz="160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000:0000:1234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</a:endParaRPr>
          </a:p>
          <a:p>
            <a:pPr marL="0" indent="0" algn="l"/>
            <a:endParaRPr 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7655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15="http://schemas.microsoft.com/office/drawing/2012/chart" xmlns:c="http://schemas.openxmlformats.org/drawingml/2006/chart"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br>
              <a:rPr lang="en-US" dirty="0"/>
            </a:br>
            <a:r>
              <a:rPr lang="pt-BR" sz="2400"/>
              <a:t>Regra 1 de representação de endereço IPv6 — Omitir zero à esquerda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2" y="872289"/>
            <a:ext cx="7913516" cy="2895245"/>
          </a:xfrm>
        </p:spPr>
        <p:txBody>
          <a:bodyPr/>
          <a:lstStyle/>
          <a:p>
            <a:pPr marL="0" indent="0" algn="l" rtl="0"/>
            <a:r>
              <a:rPr lang="pt-BR" sz="1600" dirty="0">
                <a:solidFill>
                  <a:schemeClr val="tx1"/>
                </a:solidFill>
              </a:rPr>
              <a:t>A primeira regra para ajudar a reduzir a notação de endereços IPv6 é omitir quaisquer 0s (zeros) iniciais.</a:t>
            </a:r>
          </a:p>
          <a:p>
            <a:pPr marL="73085" lvl="1" indent="0" rtl="0">
              <a:buNone/>
            </a:pPr>
            <a:r>
              <a:rPr lang="pt-BR" sz="1600" b="1" dirty="0"/>
              <a:t>Exemplos: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1"/>
                </a:solidFill>
              </a:rPr>
              <a:t>01AB pode ser representado como 1AB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1"/>
                </a:solidFill>
              </a:rPr>
              <a:t>09f0 pode ser representado como 9f0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1"/>
                </a:solidFill>
              </a:rPr>
              <a:t>0a00 pode ser representado como a00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1"/>
                </a:solidFill>
              </a:rPr>
              <a:t>00ab pode ser representado como </a:t>
            </a:r>
            <a:r>
              <a:rPr lang="pt-BR" sz="1600" dirty="0" err="1">
                <a:solidFill>
                  <a:schemeClr val="tx1"/>
                </a:solidFill>
              </a:rPr>
              <a:t>ab</a:t>
            </a:r>
            <a:endParaRPr lang="pt-BR" sz="1600" dirty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</a:endParaRPr>
          </a:p>
          <a:p>
            <a:pPr marL="0" indent="0" algn="l" rtl="0"/>
            <a:r>
              <a:rPr lang="pt-BR" sz="1600" b="1" dirty="0" err="1">
                <a:solidFill>
                  <a:schemeClr val="tx1"/>
                </a:solidFill>
              </a:rPr>
              <a:t>Observação</a:t>
            </a:r>
            <a:r>
              <a:rPr lang="pt-BR" sz="1600" dirty="0" err="1">
                <a:solidFill>
                  <a:schemeClr val="tx1"/>
                </a:solidFill>
              </a:rPr>
              <a:t>:Essa</a:t>
            </a:r>
            <a:r>
              <a:rPr lang="pt-BR" sz="1600" dirty="0">
                <a:solidFill>
                  <a:schemeClr val="tx1"/>
                </a:solidFill>
              </a:rPr>
              <a:t> regra se aplica somente aos 0s à esquerda, e NÃO aos 0s à direita. Caso contrário, o endereço ficaria ambíguo.</a:t>
            </a:r>
            <a:r>
              <a:rPr lang="pt-BR" sz="1600" b="1" dirty="0">
                <a:solidFill>
                  <a:schemeClr val="tx1"/>
                </a:solidFill>
              </a:rPr>
              <a:t> 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0" indent="0" algn="l"/>
            <a:endParaRPr lang="en-US" sz="1600" dirty="0">
              <a:solidFill>
                <a:schemeClr val="tx1"/>
              </a:solidFill>
            </a:endParaRPr>
          </a:p>
        </p:txBody>
      </p:sp>
      <p:graphicFrame>
        <p:nvGraphicFramePr>
          <p:cNvPr id="5" name="Content Placeholder 6">
            <a:extLst>
              <a:ext uri="{FF2B5EF4-FFF2-40B4-BE49-F238E27FC236}">
                <a16:creationId xmlns:a16="http://schemas.microsoft.com/office/drawing/2014/main" id="{8D418206-3EDF-4754-9AFB-FFEB638592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00276989"/>
              </p:ext>
            </p:extLst>
          </p:nvPr>
        </p:nvGraphicFramePr>
        <p:xfrm>
          <a:off x="750745" y="3767534"/>
          <a:ext cx="6617097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3127">
                  <a:extLst>
                    <a:ext uri="{9D8B030D-6E8A-4147-A177-3AD203B41FA5}">
                      <a16:colId xmlns:a16="http://schemas.microsoft.com/office/drawing/2014/main" val="3729139006"/>
                    </a:ext>
                  </a:extLst>
                </a:gridCol>
                <a:gridCol w="4653970">
                  <a:extLst>
                    <a:ext uri="{9D8B030D-6E8A-4147-A177-3AD203B41FA5}">
                      <a16:colId xmlns:a16="http://schemas.microsoft.com/office/drawing/2014/main" val="19889134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/>
                      <a:r>
                        <a:rPr lang="pt-BR" sz="1100"/>
                        <a:t>Tipo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1100"/>
                        <a:t>Formato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36767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pt-BR" sz="1100">
                          <a:solidFill>
                            <a:srgbClr val="000000"/>
                          </a:solidFill>
                        </a:rPr>
                        <a:t>Preferencial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1100"/>
                        <a:t>2001: </a:t>
                      </a:r>
                      <a:r>
                        <a:rPr lang="pt-BR" sz="1100" b="1"/>
                        <a:t>0</a:t>
                      </a:r>
                      <a:r>
                        <a:rPr lang="pt-BR" sz="1100"/>
                        <a:t>db8: </a:t>
                      </a:r>
                      <a:r>
                        <a:rPr lang="pt-BR" sz="1100" b="1"/>
                        <a:t>000</a:t>
                      </a:r>
                      <a:r>
                        <a:rPr lang="pt-BR" sz="1100"/>
                        <a:t>0:1111: </a:t>
                      </a:r>
                      <a:r>
                        <a:rPr lang="pt-BR" sz="1100" b="1"/>
                        <a:t>000</a:t>
                      </a:r>
                      <a:r>
                        <a:rPr lang="pt-BR" sz="1100"/>
                        <a:t>0: </a:t>
                      </a:r>
                      <a:r>
                        <a:rPr lang="pt-BR" sz="1100" b="1"/>
                        <a:t>000</a:t>
                      </a:r>
                      <a:r>
                        <a:rPr lang="pt-BR" sz="1100"/>
                        <a:t>0: </a:t>
                      </a:r>
                      <a:r>
                        <a:rPr lang="pt-BR" sz="1100" b="1"/>
                        <a:t>000</a:t>
                      </a:r>
                      <a:r>
                        <a:rPr lang="pt-BR" sz="1100"/>
                        <a:t>0: </a:t>
                      </a:r>
                      <a:r>
                        <a:rPr lang="pt-BR" sz="1100" b="1"/>
                        <a:t>0</a:t>
                      </a:r>
                      <a:r>
                        <a:rPr lang="pt-BR" sz="1100"/>
                        <a:t>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654457"/>
                  </a:ext>
                </a:extLst>
              </a:tr>
              <a:tr h="170900"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>
                          <a:solidFill>
                            <a:srgbClr val="000000"/>
                          </a:solidFill>
                        </a:rPr>
                        <a:t>Sem zeros à esquerda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1100"/>
                        <a:t>2001: db8:0: 1111:0: 0:0: 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7351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2638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15="http://schemas.microsoft.com/office/drawing/2012/chart" xmlns:c="http://schemas.openxmlformats.org/drawingml/2006/chart"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br>
              <a:rPr lang="en-US" dirty="0"/>
            </a:br>
            <a:r>
              <a:rPr lang="pt-BR" sz="2400"/>
              <a:t>Regra 2 de Representação de Endereço IPv6 — Dois-pontos duplos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2" y="855419"/>
            <a:ext cx="7913516" cy="2399913"/>
          </a:xfrm>
        </p:spPr>
        <p:txBody>
          <a:bodyPr/>
          <a:lstStyle/>
          <a:p>
            <a:pPr marL="0" indent="0" algn="l" rtl="0"/>
            <a:r>
              <a:rPr lang="pt-BR" sz="1800">
                <a:solidFill>
                  <a:schemeClr val="tx1"/>
                </a:solidFill>
              </a:rPr>
              <a:t>Dois pontos-e-vírgula (: :) podem substituir qualquer sequência única e contígua de um ou mais hextets de 16 bits que consistem em todos os zeros. </a:t>
            </a:r>
          </a:p>
          <a:p>
            <a:pPr marL="0" indent="0" algn="l" rtl="0"/>
            <a:r>
              <a:rPr lang="pt-BR" sz="1600" b="1">
                <a:solidFill>
                  <a:schemeClr val="tx1"/>
                </a:solidFill>
              </a:rPr>
              <a:t>Exemplo: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pt-BR" sz="1400">
                <a:solidFill>
                  <a:schemeClr val="tx1"/>
                </a:solidFill>
              </a:rPr>
              <a:t>2001:db8:cafe: 1:0:0:0:1 (0s principais omitidos) poderia ser representado como 2001:db8:cafe:1: :1</a:t>
            </a:r>
          </a:p>
          <a:p>
            <a:pPr marL="0" indent="0" algn="l"/>
            <a:endParaRPr lang="en-US" sz="1600" dirty="0">
              <a:solidFill>
                <a:schemeClr val="tx1"/>
              </a:solidFill>
            </a:endParaRPr>
          </a:p>
          <a:p>
            <a:pPr marL="0" indent="0" algn="l" rtl="0"/>
            <a:r>
              <a:rPr lang="pt-BR" sz="1600" b="1">
                <a:solidFill>
                  <a:schemeClr val="tx1"/>
                </a:solidFill>
              </a:rPr>
              <a:t>Observação</a:t>
            </a:r>
            <a:r>
              <a:rPr lang="pt-BR" sz="1600">
                <a:solidFill>
                  <a:schemeClr val="tx1"/>
                </a:solidFill>
              </a:rPr>
              <a:t>:</a:t>
            </a:r>
            <a:r>
              <a:rPr lang="pt-BR" sz="1400">
                <a:solidFill>
                  <a:schemeClr val="tx1"/>
                </a:solidFill>
              </a:rPr>
              <a:t>Os dois-pontos em dobro (::) só podem ser usados uma vez em um endereço; caso contrário, haveria mais de um endereço resultante possível.</a:t>
            </a:r>
          </a:p>
          <a:p>
            <a:pPr marL="0" indent="0" algn="l"/>
            <a:endParaRPr lang="en-US" sz="1600" dirty="0">
              <a:solidFill>
                <a:schemeClr val="tx1"/>
              </a:solidFill>
            </a:endParaRPr>
          </a:p>
        </p:txBody>
      </p:sp>
      <p:graphicFrame>
        <p:nvGraphicFramePr>
          <p:cNvPr id="5" name="Content Placeholder 6">
            <a:extLst>
              <a:ext uri="{FF2B5EF4-FFF2-40B4-BE49-F238E27FC236}">
                <a16:creationId xmlns:a16="http://schemas.microsoft.com/office/drawing/2014/main" id="{8D418206-3EDF-4754-9AFB-FFEB638592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19957027"/>
              </p:ext>
            </p:extLst>
          </p:nvPr>
        </p:nvGraphicFramePr>
        <p:xfrm>
          <a:off x="668858" y="3255332"/>
          <a:ext cx="6617097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3127">
                  <a:extLst>
                    <a:ext uri="{9D8B030D-6E8A-4147-A177-3AD203B41FA5}">
                      <a16:colId xmlns:a16="http://schemas.microsoft.com/office/drawing/2014/main" val="3729139006"/>
                    </a:ext>
                  </a:extLst>
                </a:gridCol>
                <a:gridCol w="4653970">
                  <a:extLst>
                    <a:ext uri="{9D8B030D-6E8A-4147-A177-3AD203B41FA5}">
                      <a16:colId xmlns:a16="http://schemas.microsoft.com/office/drawing/2014/main" val="19889134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/>
                      <a:r>
                        <a:rPr lang="pt-BR" sz="1100"/>
                        <a:t>Tipo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1100"/>
                        <a:t>Formato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36767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pt-BR" sz="1100">
                          <a:solidFill>
                            <a:srgbClr val="000000"/>
                          </a:solidFill>
                        </a:rPr>
                        <a:t>Preferencial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1100"/>
                        <a:t>2001: </a:t>
                      </a:r>
                      <a:r>
                        <a:rPr lang="pt-BR" sz="1100" b="1"/>
                        <a:t>0</a:t>
                      </a:r>
                      <a:r>
                        <a:rPr lang="pt-BR" sz="1100"/>
                        <a:t>db8: </a:t>
                      </a:r>
                      <a:r>
                        <a:rPr lang="pt-BR" sz="1100" b="1"/>
                        <a:t>000</a:t>
                      </a:r>
                      <a:r>
                        <a:rPr lang="pt-BR" sz="1100"/>
                        <a:t>0:1111: </a:t>
                      </a:r>
                      <a:r>
                        <a:rPr lang="pt-BR" sz="1100" b="1"/>
                        <a:t>0000</a:t>
                      </a:r>
                      <a:r>
                        <a:rPr lang="pt-BR" sz="1100"/>
                        <a:t>: </a:t>
                      </a:r>
                      <a:r>
                        <a:rPr lang="pt-BR" sz="1100" b="1"/>
                        <a:t>0000</a:t>
                      </a:r>
                      <a:r>
                        <a:rPr lang="pt-BR" sz="1100"/>
                        <a:t>: </a:t>
                      </a:r>
                      <a:r>
                        <a:rPr lang="pt-BR" sz="1100" b="1"/>
                        <a:t>0000</a:t>
                      </a:r>
                      <a:r>
                        <a:rPr lang="pt-BR" sz="1100"/>
                        <a:t>: </a:t>
                      </a:r>
                      <a:r>
                        <a:rPr lang="pt-BR" sz="1100" b="1"/>
                        <a:t>0</a:t>
                      </a:r>
                      <a:r>
                        <a:rPr lang="pt-BR" sz="1100"/>
                        <a:t>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654457"/>
                  </a:ext>
                </a:extLst>
              </a:tr>
              <a:tr h="170900"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>
                          <a:solidFill>
                            <a:srgbClr val="000000"/>
                          </a:solidFill>
                        </a:rPr>
                        <a:t>Compactado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1100"/>
                        <a:t>2001:db8:0:1111::200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7351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854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15="http://schemas.microsoft.com/office/drawing/2012/chart" xmlns:c="http://schemas.openxmlformats.org/drawingml/2006/chart"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848344" cy="92964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12.3 Tipos de endereço IPv6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3391011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Tipo de Endereçamento IPv6 </a:t>
            </a:r>
            <a:br>
              <a:rPr lang="en-US" dirty="0"/>
            </a:br>
            <a:r>
              <a:rPr lang="pt-BR" sz="2400"/>
              <a:t>unicast, multicast, anycast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003F5F5-7654-47FE-8245-0FE364DE3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1035050"/>
            <a:ext cx="8280400" cy="3073400"/>
          </a:xfrm>
        </p:spPr>
        <p:txBody>
          <a:bodyPr/>
          <a:lstStyle/>
          <a:p>
            <a:pPr marL="0" indent="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pt-BR" sz="1600">
                <a:solidFill>
                  <a:schemeClr val="tx1"/>
                </a:solidFill>
              </a:rPr>
              <a:t>Existem três grandes categorias de endereços IPv6: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chemeClr val="tx1"/>
                </a:solidFill>
              </a:rPr>
              <a:t>Unicast </a:t>
            </a:r>
            <a:r>
              <a:rPr lang="pt-BR" sz="1600" b="1">
                <a:solidFill>
                  <a:schemeClr val="tx1"/>
                </a:solidFill>
              </a:rPr>
              <a:t>– Um endereço IPv6 unicast identifica exclusivamente uma interface em um dispositivo habilitado para IPv6.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chemeClr val="tx1"/>
                </a:solidFill>
              </a:rPr>
              <a:t>Multicast </a:t>
            </a:r>
            <a:r>
              <a:rPr lang="pt-BR" sz="1600" b="1">
                <a:solidFill>
                  <a:schemeClr val="tx1"/>
                </a:solidFill>
              </a:rPr>
              <a:t>– Um endereço IPv6 multicast é usado para enviar um único pacote IPv6 para vários destinos.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pt-BR" sz="1600" b="1">
                <a:solidFill>
                  <a:schemeClr val="tx1"/>
                </a:solidFill>
              </a:rPr>
              <a:t>Anycast </a:t>
            </a:r>
            <a:r>
              <a:rPr lang="pt-BR" sz="1600">
                <a:solidFill>
                  <a:schemeClr val="tx1"/>
                </a:solidFill>
              </a:rPr>
              <a:t>– Um endereço IPv6 anycast é qualquer endereço IPv6 unicast que possa ser atribuído a vários dispositivos. Um pacote enviado a um endereço de anycast é roteado para o dispositivo mais próximo que tenha esse endereço.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</a:endParaRPr>
          </a:p>
          <a:p>
            <a:pPr marL="0" indent="0" algn="l" rtl="0"/>
            <a:r>
              <a:rPr lang="pt-BR" sz="1600" b="1">
                <a:solidFill>
                  <a:schemeClr val="tx1"/>
                </a:solidFill>
              </a:rPr>
              <a:t>Observação</a:t>
            </a:r>
            <a:r>
              <a:rPr lang="pt-BR" sz="1600">
                <a:solidFill>
                  <a:schemeClr val="tx1"/>
                </a:solidFill>
              </a:rPr>
              <a:t>: Ao contrário do IPv4, o IPv6 não possui um endereço de broadcast. No entanto, há um endereço multicast para todos os nós IPv6 que fornece basicamente o mesmo resultado.</a:t>
            </a:r>
          </a:p>
          <a:p>
            <a:pPr marL="489010" lvl="2" indent="-342900">
              <a:buFont typeface="Arial" panose="020B0604020202020204" pitchFamily="34" charset="0"/>
              <a:buChar char="•"/>
            </a:pPr>
            <a:endParaRPr lang="en-US" sz="2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</a:endParaRPr>
          </a:p>
          <a:p>
            <a:pPr marL="0" indent="0" algn="l"/>
            <a:endParaRPr lang="en-US" sz="1600" dirty="0">
              <a:solidFill>
                <a:schemeClr val="tx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7960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15="http://schemas.microsoft.com/office/drawing/2012/chart" xmlns:c="http://schemas.openxmlformats.org/drawingml/2006/chart"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br>
              <a:rPr lang="en-US" dirty="0"/>
            </a:br>
            <a:r>
              <a:rPr lang="pt-BR" sz="2400"/>
              <a:t>Tipos de endereços IPv6 </a:t>
            </a:r>
            <a:r>
              <a:rPr lang="pt-BR" sz="1600"/>
              <a:t>Comprimento do prefixo IPv6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003F5F5-7654-47FE-8245-0FE364DE3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1035050"/>
            <a:ext cx="8280400" cy="1312365"/>
          </a:xfrm>
        </p:spPr>
        <p:txBody>
          <a:bodyPr/>
          <a:lstStyle/>
          <a:p>
            <a:pPr marL="0" indent="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pt-BR" sz="1600">
                <a:solidFill>
                  <a:schemeClr val="tx1"/>
                </a:solidFill>
              </a:rPr>
              <a:t>O comprimento do prefixo é representado na notação de barra e é usado para indicar a parte da rede de um endereço IPv6.</a:t>
            </a:r>
          </a:p>
          <a:p>
            <a:pPr marL="0" indent="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pt-BR" sz="1600">
                <a:solidFill>
                  <a:schemeClr val="tx1"/>
                </a:solidFill>
              </a:rPr>
              <a:t>O comprimento do prefixo pode variar de 0 a 128. O comprimento recomendado do prefixo IPv6 para LANs e a maioria dos outros tipos de redes é / 64.</a:t>
            </a:r>
          </a:p>
          <a:p>
            <a:pPr marL="489010" lvl="2" indent="-342900">
              <a:buFont typeface="Arial" panose="020B0604020202020204" pitchFamily="34" charset="0"/>
              <a:buChar char="•"/>
            </a:pPr>
            <a:endParaRPr lang="en-US" sz="2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</a:endParaRPr>
          </a:p>
          <a:p>
            <a:pPr marL="0" indent="0" algn="l"/>
            <a:endParaRPr lang="en-US" sz="1600" dirty="0">
              <a:solidFill>
                <a:schemeClr val="tx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8711CFE-EFE8-4AEF-8D4D-DB7AA12D84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7923" y="2190466"/>
            <a:ext cx="4469641" cy="172769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051A667-EF42-442E-A708-9DFBA630D846}"/>
              </a:ext>
            </a:extLst>
          </p:cNvPr>
          <p:cNvSpPr txBox="1"/>
          <p:nvPr/>
        </p:nvSpPr>
        <p:spPr>
          <a:xfrm>
            <a:off x="431799" y="3952755"/>
            <a:ext cx="799030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pt-BR" sz="1400" b="1"/>
              <a:t>Observação</a:t>
            </a:r>
            <a:r>
              <a:rPr lang="pt-BR" sz="1400"/>
              <a:t>: É altamente recomendável usar um ID de interface de 64 bits para a maioria das redes. Isso ocorre porque a configuração automática de endereço sem estado (SLAAC) usa 64 bits para o ID de interface. Também facilita a criação e o gerenciamento de sub-redes</a:t>
            </a:r>
            <a:r>
              <a:rPr lang="pt-BR" sz="120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320096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15="http://schemas.microsoft.com/office/drawing/2012/chart" xmlns:c="http://schemas.openxmlformats.org/drawingml/2006/chart"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br>
              <a:rPr lang="en-US" dirty="0"/>
            </a:br>
            <a:r>
              <a:rPr lang="pt-BR" sz="2400"/>
              <a:t>Tipos de endereços IPv6 </a:t>
            </a:r>
            <a:r>
              <a:rPr lang="pt-BR" sz="1600"/>
              <a:t>Endereços IPv6 unicast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003F5F5-7654-47FE-8245-0FE364DE3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1035050"/>
            <a:ext cx="4741333" cy="3550598"/>
          </a:xfrm>
        </p:spPr>
        <p:txBody>
          <a:bodyPr/>
          <a:lstStyle/>
          <a:p>
            <a:pPr marL="0" indent="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pt-BR" sz="1600">
                <a:solidFill>
                  <a:schemeClr val="tx1"/>
                </a:solidFill>
              </a:rPr>
              <a:t>Ao contrário dos dispositivos IPv4 que têm apenas um único endereço, os endereços IPv6 normalmente têm dois endereços unicast:</a:t>
            </a:r>
          </a:p>
          <a:p>
            <a:pPr marL="489010" lvl="2" indent="-342900">
              <a:buFont typeface="Arial" panose="020B0604020202020204" pitchFamily="34" charset="0"/>
              <a:buChar char="•"/>
            </a:pPr>
            <a:endParaRPr lang="en-US" sz="200" dirty="0"/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chemeClr val="tx1"/>
                </a:solidFill>
              </a:rPr>
              <a:t>Um endereço unicast global(GUA) é semelhante a um endereço IPv4 público. São endereços de Internet roteáveis e globalmente exclusivos.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 b="1">
                <a:solidFill>
                  <a:schemeClr val="tx1"/>
                </a:solidFill>
              </a:rPr>
              <a:t>Endereço local do link (LLA) - </a:t>
            </a:r>
            <a:r>
              <a:rPr lang="pt-BR" sz="1600">
                <a:solidFill>
                  <a:schemeClr val="tx1"/>
                </a:solidFill>
              </a:rPr>
              <a:t>obrigatório para todos os dispositivos habilitados para IPv6 e usado para se comunicar com outros dispositivos no mesmo link local. Os LLAs não são roteáveis e estão confinados a um único link.</a:t>
            </a:r>
            <a:r>
              <a:rPr lang="pt-BR" sz="1600" b="1">
                <a:solidFill>
                  <a:schemeClr val="tx1"/>
                </a:solidFill>
              </a:rPr>
              <a:t> </a:t>
            </a:r>
          </a:p>
          <a:p>
            <a:pPr marL="0" indent="0" algn="l"/>
            <a:endParaRPr lang="en-US" sz="1600" dirty="0">
              <a:solidFill>
                <a:schemeClr val="tx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1BE6E4-8308-4A7B-92AC-81146B461F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1666" y="675564"/>
            <a:ext cx="3528847" cy="2982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484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15="http://schemas.microsoft.com/office/drawing/2012/chart" xmlns:c="http://schemas.openxmlformats.org/drawingml/2006/chart"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Tipos de endereço IPv6</a:t>
            </a:r>
            <a:br>
              <a:rPr lang="en-US" dirty="0"/>
            </a:br>
            <a:r>
              <a:rPr lang="pt-BR" sz="2400"/>
              <a:t>Uma observação sobre o endereço local exclusivo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003F5F5-7654-47FE-8245-0FE364DE3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857250"/>
            <a:ext cx="7913688" cy="2690789"/>
          </a:xfrm>
        </p:spPr>
        <p:txBody>
          <a:bodyPr/>
          <a:lstStyle/>
          <a:p>
            <a:pPr marL="0" indent="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pt-BR" sz="1800">
                <a:solidFill>
                  <a:schemeClr val="tx1"/>
                </a:solidFill>
              </a:rPr>
              <a:t>Os endereços locais exclusivos do IPv6 (intervalo fc00 :: / 7 a fdff :: / 7) têm alguma semelhança com os endereços privados do RFC 1918 para o IPv4, mas existem diferenças significativas: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chemeClr val="tx1"/>
                </a:solidFill>
              </a:rPr>
              <a:t>Os endereços unique local são utilizados para endereçamento local dentro de um site ou entre um número limitado de sites.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chemeClr val="tx1"/>
                </a:solidFill>
              </a:rPr>
              <a:t>Os endereços unique local podem ser usados para dispositivos que nunca precisarão ou terão acesso por outra rede.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chemeClr val="tx1"/>
                </a:solidFill>
              </a:rPr>
              <a:t>Endereços locais exclusivos não são globalmente roteados ou traduzidos para um endereço IPv6 global.</a:t>
            </a:r>
          </a:p>
          <a:p>
            <a:pPr marL="0" indent="0" algn="l"/>
            <a:endParaRPr lang="en-US" sz="1800" dirty="0">
              <a:solidFill>
                <a:schemeClr val="tx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231FF7-40C5-41A9-B1B2-B932B5944E05}"/>
              </a:ext>
            </a:extLst>
          </p:cNvPr>
          <p:cNvSpPr txBox="1"/>
          <p:nvPr/>
        </p:nvSpPr>
        <p:spPr>
          <a:xfrm>
            <a:off x="566383" y="3673452"/>
            <a:ext cx="77791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pt-BR" sz="1600" b="1"/>
              <a:t>Nota</a:t>
            </a:r>
            <a:r>
              <a:rPr lang="pt-BR" sz="1600"/>
              <a:t>: Muitos sites usam a natureza privada dos endereços RFC 1918 para tentar proteger ou ocultar sua rede de possíveis riscos à segurança. Este nunca foi o uso pretendido de ULA. </a:t>
            </a:r>
            <a:r>
              <a:rPr lang="pt-BR" sz="1600" b="1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82007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15="http://schemas.microsoft.com/office/drawing/2012/chart" xmlns:c="http://schemas.openxmlformats.org/drawingml/2006/chart"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Tipos deendereço </a:t>
            </a:r>
            <a:br>
              <a:rPr lang="en-US" dirty="0"/>
            </a:br>
            <a:r>
              <a:rPr lang="pt-BR" sz="2400"/>
              <a:t>IPv6 GUAIPv6 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003F5F5-7654-47FE-8245-0FE364DE3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1035050"/>
            <a:ext cx="7913688" cy="1653559"/>
          </a:xfrm>
        </p:spPr>
        <p:txBody>
          <a:bodyPr/>
          <a:lstStyle/>
          <a:p>
            <a:pPr marL="0" indent="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pt-BR" sz="1600">
                <a:solidFill>
                  <a:schemeClr val="tx1"/>
                </a:solidFill>
              </a:rPr>
              <a:t>O endereço IPv6 unicast global (GUA) é globalmente exclusivo e roteável na Internet IPv6.</a:t>
            </a:r>
          </a:p>
          <a:p>
            <a:pPr marL="285750" indent="-28575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400">
                <a:solidFill>
                  <a:schemeClr val="tx1"/>
                </a:solidFill>
              </a:rPr>
              <a:t>Atualmente, apenas GUAs com os três primeiros bits de 001 ou 2000 :: / 3 estão sendo atribuídos.</a:t>
            </a:r>
          </a:p>
          <a:p>
            <a:pPr marL="285750" indent="-28575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400">
                <a:solidFill>
                  <a:schemeClr val="tx1"/>
                </a:solidFill>
              </a:rPr>
              <a:t>GUAs atualmente disponíveis começam com um decimal 2 ou um 3 (Isso é apenas 1/8 do espaço total de endereços IPv6 disponível).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D2C171-6C4F-462E-8801-77898CB371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8667" y="2756848"/>
            <a:ext cx="5097321" cy="1793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150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15="http://schemas.microsoft.com/office/drawing/2012/chart" xmlns:c="http://schemas.openxmlformats.org/drawingml/2006/chart"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Tipos de endereço IPv6</a:t>
            </a:r>
            <a:r>
              <a:rPr lang="pt-BR" sz="2400"/>
              <a:t>Estrutura GUAIPv6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003F5F5-7654-47FE-8245-0FE364DE3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733" y="555789"/>
            <a:ext cx="7913688" cy="3066433"/>
          </a:xfrm>
        </p:spPr>
        <p:txBody>
          <a:bodyPr/>
          <a:lstStyle/>
          <a:p>
            <a:pPr marL="0" indent="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pt-BR" sz="1600" b="1">
                <a:solidFill>
                  <a:srgbClr val="000000"/>
                </a:solidFill>
              </a:rPr>
              <a:t>prefixo de roteamento global</a:t>
            </a:r>
          </a:p>
          <a:p>
            <a:pPr lvl="1" rtl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90000"/>
            </a:pPr>
            <a:r>
              <a:rPr lang="pt-BR" sz="1600">
                <a:solidFill>
                  <a:srgbClr val="000000"/>
                </a:solidFill>
              </a:rPr>
              <a:t>O prefixo global de roteamento é o prefixo (parte de rede) do endereço que é atribuído pelo provedor (como um ISP) a um cliente ou um site. O prefixo de roteamento global varia dependendo das políticas do ISP.</a:t>
            </a:r>
          </a:p>
          <a:p>
            <a:pPr marL="0" indent="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pt-BR" sz="1600" b="1">
                <a:solidFill>
                  <a:srgbClr val="000000"/>
                </a:solidFill>
              </a:rPr>
              <a:t>ID da sub-rede</a:t>
            </a:r>
          </a:p>
          <a:p>
            <a:pPr lvl="1" rtl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90000"/>
            </a:pPr>
            <a:r>
              <a:rPr lang="pt-BR" sz="1600">
                <a:solidFill>
                  <a:srgbClr val="000000"/>
                </a:solidFill>
              </a:rPr>
              <a:t>O campo ID de sub-rede é a área entre o Prefixo de roteamento global e o ID da interface. A ID da sub-rede é usada por uma empresa para identificar sub-redes localmente.</a:t>
            </a:r>
          </a:p>
          <a:p>
            <a:pPr marL="0" indent="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pt-BR" sz="1600" b="1">
                <a:solidFill>
                  <a:srgbClr val="000000"/>
                </a:solidFill>
              </a:rPr>
              <a:t>ID da interface</a:t>
            </a:r>
          </a:p>
          <a:p>
            <a:pPr lvl="1" rtl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90000"/>
            </a:pPr>
            <a:r>
              <a:rPr lang="pt-BR" sz="1600">
                <a:solidFill>
                  <a:srgbClr val="000000"/>
                </a:solidFill>
              </a:rPr>
              <a:t>A ID da interface IPv6 equivale à parte de host de um endereço IPv4. É altamente recomendável que as sub-redes /64 sejam usadas na maioria dos casos. </a:t>
            </a: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68A82F-60E8-4147-8B2F-E378272C665E}"/>
              </a:ext>
            </a:extLst>
          </p:cNvPr>
          <p:cNvSpPr txBox="1"/>
          <p:nvPr/>
        </p:nvSpPr>
        <p:spPr>
          <a:xfrm>
            <a:off x="431799" y="4178011"/>
            <a:ext cx="78155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pt-BR" sz="1200" b="1"/>
              <a:t>Nota</a:t>
            </a:r>
            <a:r>
              <a:rPr lang="pt-BR" sz="1200"/>
              <a:t>: O IPv6 permite que os endereços de host todos os 0 e todos os 1s possam ser atribuídos a um dispositivo. O endereço all-0s é reservado como endereço anycast do Subnet-Router e deve ser atribuído apenas aos roteadores.</a:t>
            </a:r>
          </a:p>
        </p:txBody>
      </p:sp>
    </p:spTree>
    <p:extLst>
      <p:ext uri="{BB962C8B-B14F-4D97-AF65-F5344CB8AC3E}">
        <p14:creationId xmlns:p14="http://schemas.microsoft.com/office/powerpoint/2010/main" val="3392640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15="http://schemas.microsoft.com/office/drawing/2012/chart" xmlns:c="http://schemas.openxmlformats.org/drawingml/2006/chart"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Tipos de endereço IPv6 </a:t>
            </a:r>
            <a:br>
              <a:rPr lang="en-US" dirty="0"/>
            </a:br>
            <a:r>
              <a:rPr lang="pt-BR" sz="2400"/>
              <a:t>IPv6 LLA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003F5F5-7654-47FE-8245-0FE364DE3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424" y="819502"/>
            <a:ext cx="8135151" cy="2214177"/>
          </a:xfrm>
        </p:spPr>
        <p:txBody>
          <a:bodyPr/>
          <a:lstStyle/>
          <a:p>
            <a:pPr marL="0" indent="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pt-BR" sz="1600">
                <a:solidFill>
                  <a:srgbClr val="000000"/>
                </a:solidFill>
              </a:rPr>
              <a:t>Um endereço IPv6 de link-local permite que um dispositivo se comunique com outros dispositivos habilitados para IPv6 no mesmo link e somente nesse link (sub-rede).</a:t>
            </a:r>
          </a:p>
          <a:p>
            <a:pPr marL="169863" indent="-169863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400">
                <a:solidFill>
                  <a:srgbClr val="000000"/>
                </a:solidFill>
              </a:rPr>
              <a:t>Pacotes com um LLA de origem ou destino não podem ser roteados.</a:t>
            </a:r>
          </a:p>
          <a:p>
            <a:pPr marL="169863" indent="-169863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400">
                <a:solidFill>
                  <a:srgbClr val="000000"/>
                </a:solidFill>
              </a:rPr>
              <a:t>Toda interface de rede habilitada para IPv6 deve ter um LLA.</a:t>
            </a:r>
          </a:p>
          <a:p>
            <a:pPr marL="169863" indent="-169863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400">
                <a:solidFill>
                  <a:srgbClr val="000000"/>
                </a:solidFill>
              </a:rPr>
              <a:t>Se um LLA não estiver configurado manualmente em uma interface, o dispositivo criará automaticamente um.</a:t>
            </a:r>
          </a:p>
          <a:p>
            <a:pPr marL="169863" indent="-169863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400">
                <a:solidFill>
                  <a:srgbClr val="000000"/>
                </a:solidFill>
              </a:rPr>
              <a:t>Os LLAs IPv6 estão no intervalo fe80: :/10.</a:t>
            </a:r>
          </a:p>
          <a:p>
            <a:pPr marL="169863" indent="-169863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000000"/>
              </a:solidFill>
            </a:endParaRPr>
          </a:p>
          <a:p>
            <a:pPr marL="169863" indent="-169863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endParaRPr lang="en-US" sz="1400" b="1" dirty="0">
              <a:solidFill>
                <a:srgbClr val="000000"/>
              </a:solidFill>
            </a:endParaRP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0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3BF2F6-9976-4706-A856-94F952BD66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3289" y="3121345"/>
            <a:ext cx="4838608" cy="158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721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15="http://schemas.microsoft.com/office/drawing/2012/chart" xmlns:c="http://schemas.openxmlformats.org/drawingml/2006/chart"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47520"/>
            <a:ext cx="8280314" cy="97028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12.4 Configuração estática GUA e LLA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0599242"/>
      </p:ext>
    </p:ext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Configuração estática GUA e LLA Configuração</a:t>
            </a:r>
            <a:br>
              <a:rPr lang="en-US" dirty="0"/>
            </a:br>
            <a:r>
              <a:rPr lang="pt-BR" sz="2400"/>
              <a:t>Estática de GUA em um Roteador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003F5F5-7654-47FE-8245-0FE364DE3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1035050"/>
            <a:ext cx="8135151" cy="2064285"/>
          </a:xfrm>
        </p:spPr>
        <p:txBody>
          <a:bodyPr/>
          <a:lstStyle/>
          <a:p>
            <a:pPr marL="0" indent="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pt-BR" sz="1600">
                <a:solidFill>
                  <a:srgbClr val="000000"/>
                </a:solidFill>
              </a:rPr>
              <a:t>A maioria dos comandos de configuração e verificação do IPv6 no Cisco IOS são semelhantes aos seus equivalentes no IPv4. Em muitos casos, a única diferença é o uso de </a:t>
            </a:r>
            <a:r>
              <a:rPr lang="pt-BR" sz="1600" b="1">
                <a:solidFill>
                  <a:srgbClr val="000000"/>
                </a:solidFill>
              </a:rPr>
              <a:t>ipv6 </a:t>
            </a:r>
            <a:r>
              <a:rPr lang="pt-BR" sz="1600">
                <a:solidFill>
                  <a:srgbClr val="000000"/>
                </a:solidFill>
              </a:rPr>
              <a:t>em vez de </a:t>
            </a:r>
            <a:r>
              <a:rPr lang="pt-BR" sz="1600" b="1">
                <a:solidFill>
                  <a:srgbClr val="000000"/>
                </a:solidFill>
              </a:rPr>
              <a:t>ip </a:t>
            </a:r>
            <a:r>
              <a:rPr lang="pt-BR" sz="1600">
                <a:solidFill>
                  <a:srgbClr val="000000"/>
                </a:solidFill>
              </a:rPr>
              <a:t>nos comandos.</a:t>
            </a:r>
          </a:p>
          <a:p>
            <a:pPr marL="285750" indent="-28575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O comando para configurar um GUA IPv6 em uma interface é: </a:t>
            </a:r>
            <a:r>
              <a:rPr lang="pt-BR" sz="1600" b="1">
                <a:solidFill>
                  <a:srgbClr val="000000"/>
                </a:solidFill>
              </a:rPr>
              <a:t>ipv6 address</a:t>
            </a:r>
            <a:r>
              <a:rPr lang="pt-BR" sz="1600">
                <a:solidFill>
                  <a:srgbClr val="000000"/>
                </a:solidFill>
              </a:rPr>
              <a:t> </a:t>
            </a:r>
            <a:r>
              <a:rPr lang="pt-BR" sz="1600" i="1">
                <a:solidFill>
                  <a:srgbClr val="000000"/>
                </a:solidFill>
              </a:rPr>
              <a:t>ipv6-address/prefix-length. </a:t>
            </a:r>
          </a:p>
          <a:p>
            <a:pPr marL="285750" indent="-28575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O exemplo mostra comandos para configurar um GUA na interface G0/0/0 em R1:</a:t>
            </a:r>
          </a:p>
          <a:p>
            <a:pPr marL="169863" indent="-169863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000000"/>
              </a:solidFill>
            </a:endParaRPr>
          </a:p>
          <a:p>
            <a:pPr marL="169863" indent="-169863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endParaRPr lang="en-US" sz="1400" b="1" dirty="0">
              <a:solidFill>
                <a:srgbClr val="000000"/>
              </a:solidFill>
            </a:endParaRP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000000"/>
              </a:solidFill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4855BE97-77D7-4D00-9761-F371C2A243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8864" y="3249227"/>
            <a:ext cx="4747759" cy="70788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R1(config)# </a:t>
            </a:r>
            <a:r>
              <a:rPr kumimoji="0" lang="pt-BR" sz="10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interface gigabitEthernet 0/0/0</a:t>
            </a: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R1(config-if)#</a:t>
            </a:r>
            <a:r>
              <a:rPr kumimoji="0" lang="pt-BR" sz="10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ipv6 address 2001:db8:acad:1::1/64</a:t>
            </a: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R1(config-if)# </a:t>
            </a:r>
            <a:r>
              <a:rPr kumimoji="0" lang="pt-BR" sz="10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no shutdown</a:t>
            </a: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R1(config-if)# </a:t>
            </a:r>
            <a:r>
              <a:rPr kumimoji="0" lang="pt-BR" sz="10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exit</a:t>
            </a: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20190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15="http://schemas.microsoft.com/office/drawing/2012/chart" xmlns:c="http://schemas.openxmlformats.org/drawingml/2006/chart"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br>
              <a:rPr lang="en-US" dirty="0"/>
            </a:br>
            <a:r>
              <a:rPr lang="pt-BR" sz="2400"/>
              <a:t>Configuração estática da GUA e do LLA </a:t>
            </a:r>
            <a:r>
              <a:rPr lang="pt-BR" sz="1600"/>
              <a:t>Configuração estática da GUA em um host do Windows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003F5F5-7654-47FE-8245-0FE364DE3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1035051"/>
            <a:ext cx="3474375" cy="2256790"/>
          </a:xfrm>
        </p:spPr>
        <p:txBody>
          <a:bodyPr/>
          <a:lstStyle/>
          <a:p>
            <a:pPr marL="285750" indent="-28575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Configurar manualmente o endereço IPv6 em um host é semelhante a configurar um endereço IPv4.</a:t>
            </a:r>
          </a:p>
          <a:p>
            <a:pPr marL="285750" indent="-28575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O GUA ou LLA da interface do roteador podem ser usados como gateway padrão. A melhor prática é usar o LLA.</a:t>
            </a:r>
          </a:p>
          <a:p>
            <a:pPr marL="169863" indent="-169863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000000"/>
              </a:solidFill>
            </a:endParaRPr>
          </a:p>
          <a:p>
            <a:pPr marL="169863" indent="-169863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endParaRPr lang="en-US" sz="1400" b="1" dirty="0">
              <a:solidFill>
                <a:srgbClr val="000000"/>
              </a:solidFill>
            </a:endParaRP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00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528590-4F2F-4C75-AAF1-01FE9ADDA800}"/>
              </a:ext>
            </a:extLst>
          </p:cNvPr>
          <p:cNvSpPr txBox="1"/>
          <p:nvPr/>
        </p:nvSpPr>
        <p:spPr>
          <a:xfrm>
            <a:off x="431799" y="3595055"/>
            <a:ext cx="347437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pt-BR" sz="1400" b="1">
                <a:solidFill>
                  <a:srgbClr val="000000"/>
                </a:solidFill>
              </a:rPr>
              <a:t>Nota</a:t>
            </a:r>
            <a:r>
              <a:rPr lang="pt-BR" sz="1400">
                <a:solidFill>
                  <a:srgbClr val="000000"/>
                </a:solidFill>
              </a:rPr>
              <a:t>: Quando DHCPv6 ou SLAAC é usado, o LLA do roteador será especificado automaticamente como o endereço de gateway padrão.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CFFDA62-B00A-4541-A999-09D57E5363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2172" y="922607"/>
            <a:ext cx="4151513" cy="3501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041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15="http://schemas.microsoft.com/office/drawing/2012/chart" xmlns:c="http://schemas.openxmlformats.org/drawingml/2006/chart"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Configuração estática de GUA e LLA </a:t>
            </a:r>
            <a:br>
              <a:rPr lang="en-US" dirty="0"/>
            </a:br>
            <a:r>
              <a:rPr lang="pt-BR" sz="2400"/>
              <a:t>Configuração de GUA estática de um endereço Unicast local de link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003F5F5-7654-47FE-8245-0FE364DE3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1035051"/>
            <a:ext cx="7753412" cy="1841314"/>
          </a:xfrm>
        </p:spPr>
        <p:txBody>
          <a:bodyPr/>
          <a:lstStyle/>
          <a:p>
            <a:pPr marL="0" indent="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pt-BR" sz="1600">
                <a:solidFill>
                  <a:srgbClr val="000000"/>
                </a:solidFill>
              </a:rPr>
              <a:t>A configuração manual do LLA permite criar um endereço reconhecível e fácil de lembrar. </a:t>
            </a:r>
          </a:p>
          <a:p>
            <a:pPr marL="285750" indent="-28575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Os LLAS podem ser configurados manualmente usando o comando </a:t>
            </a:r>
            <a:r>
              <a:rPr lang="pt-BR" sz="1600" b="1">
                <a:solidFill>
                  <a:srgbClr val="000000"/>
                </a:solidFill>
              </a:rPr>
              <a:t>ipv6 address</a:t>
            </a:r>
            <a:r>
              <a:rPr lang="pt-BR" sz="1600">
                <a:solidFill>
                  <a:srgbClr val="000000"/>
                </a:solidFill>
              </a:rPr>
              <a:t> </a:t>
            </a:r>
            <a:r>
              <a:rPr lang="pt-BR" sz="1600" i="1">
                <a:solidFill>
                  <a:srgbClr val="000000"/>
                </a:solidFill>
              </a:rPr>
              <a:t>ipv6-link-local-address</a:t>
            </a:r>
            <a:r>
              <a:rPr lang="pt-BR" sz="1600">
                <a:solidFill>
                  <a:srgbClr val="000000"/>
                </a:solidFill>
              </a:rPr>
              <a:t> </a:t>
            </a:r>
            <a:r>
              <a:rPr lang="pt-BR" sz="1600" b="1">
                <a:solidFill>
                  <a:srgbClr val="000000"/>
                </a:solidFill>
              </a:rPr>
              <a:t>link-local</a:t>
            </a:r>
            <a:r>
              <a:rPr lang="pt-BR" sz="1600">
                <a:solidFill>
                  <a:srgbClr val="000000"/>
                </a:solidFill>
              </a:rPr>
              <a:t> .</a:t>
            </a:r>
          </a:p>
          <a:p>
            <a:pPr marL="285750" indent="-28575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O exemplo mostra comandos para configurar um LLA na interface G0/0/0 em R1</a:t>
            </a: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000000"/>
              </a:solidFill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2B5222D8-7C54-4682-A886-0C1FFB40FC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4500" y="2876365"/>
            <a:ext cx="4747759" cy="70788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R1(config)# </a:t>
            </a:r>
            <a:r>
              <a:rPr kumimoji="0" lang="pt-BR" sz="10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interface gigabitEthernet 0/0/0</a:t>
            </a: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R1 (config-if) # </a:t>
            </a:r>
            <a:r>
              <a:rPr kumimoji="0" lang="pt-BR" sz="10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ipv6 endereço fe80:: 1:1 link-local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R1(config-if)# </a:t>
            </a:r>
            <a:r>
              <a:rPr kumimoji="0" lang="pt-BR" sz="10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no shutdown</a:t>
            </a: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R1(config-if)# </a:t>
            </a:r>
            <a:r>
              <a:rPr kumimoji="0" lang="pt-BR" sz="10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exit</a:t>
            </a: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D60E2F-2940-40F7-A61E-96AFF1D091E3}"/>
              </a:ext>
            </a:extLst>
          </p:cNvPr>
          <p:cNvSpPr txBox="1"/>
          <p:nvPr/>
        </p:nvSpPr>
        <p:spPr>
          <a:xfrm>
            <a:off x="794790" y="3838049"/>
            <a:ext cx="675590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pt-BR" sz="1400" b="1">
                <a:solidFill>
                  <a:srgbClr val="000000"/>
                </a:solidFill>
              </a:rPr>
              <a:t>Observação</a:t>
            </a:r>
            <a:r>
              <a:rPr lang="pt-BR" sz="1400">
                <a:solidFill>
                  <a:srgbClr val="000000"/>
                </a:solidFill>
              </a:rPr>
              <a:t>: O mesmo LLA pode ser configurado em cada link, desde que seja exclusivo nesse link. A prática comum é criar um LLA diferente em cada interface do roteador para facilitar a identificação do roteador e da interface específica. </a:t>
            </a:r>
          </a:p>
        </p:txBody>
      </p:sp>
    </p:spTree>
    <p:extLst>
      <p:ext uri="{BB962C8B-B14F-4D97-AF65-F5344CB8AC3E}">
        <p14:creationId xmlns:p14="http://schemas.microsoft.com/office/powerpoint/2010/main" val="626028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15="http://schemas.microsoft.com/office/drawing/2012/chart" xmlns:c="http://schemas.openxmlformats.org/drawingml/2006/chart"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47520"/>
            <a:ext cx="8280314" cy="97028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12.5 Endereçamento dinâmico para GUAs IPv6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78077811"/>
      </p:ext>
    </p:extLst>
  </p:cSld>
  <p:clrMapOvr>
    <a:masterClrMapping/>
  </p:clrMapOvr>
  <p:transition spd="slow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Endereçamento dinâmico para</a:t>
            </a:r>
            <a:r>
              <a:rPr lang="pt-BR" sz="2400"/>
              <a:t>mensagens IPv6 GUASRS e RA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003F5F5-7654-47FE-8245-0FE364DE3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731837"/>
            <a:ext cx="8135151" cy="3561030"/>
          </a:xfrm>
        </p:spPr>
        <p:txBody>
          <a:bodyPr/>
          <a:lstStyle/>
          <a:p>
            <a:pPr marL="0" indent="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pt-BR" sz="1600">
                <a:solidFill>
                  <a:srgbClr val="000000"/>
                </a:solidFill>
              </a:rPr>
              <a:t>Os dispositivos obtêm endereços GUA dinamicamente através de mensagens ICMPv6 (Internet Control Message Protocol versão 6).</a:t>
            </a:r>
          </a:p>
          <a:p>
            <a:pPr lvl="1" rtl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90000"/>
            </a:pPr>
            <a:r>
              <a:rPr lang="pt-BR" sz="1600">
                <a:solidFill>
                  <a:srgbClr val="000000"/>
                </a:solidFill>
              </a:rPr>
              <a:t>As mensagens de solicitação de roteador (RS) são enviadas por dispositivos host para descobrir roteadores IPv6</a:t>
            </a:r>
          </a:p>
          <a:p>
            <a:pPr lvl="1" rtl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90000"/>
            </a:pPr>
            <a:r>
              <a:rPr lang="pt-BR" sz="1600">
                <a:solidFill>
                  <a:srgbClr val="000000"/>
                </a:solidFill>
              </a:rPr>
              <a:t>As mensagens de anúncio de roteador (RA) são enviadas por roteadores para informar os hosts sobre como obter um GUA IPv6 e fornecer informações úteis de rede, como:</a:t>
            </a:r>
          </a:p>
          <a:p>
            <a:pPr lvl="2" rtl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90000"/>
            </a:pPr>
            <a:r>
              <a:rPr lang="pt-BR" sz="1600">
                <a:solidFill>
                  <a:srgbClr val="000000"/>
                </a:solidFill>
              </a:rPr>
              <a:t>Prefixo de rede e comprimento do prefixo</a:t>
            </a:r>
          </a:p>
          <a:p>
            <a:pPr lvl="2" rtl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90000"/>
            </a:pPr>
            <a:r>
              <a:rPr lang="pt-BR" sz="1600">
                <a:solidFill>
                  <a:srgbClr val="000000"/>
                </a:solidFill>
              </a:rPr>
              <a:t>Endereço de gateway padrão</a:t>
            </a:r>
          </a:p>
          <a:p>
            <a:pPr lvl="2" rtl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90000"/>
            </a:pPr>
            <a:r>
              <a:rPr lang="pt-BR" sz="1600">
                <a:solidFill>
                  <a:srgbClr val="000000"/>
                </a:solidFill>
              </a:rPr>
              <a:t>Endereços DNS e nome de domínio</a:t>
            </a:r>
          </a:p>
          <a:p>
            <a:pPr lvl="1" rtl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90000"/>
            </a:pPr>
            <a:r>
              <a:rPr lang="pt-BR" sz="1600">
                <a:solidFill>
                  <a:srgbClr val="000000"/>
                </a:solidFill>
              </a:rPr>
              <a:t>O RA pode fornecer três métodos para configurar um GUA IPv6:</a:t>
            </a:r>
          </a:p>
          <a:p>
            <a:pPr lvl="2" rtl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90000"/>
            </a:pPr>
            <a:r>
              <a:rPr lang="pt-BR" sz="1600">
                <a:solidFill>
                  <a:srgbClr val="000000"/>
                </a:solidFill>
              </a:rPr>
              <a:t>SLAAC</a:t>
            </a:r>
          </a:p>
          <a:p>
            <a:pPr lvl="2" rtl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90000"/>
            </a:pPr>
            <a:r>
              <a:rPr lang="pt-BR" sz="1600">
                <a:solidFill>
                  <a:srgbClr val="000000"/>
                </a:solidFill>
              </a:rPr>
              <a:t>SLAAC com servidor DHCPv6 stateless</a:t>
            </a:r>
          </a:p>
          <a:p>
            <a:pPr lvl="2" rtl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90000"/>
            </a:pPr>
            <a:r>
              <a:rPr lang="pt-BR" sz="1600">
                <a:solidFill>
                  <a:srgbClr val="000000"/>
                </a:solidFill>
              </a:rPr>
              <a:t>DHCPv6 stateful (sem SLAAC)</a:t>
            </a:r>
          </a:p>
          <a:p>
            <a:pPr lvl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90000"/>
            </a:pPr>
            <a:endParaRPr lang="en-US" dirty="0">
              <a:solidFill>
                <a:srgbClr val="000000"/>
              </a:solidFill>
            </a:endParaRPr>
          </a:p>
          <a:p>
            <a:pPr marL="169863" indent="-169863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endParaRPr lang="en-US" sz="1400" b="1" dirty="0">
              <a:solidFill>
                <a:srgbClr val="000000"/>
              </a:solidFill>
            </a:endParaRP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4770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15="http://schemas.microsoft.com/office/drawing/2012/chart" xmlns:c="http://schemas.openxmlformats.org/drawingml/2006/chart"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Endereçamento dinâmico para GUAS IPv6</a:t>
            </a:r>
            <a:br>
              <a:rPr lang="en-US" dirty="0"/>
            </a:br>
            <a:r>
              <a:rPr lang="pt-BR" sz="2400"/>
              <a:t>Método 1: SLAAC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003F5F5-7654-47FE-8245-0FE364DE3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1035051"/>
            <a:ext cx="8135151" cy="1654884"/>
          </a:xfrm>
        </p:spPr>
        <p:txBody>
          <a:bodyPr/>
          <a:lstStyle/>
          <a:p>
            <a:pPr marL="169863" indent="-169863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O SLAAC permite que um dispositivo configure um GUA sem os serviços do DHCPv6. </a:t>
            </a:r>
          </a:p>
          <a:p>
            <a:pPr marL="169863" indent="-169863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Os dispositivos obtêm as informações necessárias para configurar um GUA a partir das mensagens de RA ICMPv6 do roteador local.</a:t>
            </a:r>
          </a:p>
          <a:p>
            <a:pPr marL="169863" indent="-169863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O prefixo é fornecido pelo RA e o dispositivo usa o EUI-64 ou método de geração aleatória para criar um ID de interface.</a:t>
            </a:r>
          </a:p>
          <a:p>
            <a:pPr marL="169863" indent="-169863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endParaRPr lang="en-US" sz="1400" b="1" dirty="0">
              <a:solidFill>
                <a:srgbClr val="000000"/>
              </a:solidFill>
            </a:endParaRP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0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5A69E3-A7F8-4358-A22F-56AA5CCA34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0124" y="2849792"/>
            <a:ext cx="5061211" cy="1716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488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15="http://schemas.microsoft.com/office/drawing/2012/chart" xmlns:c="http://schemas.openxmlformats.org/drawingml/2006/chart"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Endereçamento dinâmico para IPv6 GUAs</a:t>
            </a:r>
            <a:br>
              <a:rPr lang="en-US" dirty="0"/>
            </a:br>
            <a:r>
              <a:rPr lang="pt-BR" sz="2400"/>
              <a:t>Método 2: SLAAC e DHCP sem estado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003F5F5-7654-47FE-8245-0FE364DE3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1035051"/>
            <a:ext cx="8135151" cy="2403472"/>
          </a:xfrm>
        </p:spPr>
        <p:txBody>
          <a:bodyPr/>
          <a:lstStyle/>
          <a:p>
            <a:pPr marL="0" indent="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pt-BR" sz="1600">
                <a:solidFill>
                  <a:srgbClr val="000000"/>
                </a:solidFill>
              </a:rPr>
              <a:t>Um RA pode instruir um dispositivo a usar o SLAAC e o DHCPv6 sem estado. </a:t>
            </a:r>
          </a:p>
          <a:p>
            <a:pPr marL="0" indent="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pt-BR" sz="1600">
                <a:solidFill>
                  <a:srgbClr val="000000"/>
                </a:solidFill>
              </a:rPr>
              <a:t>A mensagem RA sugere que os dispositivos usam o seguinte:</a:t>
            </a:r>
          </a:p>
          <a:p>
            <a:pPr marL="315973" lvl="2" rtl="0">
              <a:spcAft>
                <a:spcPts val="600"/>
              </a:spcAft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SLAAC para criar seu próprio IPv6 GUA</a:t>
            </a:r>
          </a:p>
          <a:p>
            <a:pPr marL="315973" lvl="2" rtl="0">
              <a:spcAft>
                <a:spcPts val="600"/>
              </a:spcAft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O LLA do roteador, que é o endereço IPv6 de origem RA, como o endereço de gateway padrão</a:t>
            </a:r>
          </a:p>
          <a:p>
            <a:pPr marL="315973" lvl="2" rtl="0">
              <a:spcAft>
                <a:spcPts val="600"/>
              </a:spcAft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Um servidor DHCPv6 stateless para obter outras informações como o endereço de um servidor DNS e um nome de domínio.</a:t>
            </a:r>
          </a:p>
          <a:p>
            <a:pPr marL="242948" lvl="1" indent="-169863">
              <a:spcAft>
                <a:spcPts val="600"/>
              </a:spcAft>
              <a:buSzPct val="90000"/>
              <a:buFont typeface="Arial" panose="020B0604020202020204" pitchFamily="34" charset="0"/>
              <a:buChar char="•"/>
            </a:pPr>
            <a:endParaRPr lang="en-US" sz="800" b="1" dirty="0">
              <a:solidFill>
                <a:srgbClr val="000000"/>
              </a:solidFill>
            </a:endParaRP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00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9473035-7613-4908-A09B-92FC6C06B3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6068" y="3438523"/>
            <a:ext cx="3613209" cy="1560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294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15="http://schemas.microsoft.com/office/drawing/2012/chart" xmlns:c="http://schemas.openxmlformats.org/drawingml/2006/chart"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Endereçamento dinâmico para GUAs IPv6</a:t>
            </a:r>
            <a:br>
              <a:rPr lang="en-US" dirty="0"/>
            </a:br>
            <a:r>
              <a:rPr lang="pt-BR" sz="2400"/>
              <a:t>Método 3: DHCPv6 com estado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003F5F5-7654-47FE-8245-0FE364DE3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333" y="620784"/>
            <a:ext cx="8135151" cy="2630416"/>
          </a:xfrm>
        </p:spPr>
        <p:txBody>
          <a:bodyPr/>
          <a:lstStyle/>
          <a:p>
            <a:pPr marL="0" indent="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pt-BR" sz="1600">
                <a:solidFill>
                  <a:srgbClr val="000000"/>
                </a:solidFill>
              </a:rPr>
              <a:t>Um RA pode instruir um dispositivo a usar apenas DHCPv6 com estado.</a:t>
            </a:r>
          </a:p>
          <a:p>
            <a:pPr marL="0" indent="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pt-BR" sz="1600">
                <a:solidFill>
                  <a:srgbClr val="000000"/>
                </a:solidFill>
              </a:rPr>
              <a:t>O DHCPv6 stateful é semelhante ao DHCP para IPv4. Um dispositivo pode receber automaticamente um GUA, comprimento de prefixo e os endereços de servidores DNS de um servidor DHCPv6 com estado.</a:t>
            </a:r>
          </a:p>
          <a:p>
            <a:pPr marL="0" indent="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pt-BR" sz="1600">
                <a:solidFill>
                  <a:srgbClr val="000000"/>
                </a:solidFill>
              </a:rPr>
              <a:t>A mensagem RA sugere que os dispositivos usam o seguinte:</a:t>
            </a:r>
          </a:p>
          <a:p>
            <a:pPr marL="315973" lvl="2" rtl="0">
              <a:spcAft>
                <a:spcPts val="600"/>
              </a:spcAft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O LLA do roteador, que é o endereço IPv6 de origem RA, como o endereço de gateway padrão</a:t>
            </a:r>
          </a:p>
          <a:p>
            <a:pPr marL="315973" lvl="2" rtl="0">
              <a:spcAft>
                <a:spcPts val="600"/>
              </a:spcAft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Um servidor DHCPv6 stateful para obter o endereço unicast global, o endereço do servidor DNS, o nome do domínio e todas as demais informações.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30BE2A-E711-4139-BAE5-9E0C419868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135" y="3404657"/>
            <a:ext cx="3613209" cy="1560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379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15="http://schemas.microsoft.com/office/drawing/2012/chart" xmlns:c="http://schemas.openxmlformats.org/drawingml/2006/chart"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Endereçamento dinâmico para IPv6 GUAS</a:t>
            </a:r>
            <a:br>
              <a:rPr lang="en-US" dirty="0"/>
            </a:br>
            <a:r>
              <a:rPr lang="pt-BR" sz="2400"/>
              <a:t>EUI-64 processo vs. gerado aleatoriamente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003F5F5-7654-47FE-8245-0FE364DE3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1035050"/>
            <a:ext cx="3465497" cy="3332764"/>
          </a:xfrm>
        </p:spPr>
        <p:txBody>
          <a:bodyPr/>
          <a:lstStyle/>
          <a:p>
            <a:pPr marL="285750" indent="-28575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Quando a mensagem de RA é SLAAC ou SLAAC com DHCPv6 stateless, o cliente deve gerar sua própria ID da interface.</a:t>
            </a:r>
          </a:p>
          <a:p>
            <a:pPr marL="285750" indent="-28575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A ID da interface pode ser criada por meio do processo EUI-64 ou de um número de 64 bits gerado aleatoriamente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E493C9A-465A-442D-B022-1193868DEE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1383" y="950785"/>
            <a:ext cx="4429956" cy="3417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681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15="http://schemas.microsoft.com/office/drawing/2012/chart" xmlns:c="http://schemas.openxmlformats.org/drawingml/2006/chart"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Endereçamento dinâmico para IPv6 GUAS</a:t>
            </a:r>
            <a:br>
              <a:rPr lang="en-US" dirty="0"/>
            </a:br>
            <a:r>
              <a:rPr lang="pt-BR" sz="2400"/>
              <a:t>EUI-64 processo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003F5F5-7654-47FE-8245-0FE364DE3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1" y="1035050"/>
            <a:ext cx="7913688" cy="2012950"/>
          </a:xfrm>
        </p:spPr>
        <p:txBody>
          <a:bodyPr/>
          <a:lstStyle/>
          <a:p>
            <a:pPr marL="0" indent="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pt-BR" sz="1600">
                <a:solidFill>
                  <a:srgbClr val="000000"/>
                </a:solidFill>
              </a:rPr>
              <a:t>O IEEE definiu o processo de identificador exclusivo estendido (EUI) ou EUI-64 modificado, que executa o seguinte:</a:t>
            </a:r>
          </a:p>
          <a:p>
            <a:pPr marL="285750" indent="-28575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Um valor de 16 bits de fffe (em hexadecimal) é inserido no meio do endereço MAC Ethernet de 48 bits do cliente.</a:t>
            </a:r>
          </a:p>
          <a:p>
            <a:pPr marL="285750" indent="-28575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O 7</a:t>
            </a:r>
            <a:r>
              <a:rPr lang="pt-BR" sz="1600" baseline="30000">
                <a:solidFill>
                  <a:srgbClr val="000000"/>
                </a:solidFill>
              </a:rPr>
              <a:t>º</a:t>
            </a:r>
            <a:r>
              <a:rPr lang="pt-BR" sz="1600">
                <a:solidFill>
                  <a:srgbClr val="000000"/>
                </a:solidFill>
              </a:rPr>
              <a:t> bit do endereço MAC do cliente é revertido do binário 0 para 1.</a:t>
            </a:r>
          </a:p>
          <a:p>
            <a:pPr marL="285750" indent="-28575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Exemplo:</a:t>
            </a:r>
          </a:p>
          <a:p>
            <a:pPr marL="0" indent="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endParaRPr lang="en-US" sz="1600" dirty="0">
              <a:solidFill>
                <a:srgbClr val="000000"/>
              </a:solidFill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AAD66462-6C30-4680-B48A-2A6E24F7168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96222963"/>
              </p:ext>
            </p:extLst>
          </p:nvPr>
        </p:nvGraphicFramePr>
        <p:xfrm>
          <a:off x="798511" y="3180385"/>
          <a:ext cx="3198941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2083">
                  <a:extLst>
                    <a:ext uri="{9D8B030D-6E8A-4147-A177-3AD203B41FA5}">
                      <a16:colId xmlns:a16="http://schemas.microsoft.com/office/drawing/2014/main" val="3729139006"/>
                    </a:ext>
                  </a:extLst>
                </a:gridCol>
                <a:gridCol w="1606858">
                  <a:extLst>
                    <a:ext uri="{9D8B030D-6E8A-4147-A177-3AD203B41FA5}">
                      <a16:colId xmlns:a16="http://schemas.microsoft.com/office/drawing/2014/main" val="19889134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/>
                      <a:r>
                        <a:rPr lang="pt-BR" sz="1100" b="0">
                          <a:solidFill>
                            <a:srgbClr val="000000"/>
                          </a:solidFill>
                        </a:rPr>
                        <a:t>MAC de 48 bits</a:t>
                      </a:r>
                    </a:p>
                  </a:txBody>
                  <a:tcPr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1100" b="0">
                          <a:solidFill>
                            <a:srgbClr val="000000"/>
                          </a:solidFill>
                        </a:rPr>
                        <a:t>fc: 99:47:75:ce:e0</a:t>
                      </a:r>
                    </a:p>
                  </a:txBody>
                  <a:tcPr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9654457"/>
                  </a:ext>
                </a:extLst>
              </a:tr>
              <a:tr h="170900"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>
                          <a:solidFill>
                            <a:srgbClr val="000000"/>
                          </a:solidFill>
                        </a:rPr>
                        <a:t>ID da interface EUI-64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1100">
                          <a:solidFill>
                            <a:srgbClr val="000000"/>
                          </a:solidFill>
                        </a:rPr>
                        <a:t>f</a:t>
                      </a:r>
                      <a:r>
                        <a:rPr lang="pt-BR" sz="1100">
                          <a:solidFill>
                            <a:srgbClr val="FF0000"/>
                          </a:solidFill>
                        </a:rPr>
                        <a:t>e</a:t>
                      </a:r>
                      <a:r>
                        <a:rPr lang="pt-BR" sz="1100">
                          <a:solidFill>
                            <a:srgbClr val="000000"/>
                          </a:solidFill>
                        </a:rPr>
                        <a:t>: 99:47:</a:t>
                      </a:r>
                      <a:r>
                        <a:rPr lang="pt-BR" sz="1100">
                          <a:solidFill>
                            <a:srgbClr val="FF0000"/>
                          </a:solidFill>
                        </a:rPr>
                        <a:t>ff:fe:75:ce:e0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7351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5718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15="http://schemas.microsoft.com/office/drawing/2012/chart" xmlns:c="http://schemas.openxmlformats.org/drawingml/2006/chart"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Endereçamento dinâmico para GUAs IPv6</a:t>
            </a:r>
            <a:r>
              <a:rPr lang="pt-BR" sz="2400"/>
              <a:t>geradosaleatoriamente IDs de interface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003F5F5-7654-47FE-8245-0FE364DE3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731837"/>
            <a:ext cx="7913688" cy="1141849"/>
          </a:xfrm>
        </p:spPr>
        <p:txBody>
          <a:bodyPr/>
          <a:lstStyle/>
          <a:p>
            <a:pPr marL="0" indent="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pt-BR" sz="1600">
                <a:solidFill>
                  <a:srgbClr val="000000"/>
                </a:solidFill>
              </a:rPr>
              <a:t>Dependendo do sistema operacional, um dispositivo pode usar uma ID da interface gerada de forma aleatória em vez de usar o endereço MAC e o processo EUI-64.</a:t>
            </a:r>
          </a:p>
          <a:p>
            <a:pPr marL="0" indent="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pt-BR" sz="1600">
                <a:solidFill>
                  <a:srgbClr val="000000"/>
                </a:solidFill>
              </a:rPr>
              <a:t>Por exemplo, do Windows Vista em diante, o Windows usa uma ID da interface gerada de forma aleatória em vez de uma criada com o EUI-64.</a:t>
            </a:r>
          </a:p>
          <a:p>
            <a:pPr marL="0" indent="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198DBB-B1C5-4711-B1B9-13D7E8D0E3A0}"/>
              </a:ext>
            </a:extLst>
          </p:cNvPr>
          <p:cNvSpPr txBox="1"/>
          <p:nvPr/>
        </p:nvSpPr>
        <p:spPr>
          <a:xfrm>
            <a:off x="1948293" y="58842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8E99E91-0264-4741-9661-10088E9F09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0422" y="2086947"/>
            <a:ext cx="5724644" cy="1323439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C:\&gt; </a:t>
            </a:r>
            <a:r>
              <a:rPr kumimoji="0" lang="pt-BR" sz="10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ipconfig</a:t>
            </a: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Windows IP Configuration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Adaptador Ethernet Conexão de Área Local: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Connection-specific DNS Suffix .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IPv6 Address. . . . . . . . . . . : </a:t>
            </a:r>
            <a:r>
              <a:rPr kumimoji="0" lang="pt-BR" sz="10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2001:db8:acad: 1:50 um 5:8 a35:a5bb:66e1</a:t>
            </a: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Link-local IPv6 Address . . . . .: fe80: :50a 5:8 a35:a5bb:66e1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Gateway Padrão . . . . . . . . . : fe80::1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C:\ &gt;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58CD9D-A7A3-4436-AF67-F3D2FAC9DD8C}"/>
              </a:ext>
            </a:extLst>
          </p:cNvPr>
          <p:cNvSpPr txBox="1"/>
          <p:nvPr/>
        </p:nvSpPr>
        <p:spPr>
          <a:xfrm>
            <a:off x="524934" y="3623647"/>
            <a:ext cx="79136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pt-BR" sz="1600"/>
              <a:t>Observação: para garantir a exclusividade de qualquer endereço IPv6 unicast, o cliente pode usar um processo conhecido como detecção de endereço duplicado (DAD). Isso equivale a uma solicitação ARP para seu próprio endereço. Se não houver resposta, significa que o endereço é exclusivo.</a:t>
            </a:r>
          </a:p>
        </p:txBody>
      </p:sp>
    </p:spTree>
    <p:extLst>
      <p:ext uri="{BB962C8B-B14F-4D97-AF65-F5344CB8AC3E}">
        <p14:creationId xmlns:p14="http://schemas.microsoft.com/office/powerpoint/2010/main" val="3963689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15="http://schemas.microsoft.com/office/drawing/2012/chart" xmlns:c="http://schemas.openxmlformats.org/drawingml/2006/chart"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47520"/>
            <a:ext cx="8280314" cy="97028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12.6 Endereçamento dinâmico para LLAs IPv6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45935831"/>
      </p:ext>
    </p:extLst>
  </p:cSld>
  <p:clrMapOvr>
    <a:masterClrMapping/>
  </p:clrMapOvr>
  <p:transition spd="slow">
    <p:wip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Endereçamento dinâmico para LLAs</a:t>
            </a:r>
            <a:br>
              <a:rPr lang="en-US" dirty="0"/>
            </a:br>
            <a:r>
              <a:rPr lang="pt-BR" sz="2400"/>
              <a:t>dinâmicos IPv6 LLAs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003F5F5-7654-47FE-8245-0FE364DE3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1" y="1035050"/>
            <a:ext cx="7913688" cy="1536700"/>
          </a:xfrm>
        </p:spPr>
        <p:txBody>
          <a:bodyPr/>
          <a:lstStyle/>
          <a:p>
            <a:pPr marL="285750" indent="-28575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Todas as interfaces IPv6 devem ter um IPv6 LLA.</a:t>
            </a:r>
          </a:p>
          <a:p>
            <a:pPr marL="285750" indent="-28575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Como GUAs IPv6, os LLAs podem ser configurados dinamicamente.</a:t>
            </a:r>
          </a:p>
          <a:p>
            <a:pPr marL="285750" indent="-28575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A Figura 1 mostra que o endereço de link local é criado dinamicamente com o prefixo FE80::/10 e que a ID da interface é criada por meio do processo EUI-64 ou por um número de 64 bits gerado aleatoriamente.</a:t>
            </a:r>
          </a:p>
          <a:p>
            <a:pPr marL="0" indent="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E663BE-9DCB-44E6-9EF5-385C2DF615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588" y="2718457"/>
            <a:ext cx="6212312" cy="1776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72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15="http://schemas.microsoft.com/office/drawing/2012/chart" xmlns:c="http://schemas.openxmlformats.org/drawingml/2006/chart"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Endereçamento dinâmico para LLAs</a:t>
            </a:r>
            <a:br>
              <a:rPr lang="en-US" dirty="0"/>
            </a:br>
            <a:r>
              <a:rPr lang="pt-BR" sz="2400"/>
              <a:t>dinâmicos IPv6 LLAs no Windows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003F5F5-7654-47FE-8245-0FE364DE3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854198"/>
            <a:ext cx="7913688" cy="570410"/>
          </a:xfrm>
        </p:spPr>
        <p:txBody>
          <a:bodyPr/>
          <a:lstStyle/>
          <a:p>
            <a:pPr marL="0" indent="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pt-BR" sz="1600">
                <a:solidFill>
                  <a:srgbClr val="000000"/>
                </a:solidFill>
              </a:rPr>
              <a:t>Sistemas operacionais, como o Windows, normalmente usarão o mesmo método para um GUA criado pelo SLAAC e um LLA atribuído dinamicamente.</a:t>
            </a:r>
          </a:p>
          <a:p>
            <a:pPr marL="0" indent="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endParaRPr lang="en-US" sz="1800" dirty="0">
              <a:solidFill>
                <a:srgbClr val="000000"/>
              </a:solidFill>
            </a:endParaRPr>
          </a:p>
          <a:p>
            <a:pPr marL="0" indent="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endParaRPr lang="en-US" sz="1800" dirty="0"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198DBB-B1C5-4711-B1B9-13D7E8D0E3A0}"/>
              </a:ext>
            </a:extLst>
          </p:cNvPr>
          <p:cNvSpPr txBox="1"/>
          <p:nvPr/>
        </p:nvSpPr>
        <p:spPr>
          <a:xfrm>
            <a:off x="1948293" y="58842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C4AD4F-4BAF-4EB5-8715-B490FBDACAF0}"/>
              </a:ext>
            </a:extLst>
          </p:cNvPr>
          <p:cNvSpPr txBox="1"/>
          <p:nvPr/>
        </p:nvSpPr>
        <p:spPr>
          <a:xfrm>
            <a:off x="709731" y="1424608"/>
            <a:ext cx="23968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pt-BR" sz="1200" b="1">
                <a:solidFill>
                  <a:srgbClr val="000000"/>
                </a:solidFill>
              </a:rPr>
              <a:t>ID da interface gerada com EUI-64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7C10CD7-64FE-452E-A9FF-E0D054AA0D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6658" y="1714714"/>
            <a:ext cx="5878531" cy="1323439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rtl="0" eaLnBrk="0" hangingPunct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C:\&gt; ipconfig</a:t>
            </a:r>
          </a:p>
          <a:p>
            <a:pPr lvl="0" defTabSz="914400" rtl="0" eaLnBrk="0" hangingPunct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Windows IP Configuration</a:t>
            </a:r>
          </a:p>
          <a:p>
            <a:pPr lvl="0" defTabSz="914400" rtl="0" eaLnBrk="0" hangingPunct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Adaptador Ethernet Conexão de Área Local:</a:t>
            </a:r>
          </a:p>
          <a:p>
            <a:pPr lvl="0" defTabSz="914400" rtl="0" eaLnBrk="0" hangingPunct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Connection-specific DNS Suffix . :</a:t>
            </a:r>
          </a:p>
          <a:p>
            <a:pPr lvl="0" defTabSz="914400" rtl="0" eaLnBrk="0" hangingPunct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IPv6 Address. . . . . . . . . . . : 2001:db8:acad:1:</a:t>
            </a:r>
            <a:r>
              <a:rPr lang="pt-BR" sz="100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fc 99:47</a:t>
            </a:r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ff:fe</a:t>
            </a:r>
            <a:r>
              <a:rPr lang="pt-BR" sz="100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75:cee0</a:t>
            </a:r>
          </a:p>
          <a:p>
            <a:pPr lvl="0" defTabSz="914400" rtl="0" eaLnBrk="0" hangingPunct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Link-local IPv6 Address . . . . .: fe80::</a:t>
            </a:r>
            <a:r>
              <a:rPr lang="pt-BR" sz="100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fc 99:47</a:t>
            </a:r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ff:fe</a:t>
            </a:r>
            <a:r>
              <a:rPr lang="pt-BR" sz="100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75:cee0</a:t>
            </a:r>
          </a:p>
          <a:p>
            <a:pPr lvl="0" defTabSz="914400" rtl="0" eaLnBrk="0" hangingPunct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Gateway Padrão . . . . . . . . . : fe80::1</a:t>
            </a:r>
          </a:p>
          <a:p>
            <a:pPr lvl="0" defTabSz="914400" rtl="0" eaLnBrk="0" hangingPunct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C:\ &gt;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EA36AD-E5C7-4064-B7CB-7A9689FEF970}"/>
              </a:ext>
            </a:extLst>
          </p:cNvPr>
          <p:cNvSpPr txBox="1"/>
          <p:nvPr/>
        </p:nvSpPr>
        <p:spPr>
          <a:xfrm>
            <a:off x="753473" y="3102431"/>
            <a:ext cx="29883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pt-BR" sz="1200" b="1">
                <a:solidFill>
                  <a:srgbClr val="000000"/>
                </a:solidFill>
              </a:rPr>
              <a:t>ID da interface gerada aleatoriamente com 64 bits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A1D3F26D-DE37-49E2-BA8B-7ACBF74D38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6657" y="3379430"/>
            <a:ext cx="5878532" cy="1323439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rtl="0" eaLnBrk="0" hangingPunct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C:\&gt; ipconfig</a:t>
            </a:r>
          </a:p>
          <a:p>
            <a:pPr lvl="0" defTabSz="914400" rtl="0" eaLnBrk="0" hangingPunct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Windows IP Configuration</a:t>
            </a:r>
          </a:p>
          <a:p>
            <a:pPr lvl="0" defTabSz="914400" rtl="0" eaLnBrk="0" hangingPunct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Adaptador Ethernet Conexão de Área Local:</a:t>
            </a:r>
          </a:p>
          <a:p>
            <a:pPr lvl="0" defTabSz="914400" rtl="0" eaLnBrk="0" hangingPunct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Connection-specific DNS Suffix . :</a:t>
            </a:r>
          </a:p>
          <a:p>
            <a:pPr lvl="0" defTabSz="914400" rtl="0" eaLnBrk="0" hangingPunct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IPv6 Address. . . . . . . . . . . : 2001:db8:acad:1:</a:t>
            </a:r>
            <a:r>
              <a:rPr lang="pt-BR" sz="100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50a 5:8 a35:a5bb:66e1</a:t>
            </a:r>
          </a:p>
          <a:p>
            <a:pPr lvl="0" defTabSz="914400" rtl="0" eaLnBrk="0" hangingPunct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Link-local IPv6 Address . . . . .: fe80::</a:t>
            </a:r>
            <a:r>
              <a:rPr lang="pt-BR" sz="100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50a 5:8 a35:a5bb:66e1</a:t>
            </a:r>
          </a:p>
          <a:p>
            <a:pPr lvl="0" defTabSz="914400" rtl="0" eaLnBrk="0" hangingPunct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Gateway Padrão . . . . . . . . . : fe80::1</a:t>
            </a:r>
          </a:p>
          <a:p>
            <a:pPr lvl="0" defTabSz="914400" rtl="0" eaLnBrk="0" hangingPunct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C:\ &gt;</a:t>
            </a:r>
          </a:p>
        </p:txBody>
      </p:sp>
    </p:spTree>
    <p:extLst>
      <p:ext uri="{BB962C8B-B14F-4D97-AF65-F5344CB8AC3E}">
        <p14:creationId xmlns:p14="http://schemas.microsoft.com/office/powerpoint/2010/main" val="2443479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15="http://schemas.microsoft.com/office/drawing/2012/chart" xmlns:c="http://schemas.openxmlformats.org/drawingml/2006/chart"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Endereçamento dinâmico para LLAs</a:t>
            </a:r>
            <a:br>
              <a:rPr lang="en-US" dirty="0"/>
            </a:br>
            <a:r>
              <a:rPr lang="pt-BR" sz="2400"/>
              <a:t>dinâmicos IPv6 LLAs em Cisco Routers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003F5F5-7654-47FE-8245-0FE364DE3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1" y="1035050"/>
            <a:ext cx="7913688" cy="1536700"/>
          </a:xfrm>
        </p:spPr>
        <p:txBody>
          <a:bodyPr/>
          <a:lstStyle/>
          <a:p>
            <a:pPr marL="0" indent="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pt-BR" sz="1600">
                <a:solidFill>
                  <a:srgbClr val="000000"/>
                </a:solidFill>
              </a:rPr>
              <a:t>Os roteadores Cisco criam automaticamente um endereço IPv6 de link local sempre que um endereço unicast global é atribuído à interface. Por padrão, os roteadores Cisco IOS usam o EUI-64 para gerar a ID da interface de todos os endereços de link local em interfaces IPv6.</a:t>
            </a:r>
          </a:p>
          <a:p>
            <a:pPr marL="0" indent="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pt-BR" sz="1600">
                <a:solidFill>
                  <a:srgbClr val="000000"/>
                </a:solidFill>
              </a:rPr>
              <a:t>Aqui está um exemplo de um LLA configurado dinamicamente na interface G0/0/0 de R1:</a:t>
            </a:r>
          </a:p>
          <a:p>
            <a:pPr marL="0" indent="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7C10CD7-64FE-452E-A9FF-E0D054AA0D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2734" y="2571750"/>
            <a:ext cx="5878532" cy="1323439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R1# </a:t>
            </a:r>
            <a:r>
              <a:rPr kumimoji="0" lang="pt-BR" sz="10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show interface gigabitEthernet 0/0/0</a:t>
            </a: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GigabitEthernet0/0/0 está ativo, protocolo de linha está ativo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 hardware é ISR4221-2x1GE, o endereço é </a:t>
            </a:r>
            <a:r>
              <a:rPr kumimoji="0" lang="pt-BR" sz="1000" b="1" i="0" u="none" strike="noStrike" cap="none" normalizeH="0" baseline="0">
                <a:ln>
                  <a:noFill/>
                </a:ln>
                <a:solidFill>
                  <a:schemeClr val="accent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7079.b392.3640</a:t>
            </a: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accent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(bia 7079.b392.3640)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(Saída omitida)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R1#</a:t>
            </a:r>
            <a:r>
              <a:rPr kumimoji="0" lang="pt-BR" sz="10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show ipv6 interface brief</a:t>
            </a: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GigabitEthernet0/0/0 [up/up]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FE80::</a:t>
            </a:r>
            <a:r>
              <a:rPr kumimoji="0" lang="pt-BR" sz="1000" b="1" i="0" u="none" strike="noStrike" cap="none" normalizeH="0" baseline="0">
                <a:ln>
                  <a:noFill/>
                </a:ln>
                <a:solidFill>
                  <a:schemeClr val="accent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7279:B3</a:t>
            </a:r>
            <a:r>
              <a:rPr kumimoji="0" lang="pt-BR" sz="10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FF:FE</a:t>
            </a:r>
            <a:r>
              <a:rPr kumimoji="0" lang="pt-BR" sz="1000" b="1" i="0" u="none" strike="noStrike" cap="none" normalizeH="0" baseline="0">
                <a:ln>
                  <a:noFill/>
                </a:ln>
                <a:solidFill>
                  <a:schemeClr val="accent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92:3640</a:t>
            </a: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2001:DB8:ACAD:1::1 </a:t>
            </a:r>
          </a:p>
        </p:txBody>
      </p:sp>
    </p:spTree>
    <p:extLst>
      <p:ext uri="{BB962C8B-B14F-4D97-AF65-F5344CB8AC3E}">
        <p14:creationId xmlns:p14="http://schemas.microsoft.com/office/powerpoint/2010/main" val="2686635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15="http://schemas.microsoft.com/office/drawing/2012/chart" xmlns:c="http://schemas.openxmlformats.org/drawingml/2006/chart"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Endereçamento dinâmico para IPv6 LLAs</a:t>
            </a:r>
            <a:br>
              <a:rPr lang="en-US" dirty="0"/>
            </a:br>
            <a:r>
              <a:rPr lang="pt-BR" sz="2400"/>
              <a:t>Verificar a configuração do endereço IPv6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003F5F5-7654-47FE-8245-0FE364DE3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866138"/>
            <a:ext cx="7913688" cy="1536700"/>
          </a:xfrm>
        </p:spPr>
        <p:txBody>
          <a:bodyPr/>
          <a:lstStyle/>
          <a:p>
            <a:pPr marL="0" indent="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pt-BR" sz="1600">
                <a:solidFill>
                  <a:srgbClr val="000000"/>
                </a:solidFill>
              </a:rPr>
              <a:t>Os roteadores Cisco criam automaticamente um endereço IPv6 de link local sempre que um endereço unicast global é atribuído à interface. Por padrão, os roteadores Cisco IOS usam o EUI-64 para gerar a ID da interface de todos os endereços de link local em interfaces IPv6.</a:t>
            </a:r>
          </a:p>
          <a:p>
            <a:pPr marL="0" indent="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pt-BR" sz="1600">
                <a:solidFill>
                  <a:srgbClr val="000000"/>
                </a:solidFill>
              </a:rPr>
              <a:t>Aqui está um exemplo de um LLA configurado dinamicamente na interface G0/0/0 de R1:</a:t>
            </a:r>
          </a:p>
          <a:p>
            <a:pPr marL="0" indent="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7C10CD7-64FE-452E-A9FF-E0D054AA0D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9378" y="2571750"/>
            <a:ext cx="5878532" cy="1323439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R1# </a:t>
            </a:r>
            <a:r>
              <a:rPr kumimoji="0" lang="pt-BR" sz="10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show interface gigabitEthernet 0/0/0</a:t>
            </a: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GigabitEthernet0/0/0 está ativo, protocolo de linha está ativo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 hardware é ISR4221-2x1GE, o endereço é </a:t>
            </a:r>
            <a:r>
              <a:rPr kumimoji="0" lang="pt-BR" sz="1000" b="1" i="0" u="none" strike="noStrike" cap="none" normalizeH="0" baseline="0">
                <a:ln>
                  <a:noFill/>
                </a:ln>
                <a:solidFill>
                  <a:schemeClr val="accent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7079.b392.3640</a:t>
            </a: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accent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(bia 7079.b392.3640)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(Saída omitida)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R1#</a:t>
            </a:r>
            <a:r>
              <a:rPr kumimoji="0" lang="pt-BR" sz="10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show ipv6 interface brief</a:t>
            </a: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GigabitEthernet0/0/0 [up/up]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FE80::</a:t>
            </a:r>
            <a:r>
              <a:rPr kumimoji="0" lang="pt-BR" sz="1000" b="1" i="0" u="none" strike="noStrike" cap="none" normalizeH="0" baseline="0">
                <a:ln>
                  <a:noFill/>
                </a:ln>
                <a:solidFill>
                  <a:schemeClr val="accent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7279:B3</a:t>
            </a:r>
            <a:r>
              <a:rPr kumimoji="0" lang="pt-BR" sz="10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FF:FE</a:t>
            </a:r>
            <a:r>
              <a:rPr kumimoji="0" lang="pt-BR" sz="1000" b="1" i="0" u="none" strike="noStrike" cap="none" normalizeH="0" baseline="0">
                <a:ln>
                  <a:noFill/>
                </a:ln>
                <a:solidFill>
                  <a:schemeClr val="accent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92:3640</a:t>
            </a: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2001:DB8:ACAD:1::1 </a:t>
            </a:r>
          </a:p>
        </p:txBody>
      </p:sp>
    </p:spTree>
    <p:extLst>
      <p:ext uri="{BB962C8B-B14F-4D97-AF65-F5344CB8AC3E}">
        <p14:creationId xmlns:p14="http://schemas.microsoft.com/office/powerpoint/2010/main" val="73415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15="http://schemas.microsoft.com/office/drawing/2012/chart" xmlns:c="http://schemas.openxmlformats.org/drawingml/2006/chart"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33862"/>
            <a:ext cx="9144000" cy="592921"/>
          </a:xfrm>
        </p:spPr>
        <p:txBody>
          <a:bodyPr/>
          <a:lstStyle/>
          <a:p>
            <a:pPr rtl="0"/>
            <a:r>
              <a:rPr lang="pt-BR" sz="1600"/>
              <a:t>Módulo Prática e Quiz</a:t>
            </a:r>
            <a:br>
              <a:rPr lang="en-US" altLang="en-US" sz="1600" dirty="0"/>
            </a:br>
            <a:r>
              <a:rPr lang="pt-BR"/>
              <a:t>Packet Tracer - Configurações Endereçamento IPv6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0913010-55BD-654E-8C45-7CAB421D7CC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9882" y="1034322"/>
            <a:ext cx="8649325" cy="3522688"/>
          </a:xfrm>
        </p:spPr>
        <p:txBody>
          <a:bodyPr/>
          <a:lstStyle/>
          <a:p>
            <a:pPr marL="0" indent="0" rtl="0">
              <a:buNone/>
            </a:pPr>
            <a:r>
              <a:rPr lang="pt-BR" sz="1800"/>
              <a:t>Neste Packet Tracer, você fará o seguinte:</a:t>
            </a:r>
          </a:p>
          <a:p>
            <a:pPr rtl="0"/>
            <a:r>
              <a:rPr lang="pt-BR" sz="1800"/>
              <a:t>Configurar o Endereçamento IPv6 no Roteador</a:t>
            </a:r>
          </a:p>
          <a:p>
            <a:pPr rtl="0"/>
            <a:r>
              <a:rPr lang="pt-BR" sz="1800"/>
              <a:t>Configurar o Endereçamento IPv6 em Servidores</a:t>
            </a:r>
          </a:p>
          <a:p>
            <a:pPr rtl="0"/>
            <a:r>
              <a:rPr lang="pt-BR" sz="1800"/>
              <a:t>Configurar o Endereçamento IPv6 em Clientes</a:t>
            </a:r>
          </a:p>
          <a:p>
            <a:pPr rtl="0"/>
            <a:r>
              <a:rPr lang="pt-BR" sz="1800"/>
              <a:t>Testar e Verificar a Conectividade da Rede</a:t>
            </a:r>
          </a:p>
          <a:p>
            <a:pPr marL="0" indent="0">
              <a:buNone/>
            </a:pPr>
            <a:endParaRPr lang="en-US" dirty="0"/>
          </a:p>
          <a:p>
            <a:endParaRPr lang="en-US" altLang="ja-JP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11760496"/>
      </p:ext>
    </p:extLst>
  </p:cSld>
  <p:clrMapOvr>
    <a:masterClrMapping/>
  </p:clrMapOvr>
  <p:transition spd="slow">
    <p:wip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47520"/>
            <a:ext cx="8280314" cy="97028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12.7 Endereços de multicast IPv6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03848410"/>
      </p:ext>
    </p:extLst>
  </p:cSld>
  <p:clrMapOvr>
    <a:masterClrMapping/>
  </p:clrMapOvr>
  <p:transition spd="slow">
    <p:wip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Endereços IPv6 multicast </a:t>
            </a:r>
            <a:br>
              <a:rPr lang="en-US" dirty="0"/>
            </a:br>
            <a:r>
              <a:rPr lang="pt-BR" sz="2400"/>
              <a:t>Endereços IPv6 multicast atribuídos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003F5F5-7654-47FE-8245-0FE364DE3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1" y="1035050"/>
            <a:ext cx="7913688" cy="1536700"/>
          </a:xfrm>
        </p:spPr>
        <p:txBody>
          <a:bodyPr/>
          <a:lstStyle/>
          <a:p>
            <a:pPr marL="0" indent="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pt-BR" sz="1600">
                <a:solidFill>
                  <a:srgbClr val="000000"/>
                </a:solidFill>
              </a:rPr>
              <a:t>Os endereços multicast IPv6 têm o prefixo ff00::/8. Há dois tipos de endereços IPv6 multicast:</a:t>
            </a:r>
          </a:p>
          <a:p>
            <a:pPr marL="358835" lvl="1" indent="-285750" rtl="0">
              <a:spcAft>
                <a:spcPts val="600"/>
              </a:spcAft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Endereços multicast bem conhecidos.</a:t>
            </a:r>
          </a:p>
          <a:p>
            <a:pPr marL="358835" lvl="1" indent="-285750" rtl="0">
              <a:spcAft>
                <a:spcPts val="600"/>
              </a:spcAft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Endereços de difusão seletiva solicitados</a:t>
            </a: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endParaRPr lang="en-US" sz="1800" dirty="0">
              <a:solidFill>
                <a:srgbClr val="000000"/>
              </a:solidFill>
            </a:endParaRPr>
          </a:p>
          <a:p>
            <a:pPr marL="0" indent="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endParaRPr lang="en-US" sz="1800" dirty="0">
              <a:solidFill>
                <a:srgbClr val="00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F89D51-B9C4-47DE-895E-0D438682D1AC}"/>
              </a:ext>
            </a:extLst>
          </p:cNvPr>
          <p:cNvSpPr txBox="1"/>
          <p:nvPr/>
        </p:nvSpPr>
        <p:spPr>
          <a:xfrm>
            <a:off x="347473" y="2874963"/>
            <a:ext cx="834548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pt-BR" sz="1600" b="1">
                <a:solidFill>
                  <a:srgbClr val="000000"/>
                </a:solidFill>
              </a:rPr>
              <a:t>Observação</a:t>
            </a:r>
            <a:r>
              <a:rPr lang="pt-BR" sz="1600">
                <a:solidFill>
                  <a:srgbClr val="000000"/>
                </a:solidFill>
              </a:rPr>
              <a:t>: os endereços multicast só podem ser endereços destino, e não endereços origem</a:t>
            </a:r>
            <a:r>
              <a:rPr lang="pt-BR" sz="1400">
                <a:solidFill>
                  <a:srgbClr val="000000"/>
                </a:solidFill>
              </a:rPr>
              <a:t>.</a:t>
            </a:r>
          </a:p>
          <a:p>
            <a:endParaRPr lang="en-US" sz="1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8223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15="http://schemas.microsoft.com/office/drawing/2012/chart" xmlns:c="http://schemas.openxmlformats.org/drawingml/2006/chart"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Endereços multicast IPv6 Endereços de</a:t>
            </a:r>
            <a:r>
              <a:rPr lang="pt-BR" sz="2400"/>
              <a:t>multicast IPv6bem conhecidos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003F5F5-7654-47FE-8245-0FE364DE3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1" y="1035049"/>
            <a:ext cx="7913688" cy="2329587"/>
          </a:xfrm>
        </p:spPr>
        <p:txBody>
          <a:bodyPr/>
          <a:lstStyle/>
          <a:p>
            <a:pPr marL="0" indent="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pt-BR" sz="1600">
                <a:solidFill>
                  <a:srgbClr val="000000"/>
                </a:solidFill>
              </a:rPr>
              <a:t>Endereços multicast IPv6 conhecidos são atribuídos e reservados para grupos de dispositivos predefinidos.</a:t>
            </a:r>
          </a:p>
          <a:p>
            <a:pPr marL="0" indent="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pt-BR" sz="1600">
                <a:solidFill>
                  <a:srgbClr val="000000"/>
                </a:solidFill>
              </a:rPr>
              <a:t>Estes são dois grupos multicast atribuídos ao IPv6 comuns:</a:t>
            </a:r>
          </a:p>
          <a:p>
            <a:pPr marL="358835" lvl="1" indent="-285750" rtl="0">
              <a:spcAft>
                <a:spcPts val="600"/>
              </a:spcAft>
              <a:buSzPct val="90000"/>
              <a:buFont typeface="Arial" panose="020B0604020202020204" pitchFamily="34" charset="0"/>
              <a:buChar char="•"/>
            </a:pPr>
            <a:r>
              <a:rPr lang="pt-BR" b="1">
                <a:solidFill>
                  <a:srgbClr val="000000"/>
                </a:solidFill>
              </a:rPr>
              <a:t>ff02 :: 1 Grupo</a:t>
            </a:r>
            <a:r>
              <a:rPr lang="pt-BR">
                <a:solidFill>
                  <a:srgbClr val="000000"/>
                </a:solidFill>
              </a:rPr>
              <a:t> multicast de todos os nós - este é um grupo multicast ao qual todos os dispositivos habilitados para IPv6 se juntam. Um pacote enviado para esse grupo é recebido e processado por todas as interfaces IPv6 no link ou rede.</a:t>
            </a:r>
            <a:r>
              <a:rPr lang="pt-BR" b="1">
                <a:solidFill>
                  <a:srgbClr val="000000"/>
                </a:solidFill>
              </a:rPr>
              <a:t> </a:t>
            </a:r>
          </a:p>
          <a:p>
            <a:pPr marL="358835" lvl="1" indent="-285750" rtl="0">
              <a:spcAft>
                <a:spcPts val="600"/>
              </a:spcAft>
              <a:buSzPct val="90000"/>
              <a:buFont typeface="Arial" panose="020B0604020202020204" pitchFamily="34" charset="0"/>
              <a:buChar char="•"/>
            </a:pPr>
            <a:r>
              <a:rPr lang="pt-BR" b="1">
                <a:solidFill>
                  <a:srgbClr val="000000"/>
                </a:solidFill>
              </a:rPr>
              <a:t>ff02 :: 1 Grupo</a:t>
            </a:r>
            <a:r>
              <a:rPr lang="pt-BR">
                <a:solidFill>
                  <a:srgbClr val="000000"/>
                </a:solidFill>
              </a:rPr>
              <a:t> multicast de todos os nós - este é um grupo multicast ao qual todos os dispositivos habilitados para IPv6 se juntam. Um roteador se torna membro desse grupo quando é ativado como roteador IPv6 com o comando de configuração </a:t>
            </a:r>
            <a:r>
              <a:rPr lang="pt-BR" b="1">
                <a:solidFill>
                  <a:srgbClr val="000000"/>
                </a:solidFill>
              </a:rPr>
              <a:t>global </a:t>
            </a:r>
            <a:r>
              <a:rPr lang="pt-BR">
                <a:solidFill>
                  <a:srgbClr val="000000"/>
                </a:solidFill>
              </a:rPr>
              <a:t>ipv6 unicast-routing</a:t>
            </a:r>
            <a:r>
              <a:rPr lang="pt-BR" b="1">
                <a:solidFill>
                  <a:srgbClr val="000000"/>
                </a:solidFill>
              </a:rPr>
              <a:t>. </a:t>
            </a:r>
          </a:p>
          <a:p>
            <a:pPr marL="358835" lvl="1" indent="-285750">
              <a:spcAft>
                <a:spcPts val="600"/>
              </a:spcAft>
              <a:buSzPct val="90000"/>
              <a:buFont typeface="Arial" panose="020B0604020202020204" pitchFamily="34" charset="0"/>
              <a:buChar char="•"/>
            </a:pPr>
            <a:endParaRPr lang="en-US" sz="1000" dirty="0">
              <a:solidFill>
                <a:srgbClr val="000000"/>
              </a:solidFill>
            </a:endParaRPr>
          </a:p>
          <a:p>
            <a:pPr marL="0" indent="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endParaRPr lang="en-US" sz="1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3555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15="http://schemas.microsoft.com/office/drawing/2012/chart" xmlns:c="http://schemas.openxmlformats.org/drawingml/2006/chart"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Endereços IPv6 multicast </a:t>
            </a:r>
            <a:br>
              <a:rPr lang="en-US" dirty="0"/>
            </a:br>
            <a:r>
              <a:rPr lang="pt-BR" sz="2400"/>
              <a:t>Endereços IPv6 multicast do nó solicitado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003F5F5-7654-47FE-8245-0FE364DE3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1" y="1035049"/>
            <a:ext cx="3651927" cy="3350520"/>
          </a:xfrm>
        </p:spPr>
        <p:txBody>
          <a:bodyPr/>
          <a:lstStyle/>
          <a:p>
            <a:pPr marL="285750" indent="-28575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Um endereço multicast solicited-node é semelhante ao endereço multicast all-nodes.</a:t>
            </a:r>
          </a:p>
          <a:p>
            <a:pPr marL="285750" indent="-28575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Um endereço multicast de nó solicitado é mapeado para um endereço multicast Ethernet especial.</a:t>
            </a:r>
          </a:p>
          <a:p>
            <a:pPr marL="285750" indent="-28575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A NIC Ethernet pode filtrar o quadro examinando o endereço MAC de destino sem enviá-lo ao processo IPv6 para verificar se o dispositivo é o destino pretendido do pacote IPv6.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BA181D-36C7-4DAF-9B3B-E20C6358C7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0332" y="967665"/>
            <a:ext cx="4301867" cy="3080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769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15="http://schemas.microsoft.com/office/drawing/2012/chart" xmlns:c="http://schemas.openxmlformats.org/drawingml/2006/chart"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10519"/>
          </a:xfrm>
        </p:spPr>
        <p:txBody>
          <a:bodyPr/>
          <a:lstStyle/>
          <a:p>
            <a:pPr rtl="0"/>
            <a:br>
              <a:rPr lang="en-US" altLang="en-US" dirty="0"/>
            </a:br>
            <a:r>
              <a:rPr lang="pt-BR"/>
              <a:t>Laboratório de Prática de Módulos e Questionários — Identificar Endereços IPv6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0913010-55BD-654E-8C45-7CAB421D7CC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9882" y="1034322"/>
            <a:ext cx="8649325" cy="3522688"/>
          </a:xfrm>
        </p:spPr>
        <p:txBody>
          <a:bodyPr/>
          <a:lstStyle/>
          <a:p>
            <a:pPr marL="0" indent="0" rtl="0">
              <a:buNone/>
            </a:pPr>
            <a:r>
              <a:rPr lang="pt-BR" sz="1800"/>
              <a:t>Neste laboratório, você completa os seguintes objetivos: 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800"/>
              <a:t>Identificar os Diferentes Tipos de Endereços IPv6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800"/>
              <a:t>Examinar o Endereço e a Interface de Rede de um Host IPv6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800"/>
              <a:t>Praticar a Abreviação de Endereços IPv6</a:t>
            </a:r>
          </a:p>
          <a:p>
            <a:pPr marL="0" indent="0">
              <a:buNone/>
            </a:pP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266857"/>
      </p:ext>
    </p:extLst>
  </p:cSld>
  <p:clrMapOvr>
    <a:masterClrMapping/>
  </p:clrMapOvr>
  <p:transition spd="slow">
    <p:wip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47520"/>
            <a:ext cx="8280314" cy="97028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12.8 Sub-rede uma rede IPv6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52704818"/>
      </p:ext>
    </p:extLst>
  </p:cSld>
  <p:clrMapOvr>
    <a:masterClrMapping/>
  </p:clrMapOvr>
  <p:transition spd="slow">
    <p:wip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br>
              <a:rPr lang="en-US" dirty="0"/>
            </a:br>
            <a:r>
              <a:rPr lang="pt-BR" sz="2400"/>
              <a:t>Divisão de uma rede IPv6 em sub-redes </a:t>
            </a:r>
            <a:r>
              <a:rPr lang="pt-BR" sz="1600"/>
              <a:t>Divisão em sub-redes usando a ID da sub-rede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003F5F5-7654-47FE-8245-0FE364DE3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1" y="1035049"/>
            <a:ext cx="7984230" cy="1598084"/>
          </a:xfrm>
        </p:spPr>
        <p:txBody>
          <a:bodyPr/>
          <a:lstStyle/>
          <a:p>
            <a:pPr marL="0" indent="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pt-BR" sz="1800">
                <a:solidFill>
                  <a:srgbClr val="000000"/>
                </a:solidFill>
              </a:rPr>
              <a:t>O IPv6 foi projetado com a sub-rede em mente. </a:t>
            </a:r>
          </a:p>
          <a:p>
            <a:pPr marL="285750" indent="-28575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Um campo de ID de sub-rede separado no GUA IPv6 é usado para criar sub-redes. </a:t>
            </a:r>
          </a:p>
          <a:p>
            <a:pPr marL="285750" indent="-28575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O campo ID da sub-rede é a área entre o Prefixo de Roteamento Global e o ID da interface.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D8DB5A-76F0-4B47-AE58-0F512B5868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125" y="2571750"/>
            <a:ext cx="6805582" cy="1506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472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15="http://schemas.microsoft.com/office/drawing/2012/chart" xmlns:c="http://schemas.openxmlformats.org/drawingml/2006/chart"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2400"/>
              <a:t>Exemplo de sub-redeIPv6 de rede</a:t>
            </a:r>
            <a:r>
              <a:rPr lang="pt-BR" sz="1600"/>
              <a:t>IPv6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003F5F5-7654-47FE-8245-0FE364DE3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1" y="1035049"/>
            <a:ext cx="3731826" cy="2863358"/>
          </a:xfrm>
        </p:spPr>
        <p:txBody>
          <a:bodyPr/>
          <a:lstStyle/>
          <a:p>
            <a:pPr marL="0" indent="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pt-BR" sz="1600">
                <a:solidFill>
                  <a:srgbClr val="000000"/>
                </a:solidFill>
              </a:rPr>
              <a:t>Dado o prefixo de roteamento global 2001:db8:acad: :/48 com um ID de sub-rede de 16 bits.</a:t>
            </a:r>
          </a:p>
          <a:p>
            <a:pPr marL="285750" indent="-28575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Permite 65.536/64 sub-redes</a:t>
            </a:r>
          </a:p>
          <a:p>
            <a:pPr marL="285750" indent="-28575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O prefixo de roteamento global é o mesmo para todas as sub-redes.</a:t>
            </a:r>
          </a:p>
          <a:p>
            <a:pPr marL="285750" indent="-28575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Somente</a:t>
            </a:r>
            <a:r>
              <a:rPr lang="pt-BR" sz="1400">
                <a:solidFill>
                  <a:srgbClr val="000000"/>
                </a:solidFill>
              </a:rPr>
              <a:t> o hexteto da ID da sub-rede é incrementado em hexadecimal para cada sub-rede.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B8BF49-5FD4-4309-80FA-F52A67C7D7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974" y="1035049"/>
            <a:ext cx="4446225" cy="3072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781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15="http://schemas.microsoft.com/office/drawing/2012/chart" xmlns:c="http://schemas.openxmlformats.org/drawingml/2006/chart"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br>
              <a:rPr lang="en-US" dirty="0"/>
            </a:br>
            <a:r>
              <a:rPr lang="pt-BR" sz="2400"/>
              <a:t>Divisão de uma rede IPv6 em sub-redes </a:t>
            </a:r>
            <a:r>
              <a:rPr lang="pt-BR" sz="1600"/>
              <a:t>Alocação de sub-rede IPv6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003F5F5-7654-47FE-8245-0FE364DE3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986659"/>
            <a:ext cx="7380549" cy="1392523"/>
          </a:xfrm>
        </p:spPr>
        <p:txBody>
          <a:bodyPr/>
          <a:lstStyle/>
          <a:p>
            <a:pPr marL="0" indent="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pt-BR" sz="1400">
                <a:solidFill>
                  <a:srgbClr val="000000"/>
                </a:solidFill>
              </a:rPr>
              <a:t>A topologia de exemplo requer cinco sub-redes, uma para cada LAN e também para o link serial entre R1 e R2.</a:t>
            </a:r>
          </a:p>
          <a:p>
            <a:pPr marL="0" indent="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pt-BR" sz="1400">
                <a:solidFill>
                  <a:srgbClr val="000000"/>
                </a:solidFill>
              </a:rPr>
              <a:t>As cinco sub-redes IPv6 foram alocadas, com o campo ID de sub-rede 0001 a 0005. Cada sub-rede /64 fornecerá mais endereços que o necessário.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B4560F-645D-4891-932C-5DFEA2110D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298" y="2295062"/>
            <a:ext cx="3127775" cy="20998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D5A817A-D8FB-45B9-BB3D-6E5C7DC6B4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507" y="2427572"/>
            <a:ext cx="3392842" cy="1967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273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15="http://schemas.microsoft.com/office/drawing/2012/chart" xmlns:c="http://schemas.openxmlformats.org/drawingml/2006/chart"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Sub-rede um</a:t>
            </a:r>
            <a:br>
              <a:rPr lang="en-US" dirty="0"/>
            </a:br>
            <a:r>
              <a:rPr lang="pt-BR" sz="2400"/>
              <a:t>roteador de rede IPv6 configurado com sub-redes</a:t>
            </a:r>
            <a:r>
              <a:rPr lang="pt-BR" sz="1600"/>
              <a:t>IPv6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003F5F5-7654-47FE-8245-0FE364DE3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986660"/>
            <a:ext cx="7380549" cy="731838"/>
          </a:xfrm>
        </p:spPr>
        <p:txBody>
          <a:bodyPr/>
          <a:lstStyle/>
          <a:p>
            <a:pPr marL="0" indent="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pt-BR" sz="1600">
                <a:solidFill>
                  <a:srgbClr val="000000"/>
                </a:solidFill>
              </a:rPr>
              <a:t>O exemplo mostra que cada uma das interfaces do roteador no R1 foi configurada para estar em uma sub-rede IPv6 diferente.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834DE4A8-80F8-41EF-8BA3-2E8FBDCC8A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265" y="1871767"/>
            <a:ext cx="5398141" cy="178510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rtl="0" eaLnBrk="0" hangingPunct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R1(config)# interface gigabitEthernet 0/0/0</a:t>
            </a:r>
          </a:p>
          <a:p>
            <a:pPr lvl="0" defTabSz="914400" rtl="0" eaLnBrk="0" hangingPunct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R1(config-if)# ipv6 address 2001:db8:acad:1::1/64</a:t>
            </a:r>
          </a:p>
          <a:p>
            <a:pPr lvl="0" defTabSz="914400" rtl="0" eaLnBrk="0" hangingPunct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R1(config-if)# no shutdown</a:t>
            </a:r>
          </a:p>
          <a:p>
            <a:pPr lvl="0" defTabSz="914400" rtl="0" eaLnBrk="0" hangingPunct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R1(config-if)# exit</a:t>
            </a:r>
          </a:p>
          <a:p>
            <a:pPr lvl="0" defTabSz="914400" rtl="0" eaLnBrk="0" hangingPunct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R1(config)# interface gigabitEthernet 0/0/1</a:t>
            </a:r>
          </a:p>
          <a:p>
            <a:pPr lvl="0" defTabSz="914400" rtl="0" eaLnBrk="0" hangingPunct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 (config-if) # ipv6 endereço 2001:db8:acad:2: :1/64</a:t>
            </a:r>
          </a:p>
          <a:p>
            <a:pPr lvl="0" defTabSz="914400" rtl="0" eaLnBrk="0" hangingPunct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R1(config-if)# no shutdown</a:t>
            </a:r>
          </a:p>
          <a:p>
            <a:pPr lvl="0" defTabSz="914400" rtl="0" eaLnBrk="0" hangingPunct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R1(config-if)# exit</a:t>
            </a:r>
          </a:p>
          <a:p>
            <a:pPr lvl="0" defTabSz="914400" rtl="0" eaLnBrk="0" hangingPunct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R1(config)# interface serial0/1/0</a:t>
            </a:r>
          </a:p>
          <a:p>
            <a:pPr lvl="0" defTabSz="914400" rtl="0" eaLnBrk="0" hangingPunct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 (config-if) # ipv6 address 2001:db8:acad:3::1/64</a:t>
            </a:r>
          </a:p>
          <a:p>
            <a:pPr lvl="0" defTabSz="914400" rtl="0" eaLnBrk="0" hangingPunct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R1(config-if)# no shutdown</a:t>
            </a:r>
          </a:p>
        </p:txBody>
      </p:sp>
    </p:spTree>
    <p:extLst>
      <p:ext uri="{BB962C8B-B14F-4D97-AF65-F5344CB8AC3E}">
        <p14:creationId xmlns:p14="http://schemas.microsoft.com/office/powerpoint/2010/main" val="2881749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15="http://schemas.microsoft.com/office/drawing/2012/chart" xmlns:c="http://schemas.openxmlformats.org/drawingml/2006/chart"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47520"/>
            <a:ext cx="8280314" cy="97028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2.9 - Módulo Prática e Quiz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85672151"/>
      </p:ext>
    </p:extLst>
  </p:cSld>
  <p:clrMapOvr>
    <a:masterClrMapping/>
  </p:clrMapOvr>
  <p:transition spd="slow">
    <p:wip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33862"/>
            <a:ext cx="9144000" cy="592921"/>
          </a:xfrm>
        </p:spPr>
        <p:txBody>
          <a:bodyPr/>
          <a:lstStyle/>
          <a:p>
            <a:pPr rtl="0"/>
            <a:r>
              <a:rPr lang="pt-BR" sz="1600"/>
              <a:t>Prática do módulo e rastreador do QuizPacket - </a:t>
            </a:r>
            <a:br>
              <a:rPr lang="en-US" altLang="en-US" sz="1600" dirty="0"/>
            </a:br>
            <a:r>
              <a:rPr lang="pt-BR"/>
              <a:t>implemente um esquema de endereçamento de sub-rede IPv6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0913010-55BD-654E-8C45-7CAB421D7CC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9882" y="1034322"/>
            <a:ext cx="8649325" cy="3522688"/>
          </a:xfrm>
        </p:spPr>
        <p:txBody>
          <a:bodyPr/>
          <a:lstStyle/>
          <a:p>
            <a:pPr marL="0" indent="0" rtl="0">
              <a:buNone/>
            </a:pPr>
            <a:r>
              <a:rPr lang="pt-BR" sz="1800"/>
              <a:t>Neste Packet Tracer, você fará o seguinte:</a:t>
            </a:r>
          </a:p>
          <a:p>
            <a:pPr rtl="0"/>
            <a:r>
              <a:rPr lang="pt-BR" sz="1800"/>
              <a:t>Determinar sub-redes IPv6 e esquema de endereçamento</a:t>
            </a:r>
          </a:p>
          <a:p>
            <a:pPr rtl="0"/>
            <a:r>
              <a:rPr lang="pt-BR" sz="1800"/>
              <a:t>Configurar o endereçamento IPv6 em roteadores e PCs.</a:t>
            </a:r>
          </a:p>
          <a:p>
            <a:pPr rtl="0"/>
            <a:r>
              <a:rPr lang="pt-BR" sz="1800"/>
              <a:t>Verificar a conectividade</a:t>
            </a:r>
          </a:p>
          <a:p>
            <a:pPr marL="0" indent="0">
              <a:buNone/>
            </a:pPr>
            <a:endParaRPr lang="en-US" dirty="0"/>
          </a:p>
          <a:p>
            <a:endParaRPr lang="en-US" altLang="ja-JP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07446697"/>
      </p:ext>
    </p:extLst>
  </p:cSld>
  <p:clrMapOvr>
    <a:masterClrMapping/>
  </p:clrMapOvr>
  <p:transition spd="slow">
    <p:wip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10519"/>
          </a:xfrm>
        </p:spPr>
        <p:txBody>
          <a:bodyPr/>
          <a:lstStyle/>
          <a:p>
            <a:pPr rtl="0"/>
            <a:r>
              <a:rPr lang="pt-BR" sz="1600"/>
              <a:t>Módulo Prático e Quiz</a:t>
            </a:r>
            <a:br>
              <a:rPr lang="en-US" altLang="en-US" dirty="0"/>
            </a:br>
            <a:r>
              <a:rPr lang="pt-BR"/>
              <a:t>Packet Tracer - Configurar Endereços IPv6 em Dispositivos de Rede - Modo Físico</a:t>
            </a:r>
            <a:br>
              <a:rPr lang="en-US" altLang="en-US" dirty="0"/>
            </a:br>
            <a:r>
              <a:rPr lang="pt-BR"/>
              <a:t>Laboratório – Configurar Enderços IPv6 em Dispositivos de Rede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0913010-55BD-654E-8C45-7CAB421D7CC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69942" y="1292740"/>
            <a:ext cx="8649325" cy="3522688"/>
          </a:xfrm>
        </p:spPr>
        <p:txBody>
          <a:bodyPr/>
          <a:lstStyle/>
          <a:p>
            <a:pPr marL="0" indent="0" rtl="0">
              <a:buNone/>
            </a:pPr>
            <a:r>
              <a:rPr lang="pt-BR" sz="1800"/>
              <a:t>Nesta atividade do Packet Tracer, você atingirá os seguintes objetivos: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800"/>
              <a:t>Configurar a topologia de rede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800"/>
              <a:t>Configurar os hosts PC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800"/>
              <a:t>Configurar e verificar configurações básicas do switch</a:t>
            </a:r>
          </a:p>
          <a:p>
            <a:pPr marL="0" indent="0" rtl="0">
              <a:buNone/>
            </a:pPr>
            <a:r>
              <a:rPr lang="pt-BR" sz="1800"/>
              <a:t>Neste laboratório, você completa os seguintes objetivos: 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800"/>
              <a:t>Configure a topologia e defina as configurações básicas do roteador e do switch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800"/>
              <a:t>Configurar endereços IPv6 manualmente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800"/>
              <a:t>Verificar a conectividade fim-a-fim</a:t>
            </a:r>
          </a:p>
          <a:p>
            <a:pPr marL="0" indent="0">
              <a:buNone/>
            </a:pP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66380527"/>
      </p:ext>
    </p:extLst>
  </p:cSld>
  <p:clrMapOvr>
    <a:masterClrMapping/>
  </p:clrMapOvr>
  <p:transition spd="slow">
    <p:wip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400">
                <a:latin typeface="Arial" charset="0"/>
              </a:rPr>
              <a:t>Módulo Prática e Quiz</a:t>
            </a:r>
            <a:br>
              <a:rPr lang="en-US" dirty="0">
                <a:latin typeface="Arial" charset="0"/>
              </a:rPr>
            </a:br>
            <a:r>
              <a:rPr lang="pt-BR">
                <a:latin typeface="Arial" charset="0"/>
              </a:rPr>
              <a:t>O que aprendi neste módulo?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AC22E0C-A8B9-7D4B-BC8E-95F5947642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357" y="739677"/>
            <a:ext cx="8853286" cy="4155319"/>
          </a:xfrm>
        </p:spPr>
        <p:txBody>
          <a:bodyPr/>
          <a:lstStyle/>
          <a:p>
            <a:pPr marL="115887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550"/>
              <a:t>O IPv4 tem um máximo teórico de 4,3 bilhões de endereços.</a:t>
            </a:r>
          </a:p>
          <a:p>
            <a:pPr marL="115887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550"/>
              <a:t>A IETF criou vários protocolos e ferramentas para ajudar os administradores de rede a migrarem as redes para IPv6. As técnicas de migração podem ser divididas em três categorias: pilha dupla, encapsulamento e tradução.</a:t>
            </a:r>
          </a:p>
          <a:p>
            <a:pPr marL="115887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550"/>
              <a:t>Os endereços IPv6 têm 128 bits e são escritos como uma sequência de valores hexadecimais.</a:t>
            </a:r>
          </a:p>
          <a:p>
            <a:pPr marL="115887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550"/>
              <a:t>Como mostrado na Figura 1, o formato preferencial para escrever um endereço IPv6 é x: x: x: x: x: x: x: x, com cada “x” consistindo de quatro valores hexadecimais. </a:t>
            </a:r>
          </a:p>
          <a:p>
            <a:pPr marL="115887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550"/>
              <a:t>Há três tipos de endereços IPv6: unicast, multicast e anycast.</a:t>
            </a:r>
          </a:p>
          <a:p>
            <a:pPr marL="115887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550"/>
              <a:t>Um endereço IPv6 unicast identifica exclusivamente uma interface em um dispositivo habilitado para IPv6. </a:t>
            </a:r>
          </a:p>
          <a:p>
            <a:pPr marL="115887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550"/>
              <a:t>O endereço IPv6 unicast global (GUA) é globalmente exclusivo e roteável na Internet IPv6. </a:t>
            </a:r>
          </a:p>
          <a:p>
            <a:pPr marL="115887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550"/>
              <a:t>Um endereço IPv6 de link-local permite que um dispositivo se comunique com outros dispositivos habilitados para IPv6 no mesmo link e somente nesse link (sub-rede).</a:t>
            </a:r>
          </a:p>
          <a:p>
            <a:pPr marL="115887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550"/>
              <a:t>O comando para configurar um GUA IPv6 em uma interface é </a:t>
            </a:r>
            <a:r>
              <a:rPr lang="pt-BR" sz="1550" b="1"/>
              <a:t>ipv6 address</a:t>
            </a:r>
            <a:r>
              <a:rPr lang="pt-BR" sz="1550"/>
              <a:t> </a:t>
            </a:r>
            <a:r>
              <a:rPr lang="pt-BR" sz="1550" i="1"/>
              <a:t>ipv6-address/prefix-length</a:t>
            </a:r>
            <a:r>
              <a:rPr lang="pt-BR" sz="1550"/>
              <a:t> . </a:t>
            </a:r>
          </a:p>
          <a:p>
            <a:pPr marL="115887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550"/>
              <a:t>Um dispositivo obtém um GUA dinamicamente através de mensagens ICMPv6. Os roteadores IPv6 enviam mensagens ICMPv6 de RA a cada 200 segundos para todos os dispositivos habilitados para IPv6 na rede.</a:t>
            </a:r>
          </a:p>
          <a:p>
            <a:pPr marL="0">
              <a:spcBef>
                <a:spcPts val="0"/>
              </a:spcBef>
              <a:spcAft>
                <a:spcPts val="0"/>
              </a:spcAft>
            </a:pPr>
            <a:endParaRPr lang="en-US" sz="1600" dirty="0"/>
          </a:p>
          <a:p>
            <a:pPr marL="0">
              <a:spcBef>
                <a:spcPts val="0"/>
              </a:spcBef>
              <a:spcAft>
                <a:spcPts val="0"/>
              </a:spcAft>
            </a:pPr>
            <a:endParaRPr lang="en-US" sz="1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48999575"/>
      </p:ext>
    </p:extLst>
  </p:cSld>
  <p:clrMapOvr>
    <a:masterClrMapping/>
  </p:clrMapOvr>
  <p:transition spd="slow">
    <p:wip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400">
                <a:latin typeface="Arial" charset="0"/>
              </a:rPr>
              <a:t>Módulo Prática e Quiz</a:t>
            </a:r>
            <a:br>
              <a:rPr lang="en-US" dirty="0">
                <a:latin typeface="Arial" charset="0"/>
              </a:rPr>
            </a:br>
            <a:r>
              <a:rPr lang="pt-BR">
                <a:latin typeface="Arial" charset="0"/>
              </a:rPr>
              <a:t>O que aprendi neste módulo? (Cont.)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AC22E0C-A8B9-7D4B-BC8E-95F5947642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357" y="722744"/>
            <a:ext cx="8853286" cy="4155319"/>
          </a:xfrm>
        </p:spPr>
        <p:txBody>
          <a:bodyPr/>
          <a:lstStyle/>
          <a:p>
            <a:pPr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/>
              <a:t>As mensagens de RA têm três métodos: SLAAC, SLAAC com um servidor DHCPv6 sem estado e DHCPv6 com estado (sem SLAAC). </a:t>
            </a:r>
          </a:p>
          <a:p>
            <a:pPr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/>
              <a:t>A ID da interface pode ser criada por meio do processo EUI-64 ou de um número de 64 bits gerado aleatoriamente </a:t>
            </a:r>
          </a:p>
          <a:p>
            <a:pPr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/>
              <a:t>Esse processo usa o endereço MAC Ethernet de 48 bits de um cliente e insere outros 16 bits no meio do endereço MAC de 48 bits para criar uma ID da interface de 64 bits.</a:t>
            </a:r>
          </a:p>
          <a:p>
            <a:pPr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/>
              <a:t>Depending upon the operating system, a device may use a randomly generated interface ID.</a:t>
            </a:r>
          </a:p>
          <a:p>
            <a:pPr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/>
              <a:t>Todos os dispositivos IPv6 devem ter um IPv6 LLA. Um LLA pode ser configurado manualmente ou criado dinamicamente. </a:t>
            </a:r>
          </a:p>
          <a:p>
            <a:pPr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/>
              <a:t>Os roteadores Cisco criam automaticamente um endereço IPv6 de link local sempre que um endereço unicast global é atribuído à interface. </a:t>
            </a:r>
          </a:p>
          <a:p>
            <a:pPr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/>
              <a:t>Existem dois tipos de endereços multicast IPv6: endereços multicast conhecidos e endereços multicast de nós solicitados. </a:t>
            </a:r>
          </a:p>
          <a:p>
            <a:pPr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/>
              <a:t>Dois grupos de multicast atribuídos ao CommonIPv6 são: ff02: :1 Grupo de multicast de todos os nós e ff02: :2 Grupo de multicast de todos os roteadores.</a:t>
            </a:r>
          </a:p>
          <a:p>
            <a:pPr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/>
              <a:t>Um endereço multicast solicited-node é semelhante ao endereço multicast all-nodes. A vantagem do endereço multicast solicited-node é que ele é mapeado para um endereço multicast Ethernet especial.</a:t>
            </a:r>
          </a:p>
          <a:p>
            <a:pPr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/>
              <a:t>O IPv6 foi projetado com a sub-rede em mente. Um campo de ID de sub-rede separado no GUA IPv6 é usado para criar sub-redes.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/>
          </a:p>
          <a:p>
            <a:pPr marL="0">
              <a:spcBef>
                <a:spcPts val="0"/>
              </a:spcBef>
              <a:spcAft>
                <a:spcPts val="0"/>
              </a:spcAft>
            </a:pPr>
            <a:endParaRPr lang="en-US" sz="1400" dirty="0"/>
          </a:p>
          <a:p>
            <a:pPr marL="0">
              <a:spcBef>
                <a:spcPts val="0"/>
              </a:spcBef>
              <a:spcAft>
                <a:spcPts val="0"/>
              </a:spcAft>
            </a:pPr>
            <a:endParaRPr lang="en-US" sz="1400" dirty="0"/>
          </a:p>
          <a:p>
            <a:pPr marL="0">
              <a:spcBef>
                <a:spcPts val="0"/>
              </a:spcBef>
              <a:spcAft>
                <a:spcPts val="0"/>
              </a:spcAft>
            </a:pPr>
            <a:endParaRPr lang="en-US" sz="1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00074777"/>
      </p:ext>
    </p:extLst>
  </p:cSld>
  <p:clrMapOvr>
    <a:masterClrMapping/>
  </p:clrMapOvr>
  <p:transition spd="slow">
    <p:wip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41394"/>
            <a:ext cx="9144000" cy="609056"/>
          </a:xfrm>
        </p:spPr>
        <p:txBody>
          <a:bodyPr/>
          <a:lstStyle/>
          <a:p>
            <a:pPr rtl="0" eaLnBrk="1" hangingPunct="1"/>
            <a:r>
              <a:rPr lang="pt-BR" sz="1400">
                <a:latin typeface="Arial" charset="0"/>
              </a:rPr>
              <a:t>Módulo 12: Conceitos de WLAN </a:t>
            </a:r>
            <a:br>
              <a:rPr lang="en-US" dirty="0">
                <a:latin typeface="Arial" charset="0"/>
              </a:rPr>
            </a:br>
            <a:r>
              <a:rPr lang="pt-BR">
                <a:latin typeface="Arial" charset="0"/>
              </a:rPr>
              <a:t>Novos Termos e Comandos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F2480B83-AF5E-4A70-B69B-F1E3A8FAC7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0762915"/>
              </p:ext>
            </p:extLst>
          </p:nvPr>
        </p:nvGraphicFramePr>
        <p:xfrm>
          <a:off x="99152" y="798513"/>
          <a:ext cx="3425283" cy="22860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425283">
                  <a:extLst>
                    <a:ext uri="{9D8B030D-6E8A-4147-A177-3AD203B41FA5}">
                      <a16:colId xmlns:a16="http://schemas.microsoft.com/office/drawing/2014/main" val="32708544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pt-BR" sz="1600" b="0">
                          <a:solidFill>
                            <a:srgbClr val="000000"/>
                          </a:solidFill>
                        </a:rPr>
                        <a:t>Hextet</a:t>
                      </a: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pt-BR" sz="1600" b="0">
                          <a:solidFill>
                            <a:srgbClr val="000000"/>
                          </a:solidFill>
                        </a:rPr>
                        <a:t>Link-local address (LLA)</a:t>
                      </a: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pt-BR" sz="1600" b="0">
                          <a:solidFill>
                            <a:srgbClr val="000000"/>
                          </a:solidFill>
                        </a:rPr>
                        <a:t>ipv6 address</a:t>
                      </a: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pt-BR" sz="1600" b="0">
                          <a:solidFill>
                            <a:srgbClr val="000000"/>
                          </a:solidFill>
                        </a:rPr>
                        <a:t>show ipv6 interface brief</a:t>
                      </a: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pt-BR" sz="1600" b="0">
                          <a:solidFill>
                            <a:srgbClr val="000000"/>
                          </a:solidFill>
                        </a:rPr>
                        <a:t>SLAAC</a:t>
                      </a: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pt-BR" sz="1600" b="0">
                          <a:solidFill>
                            <a:srgbClr val="000000"/>
                          </a:solidFill>
                        </a:rPr>
                        <a:t>Router advertisement</a:t>
                      </a: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pt-BR" sz="1600" b="0">
                          <a:solidFill>
                            <a:srgbClr val="000000"/>
                          </a:solidFill>
                        </a:rPr>
                        <a:t>Router solicitation</a:t>
                      </a: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pt-BR" sz="1600" b="0">
                          <a:solidFill>
                            <a:srgbClr val="000000"/>
                          </a:solidFill>
                        </a:rPr>
                        <a:t>EUI-64</a:t>
                      </a: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pt-BR" sz="1600" b="0">
                          <a:solidFill>
                            <a:srgbClr val="000000"/>
                          </a:solidFill>
                        </a:rPr>
                        <a:t>Multicast solicited-node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8796709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271745509"/>
      </p:ext>
    </p:extLst>
  </p:cSld>
  <p:clrMapOvr>
    <a:masterClrMapping/>
  </p:clrMapOvr>
  <p:transition spd="slow">
    <p:wip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4190828277"/>
      </p:ext>
    </p:extLst>
  </p:cSld>
  <p:clrMapOvr>
    <a:masterClrMapping/>
  </p:clrMapOvr>
  <p:transition spd="slow">
    <p:wip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65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Default Theme">
  <a:themeElements>
    <a:clrScheme name="Custom 6">
      <a:dk1>
        <a:srgbClr val="58585B"/>
      </a:dk1>
      <a:lt1>
        <a:srgbClr val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6A4D7"/>
        </a:solidFill>
        <a:ln>
          <a:noFill/>
        </a:ln>
        <a:effectLst/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ITE7_Chp1_Example-1" id="{4A20ED44-3835-F149-9AE4-C332C230E09E}" vid="{AFB5BC48-58F8-AD45-912F-AE2AD65EB6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12318</TotalTime>
  <Words>5499</Words>
  <Application>Microsoft Office PowerPoint</Application>
  <PresentationFormat>Apresentação na tela (16:9)</PresentationFormat>
  <Paragraphs>556</Paragraphs>
  <Slides>53</Slides>
  <Notes>53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53</vt:i4>
      </vt:variant>
    </vt:vector>
  </HeadingPairs>
  <TitlesOfParts>
    <vt:vector size="62" baseType="lpstr">
      <vt:lpstr>ＭＳ Ｐゴシック</vt:lpstr>
      <vt:lpstr>Arial</vt:lpstr>
      <vt:lpstr>Calibri</vt:lpstr>
      <vt:lpstr>CiscoSans</vt:lpstr>
      <vt:lpstr>CiscoSans ExtraLight</vt:lpstr>
      <vt:lpstr>CiscoSans Thin</vt:lpstr>
      <vt:lpstr>Courier New</vt:lpstr>
      <vt:lpstr>Wingdings</vt:lpstr>
      <vt:lpstr>Default Theme</vt:lpstr>
      <vt:lpstr>Módulo 12: endereçamento IPv6</vt:lpstr>
      <vt:lpstr>Objetivos do módulo</vt:lpstr>
      <vt:lpstr>Objetivos do módulo (Cont.)</vt:lpstr>
      <vt:lpstr>12.1 Problemas IPv4</vt:lpstr>
      <vt:lpstr>Problemas IPv4 Necessidade de IPv6</vt:lpstr>
      <vt:lpstr>Problemas do IPv4  A coexistência do IPv4 e do IPv6</vt:lpstr>
      <vt:lpstr>Representação do Endereço IPv6</vt:lpstr>
      <vt:lpstr>Representação deendereço IPv6 Formatos deendereçamentoIPv6  </vt:lpstr>
      <vt:lpstr> Regra 1 de representação de endereço IPv6 — Omitir zero à esquerda</vt:lpstr>
      <vt:lpstr> Regra 2 de Representação de Endereço IPv6 — Dois-pontos duplos</vt:lpstr>
      <vt:lpstr>12.3 Tipos de endereço IPv6</vt:lpstr>
      <vt:lpstr>Tipo de Endereçamento IPv6  unicast, multicast, anycast</vt:lpstr>
      <vt:lpstr> Tipos de endereços IPv6 Comprimento do prefixo IPv6</vt:lpstr>
      <vt:lpstr> Tipos de endereços IPv6 Endereços IPv6 unicast</vt:lpstr>
      <vt:lpstr>Tipos de endereço IPv6 Uma observação sobre o endereço local exclusivo</vt:lpstr>
      <vt:lpstr>Tipos deendereço  IPv6 GUAIPv6 </vt:lpstr>
      <vt:lpstr>Tipos de endereço IPv6Estrutura GUAIPv6</vt:lpstr>
      <vt:lpstr>Tipos de endereço IPv6  IPv6 LLA</vt:lpstr>
      <vt:lpstr>12.4 Configuração estática GUA e LLA</vt:lpstr>
      <vt:lpstr>Configuração estática GUA e LLA Configuração Estática de GUA em um Roteador</vt:lpstr>
      <vt:lpstr> Configuração estática da GUA e do LLA Configuração estática da GUA em um host do Windows</vt:lpstr>
      <vt:lpstr>Configuração estática de GUA e LLA  Configuração de GUA estática de um endereço Unicast local de link</vt:lpstr>
      <vt:lpstr>12.5 Endereçamento dinâmico para GUAs IPv6</vt:lpstr>
      <vt:lpstr>Endereçamento dinâmico paramensagens IPv6 GUASRS e RA</vt:lpstr>
      <vt:lpstr>Endereçamento dinâmico para GUAS IPv6 Método 1: SLAAC</vt:lpstr>
      <vt:lpstr>Endereçamento dinâmico para IPv6 GUAs Método 2: SLAAC e DHCP sem estado</vt:lpstr>
      <vt:lpstr>Endereçamento dinâmico para GUAs IPv6 Método 3: DHCPv6 com estado</vt:lpstr>
      <vt:lpstr>Endereçamento dinâmico para IPv6 GUAS EUI-64 processo vs. gerado aleatoriamente</vt:lpstr>
      <vt:lpstr>Endereçamento dinâmico para IPv6 GUAS EUI-64 processo</vt:lpstr>
      <vt:lpstr>Endereçamento dinâmico para GUAs IPv6geradosaleatoriamente IDs de interface</vt:lpstr>
      <vt:lpstr>12.6 Endereçamento dinâmico para LLAs IPv6</vt:lpstr>
      <vt:lpstr>Endereçamento dinâmico para LLAs dinâmicos IPv6 LLAs</vt:lpstr>
      <vt:lpstr>Endereçamento dinâmico para LLAs dinâmicos IPv6 LLAs no Windows</vt:lpstr>
      <vt:lpstr>Endereçamento dinâmico para LLAs dinâmicos IPv6 LLAs em Cisco Routers</vt:lpstr>
      <vt:lpstr>Endereçamento dinâmico para IPv6 LLAs Verificar a configuração do endereço IPv6</vt:lpstr>
      <vt:lpstr>Módulo Prática e Quiz Packet Tracer - Configurações Endereçamento IPv6</vt:lpstr>
      <vt:lpstr>12.7 Endereços de multicast IPv6</vt:lpstr>
      <vt:lpstr>Endereços IPv6 multicast  Endereços IPv6 multicast atribuídos</vt:lpstr>
      <vt:lpstr>Endereços multicast IPv6 Endereços demulticast IPv6bem conhecidos</vt:lpstr>
      <vt:lpstr>Endereços IPv6 multicast  Endereços IPv6 multicast do nó solicitado</vt:lpstr>
      <vt:lpstr> Laboratório de Prática de Módulos e Questionários — Identificar Endereços IPv6</vt:lpstr>
      <vt:lpstr>12.8 Sub-rede uma rede IPv6</vt:lpstr>
      <vt:lpstr> Divisão de uma rede IPv6 em sub-redes Divisão em sub-redes usando a ID da sub-rede</vt:lpstr>
      <vt:lpstr>Exemplo de sub-redeIPv6 de redeIPv6</vt:lpstr>
      <vt:lpstr> Divisão de uma rede IPv6 em sub-redes Alocação de sub-rede IPv6</vt:lpstr>
      <vt:lpstr>Sub-rede um roteador de rede IPv6 configurado com sub-redesIPv6</vt:lpstr>
      <vt:lpstr>2.9 - Módulo Prática e Quiz</vt:lpstr>
      <vt:lpstr>Prática do módulo e rastreador do QuizPacket -  implemente um esquema de endereçamento de sub-rede IPv6</vt:lpstr>
      <vt:lpstr>Módulo Prático e Quiz Packet Tracer - Configurar Endereços IPv6 em Dispositivos de Rede - Modo Físico Laboratório – Configurar Enderços IPv6 em Dispositivos de Rede</vt:lpstr>
      <vt:lpstr>Módulo Prática e Quiz O que aprendi neste módulo?</vt:lpstr>
      <vt:lpstr>Módulo Prática e Quiz O que aprendi neste módulo? (Cont.)</vt:lpstr>
      <vt:lpstr>Módulo 12: Conceitos de WLAN  Novos Termos e Comandos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2: Basic Switch and End Device Configuration</dc:title>
  <dc:creator>Stephanie Harvey</dc:creator>
  <cp:lastModifiedBy>ISMAEL MOURA PAREDE</cp:lastModifiedBy>
  <cp:revision>400</cp:revision>
  <dcterms:created xsi:type="dcterms:W3CDTF">2019-10-18T06:21:22Z</dcterms:created>
  <dcterms:modified xsi:type="dcterms:W3CDTF">2025-10-17T14:54:49Z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sync_ProviderInitializationData">
    <vt:lpwstr>https://cisco.jiveon.com</vt:lpwstr>
  </property>
  <property fmtid="{D5CDD505-2E9C-101B-9397-08002B2CF9AE}" pid="3" name="Offisync_UpdateToken">
    <vt:lpwstr>1</vt:lpwstr>
  </property>
  <property fmtid="{D5CDD505-2E9C-101B-9397-08002B2CF9AE}" pid="4" name="Offisync_ServerID">
    <vt:lpwstr>07841bbc-cd3c-4a76-827f-75a2226890f4</vt:lpwstr>
  </property>
  <property fmtid="{D5CDD505-2E9C-101B-9397-08002B2CF9AE}" pid="5" name="Offisync_UniqueId">
    <vt:lpwstr>1702406</vt:lpwstr>
  </property>
  <property fmtid="{D5CDD505-2E9C-101B-9397-08002B2CF9AE}" pid="6" name="Jive_VersionGuid">
    <vt:lpwstr>fd96a0b3-f68d-4727-8e4f-2128d37ed30a</vt:lpwstr>
  </property>
  <property fmtid="{D5CDD505-2E9C-101B-9397-08002B2CF9AE}" pid="7" name="Jive_LatestUserAccountName">
    <vt:lpwstr>alljohns</vt:lpwstr>
  </property>
  <property fmtid="{D5CDD505-2E9C-101B-9397-08002B2CF9AE}" pid="8" name="ArticulateGUID">
    <vt:lpwstr>F9A496F7-57D7-4028-9572-D40DFDF3715A</vt:lpwstr>
  </property>
  <property fmtid="{D5CDD505-2E9C-101B-9397-08002B2CF9AE}" pid="9" name="ArticulatePath">
    <vt:lpwstr>ITE7_Chp9_by_jg</vt:lpwstr>
  </property>
</Properties>
</file>