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2450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97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7068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1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87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36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26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662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697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2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60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B3668F5-3F47-4D43-A8CE-29080759560D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E8EA807-1F68-431D-8BC4-C8763AB6CD63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680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003AE-2A63-4907-A543-54E4356FF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dk1"/>
                </a:solidFill>
                <a:latin typeface="Radio Canada Big"/>
                <a:ea typeface="Radio Canada Big"/>
              </a:rPr>
              <a:t>Cabeamento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8F867A-EAE0-4EDD-A0BC-5B6DFE9D6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Fundamentos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padrões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essenciais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redes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0265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7C2C3-F1B8-409F-B95F-86F0C381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0000"/>
              </a:lnSpc>
              <a:tabLst>
                <a:tab pos="0" algn="l"/>
              </a:tabLst>
            </a:pPr>
            <a:r>
              <a:rPr lang="en-US" dirty="0" err="1">
                <a:solidFill>
                  <a:schemeClr val="dk1"/>
                </a:solidFill>
                <a:latin typeface="Radio Canada Big"/>
                <a:ea typeface="Radio Canada Big"/>
              </a:rPr>
              <a:t>Categorias</a:t>
            </a:r>
            <a:r>
              <a:rPr lang="en-US" dirty="0">
                <a:solidFill>
                  <a:schemeClr val="dk1"/>
                </a:solidFill>
                <a:latin typeface="Radio Canada Big"/>
                <a:ea typeface="Radio Canada Big"/>
              </a:rPr>
              <a:t> de Cabos (CAT5 a</a:t>
            </a:r>
            <a:br>
              <a:rPr lang="fr-FR" dirty="0">
                <a:solidFill>
                  <a:schemeClr val="dk1"/>
                </a:solidFill>
                <a:latin typeface="Arial"/>
              </a:rPr>
            </a:br>
            <a:r>
              <a:rPr lang="en-US" dirty="0">
                <a:solidFill>
                  <a:schemeClr val="dk1"/>
                </a:solidFill>
                <a:latin typeface="Radio Canada Big"/>
                <a:ea typeface="Radio Canada Big"/>
              </a:rPr>
              <a:t> CAT7)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573076-2286-4681-8ADB-AF239A2D5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CAT5:</a:t>
            </a:r>
            <a:r>
              <a:rPr lang="pt-BR" dirty="0"/>
              <a:t> até 100 Mbps, atualmente descontinuado.</a:t>
            </a:r>
          </a:p>
          <a:p>
            <a:r>
              <a:rPr lang="pt-BR" b="1" dirty="0"/>
              <a:t>CAT5e:</a:t>
            </a:r>
            <a:r>
              <a:rPr lang="pt-BR" dirty="0"/>
              <a:t> até 1 </a:t>
            </a:r>
            <a:r>
              <a:rPr lang="pt-BR" dirty="0" err="1"/>
              <a:t>Gbps</a:t>
            </a:r>
            <a:r>
              <a:rPr lang="pt-BR" dirty="0"/>
              <a:t>, muito usado.</a:t>
            </a:r>
          </a:p>
          <a:p>
            <a:r>
              <a:rPr lang="pt-BR" b="1" dirty="0"/>
              <a:t>CAT6:</a:t>
            </a:r>
            <a:r>
              <a:rPr lang="pt-BR" dirty="0"/>
              <a:t> até 10 </a:t>
            </a:r>
            <a:r>
              <a:rPr lang="pt-BR" dirty="0" err="1"/>
              <a:t>Gbps</a:t>
            </a:r>
            <a:r>
              <a:rPr lang="pt-BR" dirty="0"/>
              <a:t> (em distâncias reduzidas — tipicamente até ~55 m para 10 </a:t>
            </a:r>
            <a:r>
              <a:rPr lang="pt-BR" dirty="0" err="1"/>
              <a:t>Gbps</a:t>
            </a:r>
            <a:r>
              <a:rPr lang="pt-BR" dirty="0"/>
              <a:t>).</a:t>
            </a:r>
          </a:p>
          <a:p>
            <a:r>
              <a:rPr lang="pt-BR" b="1" dirty="0"/>
              <a:t>CAT6A:</a:t>
            </a:r>
            <a:r>
              <a:rPr lang="pt-BR" dirty="0"/>
              <a:t> até 10 </a:t>
            </a:r>
            <a:r>
              <a:rPr lang="pt-BR" dirty="0" err="1"/>
              <a:t>Gbps</a:t>
            </a:r>
            <a:r>
              <a:rPr lang="pt-BR" dirty="0"/>
              <a:t> com blindagem reforçada e estabilidade até 100 m.</a:t>
            </a:r>
          </a:p>
          <a:p>
            <a:r>
              <a:rPr lang="pt-BR" b="1" dirty="0"/>
              <a:t>CAT7:</a:t>
            </a:r>
            <a:r>
              <a:rPr lang="pt-BR" dirty="0"/>
              <a:t> blindagem completa, aplicações profissionais e data centers.</a:t>
            </a:r>
          </a:p>
        </p:txBody>
      </p:sp>
    </p:spTree>
    <p:extLst>
      <p:ext uri="{BB962C8B-B14F-4D97-AF65-F5344CB8AC3E}">
        <p14:creationId xmlns:p14="http://schemas.microsoft.com/office/powerpoint/2010/main" val="213977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5F260-A88F-40BB-9481-E6FF7813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dk1"/>
                </a:solidFill>
                <a:latin typeface="Radio Canada Big"/>
                <a:ea typeface="Radio Canada Big"/>
              </a:rPr>
              <a:t>Padrões</a:t>
            </a:r>
            <a:r>
              <a:rPr lang="en-US" dirty="0">
                <a:solidFill>
                  <a:schemeClr val="dk1"/>
                </a:solidFill>
                <a:latin typeface="Radio Canada Big"/>
                <a:ea typeface="Radio Canada Big"/>
              </a:rPr>
              <a:t> T568A e T568B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8151E8-FE8C-4F8F-BE6F-E438D4F96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26948" indent="-342900">
              <a:lnSpc>
                <a:spcPct val="150000"/>
              </a:lnSpc>
              <a:tabLst>
                <a:tab pos="0" algn="l"/>
              </a:tabLst>
            </a:pP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Os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padrões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definem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ordem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dos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fios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no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conector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RJ45 para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garantir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compatibilidade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desempenho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 marL="726948" indent="-342900">
              <a:lnSpc>
                <a:spcPct val="150000"/>
              </a:lnSpc>
              <a:tabLst>
                <a:tab pos="0" algn="l"/>
              </a:tabLst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T568B é o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mais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comum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no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Brasil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enquanto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T568A é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alternativa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. 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 marL="726948" indent="-342900">
              <a:lnSpc>
                <a:spcPct val="150000"/>
              </a:lnSpc>
              <a:tabLst>
                <a:tab pos="0" algn="l"/>
              </a:tabLst>
            </a:pP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Manter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mesma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ordem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em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ambas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as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extremidades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evita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falhas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na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transmissão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. 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aplicação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correta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é crucial para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cabos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</a:rPr>
              <a:t>diretos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</a:rPr>
              <a:t> e crossover.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38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70CFD-5781-455F-A008-D8E98211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dk1"/>
                </a:solidFill>
                <a:latin typeface="Radio Canada Big"/>
                <a:ea typeface="Radio Canada Big"/>
              </a:rPr>
              <a:t>Padrões</a:t>
            </a:r>
            <a:r>
              <a:rPr lang="en-US" dirty="0">
                <a:solidFill>
                  <a:schemeClr val="dk1"/>
                </a:solidFill>
                <a:latin typeface="Radio Canada Big"/>
                <a:ea typeface="Radio Canada Big"/>
              </a:rPr>
              <a:t> T568A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E7F4E5-76AB-4B5C-9ACA-7DEA91EF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Branco/Verde</a:t>
            </a:r>
          </a:p>
          <a:p>
            <a:r>
              <a:rPr lang="pt-BR" dirty="0"/>
              <a:t>Verde</a:t>
            </a:r>
          </a:p>
          <a:p>
            <a:r>
              <a:rPr lang="pt-BR" dirty="0"/>
              <a:t>Branco/Laranja</a:t>
            </a:r>
          </a:p>
          <a:p>
            <a:r>
              <a:rPr lang="pt-BR" dirty="0"/>
              <a:t>Azul</a:t>
            </a:r>
          </a:p>
          <a:p>
            <a:r>
              <a:rPr lang="pt-BR" dirty="0"/>
              <a:t>Branco/Azul</a:t>
            </a:r>
          </a:p>
          <a:p>
            <a:r>
              <a:rPr lang="pt-BR" dirty="0"/>
              <a:t>Laranja</a:t>
            </a:r>
          </a:p>
          <a:p>
            <a:r>
              <a:rPr lang="pt-BR" dirty="0"/>
              <a:t>Branco/Marrom</a:t>
            </a:r>
          </a:p>
          <a:p>
            <a:r>
              <a:rPr lang="pt-BR" dirty="0"/>
              <a:t>Marrom</a:t>
            </a:r>
          </a:p>
        </p:txBody>
      </p:sp>
    </p:spTree>
    <p:extLst>
      <p:ext uri="{BB962C8B-B14F-4D97-AF65-F5344CB8AC3E}">
        <p14:creationId xmlns:p14="http://schemas.microsoft.com/office/powerpoint/2010/main" val="110308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05480-B76F-4C1B-85C4-FBD48B75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dk1"/>
                </a:solidFill>
                <a:latin typeface="Radio Canada Big"/>
                <a:ea typeface="Radio Canada Big"/>
              </a:rPr>
              <a:t>Padrões</a:t>
            </a:r>
            <a:r>
              <a:rPr lang="en-US" dirty="0">
                <a:solidFill>
                  <a:schemeClr val="dk1"/>
                </a:solidFill>
                <a:latin typeface="Radio Canada Big"/>
                <a:ea typeface="Radio Canada Big"/>
              </a:rPr>
              <a:t> T568B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6F41FC-CBEE-466C-A7D9-0B4E2F567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Branco/Laranja</a:t>
            </a:r>
          </a:p>
          <a:p>
            <a:r>
              <a:rPr lang="pt-BR" dirty="0"/>
              <a:t>Laranja</a:t>
            </a:r>
          </a:p>
          <a:p>
            <a:r>
              <a:rPr lang="pt-BR" dirty="0"/>
              <a:t>Branco/Verde</a:t>
            </a:r>
          </a:p>
          <a:p>
            <a:r>
              <a:rPr lang="pt-BR" dirty="0"/>
              <a:t>Azul</a:t>
            </a:r>
          </a:p>
          <a:p>
            <a:r>
              <a:rPr lang="pt-BR" dirty="0"/>
              <a:t>Branco/Azul</a:t>
            </a:r>
          </a:p>
          <a:p>
            <a:r>
              <a:rPr lang="pt-BR" dirty="0"/>
              <a:t>Verde</a:t>
            </a:r>
          </a:p>
          <a:p>
            <a:r>
              <a:rPr lang="pt-BR" dirty="0"/>
              <a:t>Branco/Marrom</a:t>
            </a:r>
          </a:p>
          <a:p>
            <a:r>
              <a:rPr lang="pt-BR" dirty="0"/>
              <a:t>Marrom</a:t>
            </a:r>
          </a:p>
          <a:p>
            <a:r>
              <a:rPr lang="pt-BR" i="1" dirty="0"/>
              <a:t>Observação:</a:t>
            </a:r>
            <a:r>
              <a:rPr lang="pt-BR" dirty="0"/>
              <a:t> T568B é o padrão mais usado no Brasil. O essencial é manter a mesma ordem nas duas pontas para cabos diretos.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55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692E8-65E4-4CF4-B7F4-AB9ACAD8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Cabo Crossover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24225-CF23-4DB2-B6BC-41CFAE09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Usado historicamente para conectar dispositivos iguais (PC - PC, Switch -Switch).</a:t>
            </a:r>
          </a:p>
          <a:p>
            <a:r>
              <a:rPr lang="pt-BR" dirty="0"/>
              <a:t>Montagem: </a:t>
            </a:r>
            <a:r>
              <a:rPr lang="pt-BR" b="1" dirty="0"/>
              <a:t>uma ponta T568A e a outra ponta T568B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548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59968-8DDF-4410-894C-F8E0663E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Ferramentas Necessárias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F3EC78-D54E-43DD-94FA-C9019BBCC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Alicate de crimpagem (para RJ45)</a:t>
            </a:r>
          </a:p>
          <a:p>
            <a:r>
              <a:rPr lang="pt-BR" dirty="0"/>
              <a:t>Conectores RJ45 (compatíveis com CAT5e/CAT6)</a:t>
            </a:r>
          </a:p>
          <a:p>
            <a:r>
              <a:rPr lang="pt-BR" dirty="0"/>
              <a:t>Testador de cabos (verifica continuidade e ordem dos pinos)</a:t>
            </a:r>
          </a:p>
          <a:p>
            <a:r>
              <a:rPr lang="pt-BR" dirty="0" err="1"/>
              <a:t>Decapador</a:t>
            </a:r>
            <a:r>
              <a:rPr lang="pt-BR" dirty="0"/>
              <a:t> ou estilete</a:t>
            </a:r>
          </a:p>
          <a:p>
            <a:r>
              <a:rPr lang="pt-BR" dirty="0"/>
              <a:t>Tesoura ou alicate de corte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370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19CB9-295F-4CFE-9C6D-C4295FD57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Passo a Passo da Crimpagem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A89096-0287-4B55-8F9C-0CDFC4F2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Corte o cabo no comprimento desejado.</a:t>
            </a:r>
          </a:p>
          <a:p>
            <a:r>
              <a:rPr lang="pt-BR" dirty="0"/>
              <a:t>Remova aproximadamente 2 cm da capa externa.</a:t>
            </a:r>
          </a:p>
          <a:p>
            <a:r>
              <a:rPr lang="pt-BR" dirty="0"/>
              <a:t>Identifique e separe os pares torcidos (mantenha-os juntos).</a:t>
            </a:r>
          </a:p>
          <a:p>
            <a:r>
              <a:rPr lang="pt-BR" dirty="0"/>
              <a:t>Organize os fios na ordem do padrão escolhido (T568B ou T568A).</a:t>
            </a:r>
          </a:p>
          <a:p>
            <a:r>
              <a:rPr lang="pt-BR" dirty="0"/>
              <a:t>Corte as pontas deixando ~1,5 cm de fios expostos, alinhados.</a:t>
            </a:r>
          </a:p>
          <a:p>
            <a:r>
              <a:rPr lang="pt-BR" dirty="0"/>
              <a:t>Insira os fios no conector RJ45 com os contatos metálicos voltados para cima; verifique se os fios chegam até o fundo.</a:t>
            </a:r>
          </a:p>
          <a:p>
            <a:r>
              <a:rPr lang="pt-BR" dirty="0"/>
              <a:t>Coloque o conector no alicate e </a:t>
            </a:r>
            <a:r>
              <a:rPr lang="pt-BR" dirty="0" err="1"/>
              <a:t>crimpe</a:t>
            </a:r>
            <a:r>
              <a:rPr lang="pt-BR" dirty="0"/>
              <a:t> firmemente.</a:t>
            </a:r>
          </a:p>
          <a:p>
            <a:r>
              <a:rPr lang="pt-BR" dirty="0"/>
              <a:t>Teste o cabo com o testador.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031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195C1-4D20-4EE4-8689-61E2324B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Direto x Crossover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086C94-0CE8-4B3A-93FE-A8C56E6FE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Direto (Patch):</a:t>
            </a:r>
            <a:r>
              <a:rPr lang="pt-BR" dirty="0"/>
              <a:t> mesma sequência nas duas pontas — usado para PC-Switch, PC-Roteador.</a:t>
            </a:r>
          </a:p>
          <a:p>
            <a:r>
              <a:rPr lang="pt-BR" b="1" dirty="0"/>
              <a:t>Crossover:</a:t>
            </a:r>
            <a:r>
              <a:rPr lang="pt-BR" dirty="0"/>
              <a:t> troca os pares de transmissão/recepção</a:t>
            </a:r>
          </a:p>
        </p:txBody>
      </p:sp>
    </p:spTree>
    <p:extLst>
      <p:ext uri="{BB962C8B-B14F-4D97-AF65-F5344CB8AC3E}">
        <p14:creationId xmlns:p14="http://schemas.microsoft.com/office/powerpoint/2010/main" val="253157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B5372-09B2-44C6-8368-C07196A2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Diagnóstico Rápido de Problemas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24594-E940-4629-8ADC-9854E0CED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Pisca fora de ordem (</a:t>
            </a:r>
            <a:r>
              <a:rPr lang="pt-BR" b="1" dirty="0" err="1"/>
              <a:t>ex</a:t>
            </a:r>
            <a:r>
              <a:rPr lang="pt-BR" b="1" dirty="0"/>
              <a:t>: 1-3-2-6):</a:t>
            </a:r>
            <a:r>
              <a:rPr lang="pt-BR" dirty="0"/>
              <a:t> pares trocados → refazer a crimpagem.</a:t>
            </a:r>
          </a:p>
          <a:p>
            <a:r>
              <a:rPr lang="pt-BR" b="1" dirty="0"/>
              <a:t>Falta um ou dois pinos:</a:t>
            </a:r>
            <a:r>
              <a:rPr lang="pt-BR" dirty="0"/>
              <a:t> fio não inserido até o fundo ou mau contato → </a:t>
            </a:r>
            <a:r>
              <a:rPr lang="pt-BR" dirty="0" err="1"/>
              <a:t>recrimpagem</a:t>
            </a:r>
            <a:r>
              <a:rPr lang="pt-BR" dirty="0"/>
              <a:t>/troca do conector.</a:t>
            </a:r>
          </a:p>
          <a:p>
            <a:r>
              <a:rPr lang="pt-BR" b="1" dirty="0"/>
              <a:t>Funciona só 100 Mbps:</a:t>
            </a:r>
            <a:r>
              <a:rPr lang="pt-BR" dirty="0"/>
              <a:t> possivelmente pares misturados ou par com falha — conferir pares e comprimento da capa retirada.</a:t>
            </a:r>
          </a:p>
          <a:p>
            <a:r>
              <a:rPr lang="pt-BR" b="1" dirty="0"/>
              <a:t>Nenhum sinal:</a:t>
            </a:r>
            <a:r>
              <a:rPr lang="pt-BR" dirty="0"/>
              <a:t> conector mal inserido, cabo rompido internamente ou problema no testador.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986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E74CE-048B-4B12-876E-131152FC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OSI – Aula Prática de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A34C41-2C9F-4209-9B62-ED89DCFDD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referência para comunicação em redes</a:t>
            </a:r>
          </a:p>
          <a:p>
            <a:r>
              <a:rPr lang="pt-BR" dirty="0"/>
              <a:t>Divide o processo em </a:t>
            </a:r>
            <a:r>
              <a:rPr lang="pt-BR" b="1" dirty="0"/>
              <a:t>7 camadas</a:t>
            </a:r>
            <a:endParaRPr lang="pt-BR" dirty="0"/>
          </a:p>
          <a:p>
            <a:r>
              <a:rPr lang="pt-BR" dirty="0"/>
              <a:t>Facilita entendimento, padronização e diagnóstico</a:t>
            </a:r>
          </a:p>
          <a:p>
            <a:r>
              <a:rPr lang="pt-BR" dirty="0"/>
              <a:t>Útil para estudar protocolos e troubleshooting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91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CD357-7213-4AE5-A58B-9AD7626B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entender o OSI?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5DEC9D-BF9E-4121-ADDA-690F27280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Ajuda a resolver problemas de rede de forma organizada</a:t>
            </a:r>
          </a:p>
          <a:p>
            <a:r>
              <a:rPr lang="pt-BR" dirty="0"/>
              <a:t>Permite mapear protocolos para camadas específicas</a:t>
            </a:r>
          </a:p>
          <a:p>
            <a:r>
              <a:rPr lang="pt-BR" dirty="0"/>
              <a:t>Fundamento para certificações e práticas de TI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8078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43689-737B-4CDE-8C79-CBBC6D93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As 7 Camadas do Modelo OSI</a:t>
            </a:r>
            <a:br>
              <a:rPr lang="pt-BR" b="1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4A627B-7FC8-4620-85FA-2D590456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1 — Física</a:t>
            </a:r>
            <a:endParaRPr lang="pt-BR" dirty="0"/>
          </a:p>
          <a:p>
            <a:r>
              <a:rPr lang="pt-BR" b="1" dirty="0"/>
              <a:t>2 — Enlace (Data Link)</a:t>
            </a:r>
            <a:endParaRPr lang="pt-BR" dirty="0"/>
          </a:p>
          <a:p>
            <a:r>
              <a:rPr lang="pt-BR" b="1" dirty="0"/>
              <a:t>3 — Rede</a:t>
            </a:r>
            <a:endParaRPr lang="pt-BR" dirty="0"/>
          </a:p>
          <a:p>
            <a:r>
              <a:rPr lang="pt-BR" b="1" dirty="0"/>
              <a:t>4 — Transporte</a:t>
            </a:r>
            <a:endParaRPr lang="pt-BR" dirty="0"/>
          </a:p>
          <a:p>
            <a:r>
              <a:rPr lang="pt-BR" b="1" dirty="0"/>
              <a:t>5 — Sessão</a:t>
            </a:r>
            <a:endParaRPr lang="pt-BR" dirty="0"/>
          </a:p>
          <a:p>
            <a:r>
              <a:rPr lang="pt-BR" b="1" dirty="0"/>
              <a:t>6 — Apresentação</a:t>
            </a:r>
            <a:endParaRPr lang="pt-BR" dirty="0"/>
          </a:p>
          <a:p>
            <a:r>
              <a:rPr lang="pt-BR" b="1" dirty="0"/>
              <a:t>7 — Aplicação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50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7E910-07A8-4254-A645-451D91E9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Resumo das Camadas</a:t>
            </a:r>
            <a:br>
              <a:rPr lang="pt-BR" b="1" dirty="0"/>
            </a:b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997EF70-869C-470D-AB65-5264E4A58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725332"/>
              </p:ext>
            </p:extLst>
          </p:nvPr>
        </p:nvGraphicFramePr>
        <p:xfrm>
          <a:off x="1038687" y="1266823"/>
          <a:ext cx="11153313" cy="4503849"/>
        </p:xfrm>
        <a:graphic>
          <a:graphicData uri="http://schemas.openxmlformats.org/drawingml/2006/table">
            <a:tbl>
              <a:tblPr/>
              <a:tblGrid>
                <a:gridCol w="2894121">
                  <a:extLst>
                    <a:ext uri="{9D8B030D-6E8A-4147-A177-3AD203B41FA5}">
                      <a16:colId xmlns:a16="http://schemas.microsoft.com/office/drawing/2014/main" val="3341462364"/>
                    </a:ext>
                  </a:extLst>
                </a:gridCol>
                <a:gridCol w="8259192">
                  <a:extLst>
                    <a:ext uri="{9D8B030D-6E8A-4147-A177-3AD203B41FA5}">
                      <a16:colId xmlns:a16="http://schemas.microsoft.com/office/drawing/2014/main" val="777793655"/>
                    </a:ext>
                  </a:extLst>
                </a:gridCol>
              </a:tblGrid>
              <a:tr h="632998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7 – Aplicação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Interface com aplicações e usuário (HTTP, DNS, FTP)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198704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6 – Apresentação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Formato, codificação e criptografia (SSL/TLS)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170640"/>
                  </a:ext>
                </a:extLst>
              </a:tr>
              <a:tr h="57704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 – Sessão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Gerencia sessões e diálogos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886997"/>
                  </a:ext>
                </a:extLst>
              </a:tr>
              <a:tr h="648069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 – Transporte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Entrega confiável e controle de fluxo (TCP/UDP)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28960"/>
                  </a:ext>
                </a:extLst>
              </a:tr>
              <a:tr h="488272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 – Rede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Roteamento e endereçamento (IP)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224263"/>
                  </a:ext>
                </a:extLst>
              </a:tr>
              <a:tr h="745725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 – Enlace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Comunicação local e MAC (Ethernet, Switch)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968494"/>
                  </a:ext>
                </a:extLst>
              </a:tr>
              <a:tr h="683767">
                <a:tc>
                  <a:txBody>
                    <a:bodyPr/>
                    <a:lstStyle/>
                    <a:p>
                      <a:pPr marL="384048" indent="-384048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Char char="■"/>
                      </a:pPr>
                      <a:r>
                        <a:rPr lang="pt-BR" sz="1800" b="1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 – Física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4000"/>
                        </a:lnSpc>
                        <a:spcBef>
                          <a:spcPts val="1000"/>
                        </a:spcBef>
                        <a:spcAft>
                          <a:spcPts val="200"/>
                        </a:spcAft>
                        <a:buFont typeface="Franklin Gothic Book" panose="020B0503020102020204" pitchFamily="34" charset="0"/>
                        <a:buNone/>
                      </a:pPr>
                      <a:r>
                        <a:rPr lang="pt-BR" sz="18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Meio físico e sinais (cabos, Wi-Fi, fibra)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735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425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F96A1-A533-4CBD-9381-C9A1AA98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Enviando um Pacote</a:t>
            </a:r>
            <a:br>
              <a:rPr lang="pt-BR" b="1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D1D420-AF3D-4841-8FE5-33E60A6B4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Aplicação:</a:t>
            </a:r>
            <a:r>
              <a:rPr lang="pt-BR" dirty="0"/>
              <a:t> Escrever a mensagem</a:t>
            </a:r>
          </a:p>
          <a:p>
            <a:r>
              <a:rPr lang="pt-BR" b="1" dirty="0"/>
              <a:t>Apresentação:</a:t>
            </a:r>
            <a:r>
              <a:rPr lang="pt-BR" dirty="0"/>
              <a:t> Colocar no formato/pacote</a:t>
            </a:r>
          </a:p>
          <a:p>
            <a:r>
              <a:rPr lang="pt-BR" b="1" dirty="0"/>
              <a:t>Sessão:</a:t>
            </a:r>
            <a:r>
              <a:rPr lang="pt-BR" dirty="0"/>
              <a:t> Confirmar destinatário e canal</a:t>
            </a:r>
          </a:p>
          <a:p>
            <a:r>
              <a:rPr lang="pt-BR" b="1" dirty="0"/>
              <a:t>Transporte:</a:t>
            </a:r>
            <a:r>
              <a:rPr lang="pt-BR" dirty="0"/>
              <a:t> Escolher modo confiável/rápido</a:t>
            </a:r>
          </a:p>
          <a:p>
            <a:r>
              <a:rPr lang="pt-BR" b="1" dirty="0"/>
              <a:t>Rede:</a:t>
            </a:r>
            <a:r>
              <a:rPr lang="pt-BR" dirty="0"/>
              <a:t> Definir rotas</a:t>
            </a:r>
          </a:p>
          <a:p>
            <a:r>
              <a:rPr lang="pt-BR" b="1" dirty="0"/>
              <a:t>Enlace:</a:t>
            </a:r>
            <a:r>
              <a:rPr lang="pt-BR" dirty="0"/>
              <a:t> Endereço local (MAC)</a:t>
            </a:r>
          </a:p>
          <a:p>
            <a:r>
              <a:rPr lang="pt-BR" b="1" dirty="0"/>
              <a:t>Física:</a:t>
            </a:r>
            <a:r>
              <a:rPr lang="pt-BR" dirty="0"/>
              <a:t> Transporte físico (carteiro/cabo)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353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661AF-4040-4C78-9EAD-D06C0341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Onde usamos isso no dia a dia?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43C26B-FB28-458F-A1EB-627CA8C95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Configurar IP / DHCP (Camada 3)</a:t>
            </a:r>
          </a:p>
          <a:p>
            <a:r>
              <a:rPr lang="pt-BR" dirty="0"/>
              <a:t>Testar conectividade com </a:t>
            </a:r>
            <a:r>
              <a:rPr lang="pt-BR" dirty="0" err="1"/>
              <a:t>ping</a:t>
            </a:r>
            <a:r>
              <a:rPr lang="pt-BR" dirty="0"/>
              <a:t> e </a:t>
            </a:r>
            <a:r>
              <a:rPr lang="pt-BR" dirty="0" err="1"/>
              <a:t>tracert</a:t>
            </a:r>
            <a:r>
              <a:rPr lang="pt-BR" dirty="0"/>
              <a:t> (Camada 3/4)</a:t>
            </a:r>
          </a:p>
          <a:p>
            <a:r>
              <a:rPr lang="pt-BR" dirty="0" err="1"/>
              <a:t>Crimpar</a:t>
            </a:r>
            <a:r>
              <a:rPr lang="pt-BR" dirty="0"/>
              <a:t> cabos e diagnosticar link (Camadas 1 e 2)</a:t>
            </a:r>
          </a:p>
          <a:p>
            <a:r>
              <a:rPr lang="pt-BR" dirty="0"/>
              <a:t>Entender problemas de aplicação como DNS e HTTP (Camada 7)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5401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58AC8-EDF3-460C-8338-43B51A43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0E6DD8-147A-4409-B676-22A1E0AC2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40621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Cortar</Template>
  <TotalTime>187</TotalTime>
  <Words>771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Arial</vt:lpstr>
      <vt:lpstr>Franklin Gothic Book</vt:lpstr>
      <vt:lpstr>OpenSymbol</vt:lpstr>
      <vt:lpstr>Radio Canada Big</vt:lpstr>
      <vt:lpstr>Cortar</vt:lpstr>
      <vt:lpstr>Cabeamento</vt:lpstr>
      <vt:lpstr>Categorias de Cabos (CAT5 a  CAT7)</vt:lpstr>
      <vt:lpstr>Padrões T568A e T568B</vt:lpstr>
      <vt:lpstr>Padrões T568A</vt:lpstr>
      <vt:lpstr>Padrões T568B</vt:lpstr>
      <vt:lpstr>Cabo Crossover </vt:lpstr>
      <vt:lpstr>Ferramentas Necessárias </vt:lpstr>
      <vt:lpstr>Passo a Passo da Crimpagem </vt:lpstr>
      <vt:lpstr>Direto x Crossover </vt:lpstr>
      <vt:lpstr>Diagnóstico Rápido de Problemas </vt:lpstr>
      <vt:lpstr>Modelo OSI – Aula Prática de Redes</vt:lpstr>
      <vt:lpstr>Por que entender o OSI? </vt:lpstr>
      <vt:lpstr>As 7 Camadas do Modelo OSI  </vt:lpstr>
      <vt:lpstr>Resumo das Camadas </vt:lpstr>
      <vt:lpstr>Enviando um Pacote  </vt:lpstr>
      <vt:lpstr>Onde usamos isso no dia a dia?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Cabeamento</dc:title>
  <dc:creator>Rafael</dc:creator>
  <cp:lastModifiedBy>Rafael</cp:lastModifiedBy>
  <cp:revision>4</cp:revision>
  <dcterms:created xsi:type="dcterms:W3CDTF">2025-11-14T20:28:40Z</dcterms:created>
  <dcterms:modified xsi:type="dcterms:W3CDTF">2025-11-14T23:35:44Z</dcterms:modified>
</cp:coreProperties>
</file>