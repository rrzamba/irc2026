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6" r:id="rId3"/>
    <p:sldId id="287" r:id="rId4"/>
    <p:sldId id="288" r:id="rId5"/>
    <p:sldId id="268" r:id="rId6"/>
    <p:sldId id="291" r:id="rId7"/>
    <p:sldId id="292" r:id="rId8"/>
    <p:sldId id="293" r:id="rId9"/>
    <p:sldId id="294" r:id="rId10"/>
    <p:sldId id="296" r:id="rId11"/>
    <p:sldId id="297" r:id="rId12"/>
    <p:sldId id="298" r:id="rId13"/>
    <p:sldId id="295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72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17614-E60B-4B10-BD9E-E52E4C7EF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6AA144-A392-4C1C-8C9B-DB8CA533B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289367-0667-4EDB-87B3-2A7796B7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C1ACD4-68BC-46FF-91B6-FF3FD5F9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BEB6AA-8076-45B9-AD0F-3F735C73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9431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1CD9B-BABC-4885-BF42-1E1E36FC8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03CF93-5243-4ECA-AC2D-0C731006D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65B500-F201-4FF4-9C2B-4BC829A1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919F5E-114A-421E-BCE5-D02EA48B9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8493C3-408F-4E70-88B2-13B7EA91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45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ABA27-E6D1-4552-8C02-9933AC886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C72BE9-5C53-423F-A2D3-F5B01422B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A6C690-EE80-4BB0-87CE-6DB93604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2AB7F3-5E6A-4513-A465-2B8BB379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3D87E4-2F89-49BA-9219-C416B4A1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58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78064-6E3F-403D-A197-6A5ED665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B7D23E-FC64-427B-BABA-DA879EBE0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17437A-D8AE-4957-97BA-EB0AEB0EE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19181D-D5FE-47DC-8A62-FFAF7B47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F8505-BA56-4503-96D8-ABB85F3C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9CAAE5-9D34-4BB3-9BA7-07443D09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63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F561F-A9D2-4DAA-9274-B05590B6B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76C936-CEB4-4C50-B3B9-CBDAA7C5E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280A05-07DB-4816-AB30-421348126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5AF117F-0B13-4572-BC84-4B2C418EA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B1869D-144E-4D69-9BDB-7B483F9E2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91EBD6F-04AE-4543-B54F-69066ADA2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A4310BA-8B53-4F06-B711-9810D0EC2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4B31AE9-C651-4B13-8CD2-0073C555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212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918B2-1E10-468A-A9CE-9B73BAC4C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2C73D0-6119-4338-B1FC-E7F2C858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581D4B1-6019-4DBD-8B11-4214ECF30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031F8A-2694-438F-83FB-FDE6F408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823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F6FF2F0-77B0-4B0B-94A0-B5F80350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6753B1-DFD5-4B28-A3A8-32891EF0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31B632-6C8D-4D82-BC64-8449DE7D7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437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86C21-8B11-4320-86C8-2A1F4043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3F7974-FC2C-4827-8ED9-54B3F013E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9000F-4BEF-4B65-9BD4-BBE2FAA55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245B5E-011A-4729-A04B-5BDE0D28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EE4AC1-4D71-41BF-B23E-25E16078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1DCDEF-2636-4F12-9C79-A9168F25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422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C08AA-8DB7-4CC9-86EF-1EB438E7E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61EDE2-CCAB-42DA-AD78-0BE012BA2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17D19C-15D5-4F24-A27E-C659480BC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910F02-1B9A-4DD7-A988-255B08C29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3001FE-DBFC-48C9-BC53-838EF478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86735D-0CF0-4A00-8964-61A3318A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045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5C18B8-2310-4049-B1B0-9DD9E7EC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DACC6B-D406-45B1-865D-85A1D1121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7E1836-3B56-4CD3-B7CA-ABAA85CC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9A8AC3-5757-480B-828D-A3096F88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F82753-53E6-41C1-9E6E-2BA2C524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99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2617E3-0B3A-48EC-B697-B282B4A5D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AC2F33-584D-4D0D-89C7-93B9F7806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A12BC5-88F3-4DE6-B9F4-372E744D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100DD8-5758-450D-9948-F82DF635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20AA4E-29AD-4695-AF89-58A1E18F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247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6066F94-B765-43E2-8DEC-249D343C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BCC3E5-4A67-40B5-86A2-46822C876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868AA9-764B-489A-9F1A-83C038DFD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04BD-8302-4685-A0CA-9EE90DAB7BC4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41CC3D-B5E7-45A2-871B-84445ED02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F04659-C9A1-4400-8800-B6C9BD264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50ADA-C8FE-4C24-8C1C-630D25F5A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50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Redes de Computadores e Aplicações </a:t>
            </a:r>
            <a:br>
              <a:rPr lang="pt-BR" dirty="0"/>
            </a:br>
            <a:r>
              <a:rPr lang="pt-BR" dirty="0"/>
              <a:t> Modelo OSI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RAFAEL ZAMBONI</a:t>
            </a:r>
          </a:p>
        </p:txBody>
      </p:sp>
      <p:pic>
        <p:nvPicPr>
          <p:cNvPr id="1030" name="Picture 6" descr="Ozzy Osbourne, Black Sabbath Lead Singer Turned Reality TV ...">
            <a:extLst>
              <a:ext uri="{FF2B5EF4-FFF2-40B4-BE49-F238E27FC236}">
                <a16:creationId xmlns:a16="http://schemas.microsoft.com/office/drawing/2014/main" id="{3D470AA1-1479-4AB0-BAF3-C64E8399D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928" y="3422125"/>
            <a:ext cx="3671350" cy="367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Protocolos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Protocolo é a “linguagem” usada para computadores “conversarem” em uma rede</a:t>
            </a:r>
          </a:p>
          <a:p>
            <a:endParaRPr lang="pt-BR" dirty="0"/>
          </a:p>
          <a:p>
            <a:r>
              <a:rPr lang="pt-BR" dirty="0"/>
              <a:t>Vários protocolos</a:t>
            </a:r>
          </a:p>
          <a:p>
            <a:endParaRPr lang="pt-BR" dirty="0"/>
          </a:p>
          <a:p>
            <a:r>
              <a:rPr lang="pt-BR" dirty="0" err="1"/>
              <a:t>Encapsulamento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Teórico OSI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ISO (</a:t>
            </a:r>
            <a:r>
              <a:rPr lang="pt-BR" dirty="0" err="1"/>
              <a:t>International</a:t>
            </a:r>
            <a:r>
              <a:rPr lang="pt-BR" dirty="0"/>
              <a:t> </a:t>
            </a:r>
            <a:r>
              <a:rPr lang="pt-BR" dirty="0" err="1"/>
              <a:t>Organization</a:t>
            </a:r>
            <a:r>
              <a:rPr lang="pt-BR" dirty="0"/>
              <a:t> for </a:t>
            </a:r>
            <a:r>
              <a:rPr lang="pt-BR" dirty="0" err="1"/>
              <a:t>Standardization</a:t>
            </a:r>
            <a:r>
              <a:rPr lang="pt-BR" dirty="0"/>
              <a:t>) desenvolveu um modelo de referência OSI (Open Systems Interconnection)</a:t>
            </a:r>
          </a:p>
          <a:p>
            <a:endParaRPr lang="pt-BR" dirty="0"/>
          </a:p>
          <a:p>
            <a:r>
              <a:rPr lang="pt-BR" dirty="0"/>
              <a:t>Modelo OSI é um modelo de 7 camadas, criada para rede de comutação de pacotes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2" y="1628800"/>
            <a:ext cx="8031432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7E910-07A8-4254-A645-451D91E9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Resumo das Camadas</a:t>
            </a:r>
            <a:br>
              <a:rPr lang="pt-BR" b="1" dirty="0"/>
            </a:br>
            <a:endParaRPr lang="pt-BR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997EF70-869C-470D-AB65-5264E4A58D1C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038687" y="1266823"/>
          <a:ext cx="11153313" cy="4503849"/>
        </p:xfrm>
        <a:graphic>
          <a:graphicData uri="http://schemas.openxmlformats.org/drawingml/2006/table">
            <a:tbl>
              <a:tblPr/>
              <a:tblGrid>
                <a:gridCol w="2894121">
                  <a:extLst>
                    <a:ext uri="{9D8B030D-6E8A-4147-A177-3AD203B41FA5}">
                      <a16:colId xmlns:a16="http://schemas.microsoft.com/office/drawing/2014/main" val="3341462364"/>
                    </a:ext>
                  </a:extLst>
                </a:gridCol>
                <a:gridCol w="8259192">
                  <a:extLst>
                    <a:ext uri="{9D8B030D-6E8A-4147-A177-3AD203B41FA5}">
                      <a16:colId xmlns:a16="http://schemas.microsoft.com/office/drawing/2014/main" val="777793655"/>
                    </a:ext>
                  </a:extLst>
                </a:gridCol>
              </a:tblGrid>
              <a:tr h="632998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7 – Aplicação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Interface com aplicações e usuário (HTTP, DNS, FTP)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198704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6 – Apresentação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Formato, codificação e criptografia (SSL/TLS)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6170640"/>
                  </a:ext>
                </a:extLst>
              </a:tr>
              <a:tr h="577049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 – Sessão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Gerencia sessões e diálogos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886997"/>
                  </a:ext>
                </a:extLst>
              </a:tr>
              <a:tr h="648069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 – Transporte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Entrega confiável e controle de fluxo (TCP/UDP)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28960"/>
                  </a:ext>
                </a:extLst>
              </a:tr>
              <a:tr h="488272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 – Rede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Roteamento e endereçamento (IP)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224263"/>
                  </a:ext>
                </a:extLst>
              </a:tr>
              <a:tr h="745725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 – Enlace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Comunicação local e MAC (Ethernet, Switch)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968494"/>
                  </a:ext>
                </a:extLst>
              </a:tr>
              <a:tr h="683767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 – Física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Meio físico e sinais (cabos, Wi-Fi, fibra)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735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425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de aplicação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Interface entre a pilha de protocolos e o aplicativo</a:t>
            </a:r>
          </a:p>
          <a:p>
            <a:endParaRPr lang="pt-BR" dirty="0"/>
          </a:p>
          <a:p>
            <a:r>
              <a:rPr lang="pt-BR" dirty="0"/>
              <a:t>Exemplos: HTTP (web), FTP(transferência de arquivos) NFS (compartilhamento de arquivos) e SMTP (e-mail)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Camada de tradução, converte os dados recebidos em um formato comum. Pode ter outros usos como compressão de dados e criptografia</a:t>
            </a:r>
          </a:p>
          <a:p>
            <a:endParaRPr lang="pt-BR" dirty="0"/>
          </a:p>
          <a:p>
            <a:r>
              <a:rPr lang="pt-BR" dirty="0"/>
              <a:t>Exemplo: SSL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Sessão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Permite estabelecimento de sessão. Na sessão são definidos como será a transmissão e pode-se usar marcadores para controlar a comunicação.</a:t>
            </a:r>
          </a:p>
          <a:p>
            <a:endParaRPr lang="pt-BR" dirty="0"/>
          </a:p>
          <a:p>
            <a:r>
              <a:rPr lang="pt-BR" dirty="0"/>
              <a:t>Na prática o controle de sessão normalmente é feito a nível de aplicação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Transporte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Responsável por pegar os dados enviados da camada de sessão e dividi-los em segmentos (pacotes) e na recepção remontar a mensagem original.</a:t>
            </a:r>
          </a:p>
          <a:p>
            <a:r>
              <a:rPr lang="pt-BR" dirty="0"/>
              <a:t>Funções</a:t>
            </a:r>
          </a:p>
          <a:p>
            <a:pPr lvl="1"/>
            <a:r>
              <a:rPr lang="pt-BR" dirty="0"/>
              <a:t>Protocolo que opera</a:t>
            </a:r>
          </a:p>
          <a:p>
            <a:pPr lvl="1"/>
            <a:r>
              <a:rPr lang="pt-BR" dirty="0"/>
              <a:t>Controle de fluxo</a:t>
            </a:r>
          </a:p>
          <a:p>
            <a:pPr lvl="1"/>
            <a:r>
              <a:rPr lang="pt-BR" dirty="0"/>
              <a:t>Verificação de erros, perdas duplicação</a:t>
            </a:r>
          </a:p>
          <a:p>
            <a:pPr lvl="1"/>
            <a:r>
              <a:rPr lang="pt-BR" dirty="0"/>
              <a:t>Qualidade de serviço</a:t>
            </a:r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Transporte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Exemplos: TCP e UDP</a:t>
            </a:r>
          </a:p>
          <a:p>
            <a:r>
              <a:rPr lang="pt-BR" dirty="0"/>
              <a:t>TCP Orientado a conexão</a:t>
            </a:r>
          </a:p>
          <a:p>
            <a:r>
              <a:rPr lang="pt-BR" dirty="0"/>
              <a:t>UDP Não orientado a conexão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Endereçamento lógico dos pacotes e tradução de endereços lógicos em endereços físicos e priorização de pacotes</a:t>
            </a:r>
          </a:p>
          <a:p>
            <a:r>
              <a:rPr lang="pt-BR" dirty="0"/>
              <a:t>Rota que os pacotes irão percorrer</a:t>
            </a:r>
          </a:p>
          <a:p>
            <a:endParaRPr lang="pt-BR" dirty="0"/>
          </a:p>
          <a:p>
            <a:r>
              <a:rPr lang="pt-BR" dirty="0"/>
              <a:t>Exemplo: IP</a:t>
            </a:r>
          </a:p>
          <a:p>
            <a:r>
              <a:rPr lang="pt-BR" dirty="0"/>
              <a:t>Equipamentos: Roteadores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Também chamada de enlace</a:t>
            </a:r>
          </a:p>
          <a:p>
            <a:r>
              <a:rPr lang="pt-BR" dirty="0"/>
              <a:t>Pega os pacotes de dados e transformam em quadros ou células que serão trafegados pela rede.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Exemplo: Ethernet</a:t>
            </a:r>
          </a:p>
          <a:p>
            <a:r>
              <a:rPr lang="pt-BR" dirty="0"/>
              <a:t>Equipamento: Switches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Física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Pega os quadros e transformam em sinais compatíveis com o meio.</a:t>
            </a:r>
          </a:p>
          <a:p>
            <a:endParaRPr lang="pt-BR" dirty="0"/>
          </a:p>
          <a:p>
            <a:r>
              <a:rPr lang="pt-BR" dirty="0"/>
              <a:t>Exemplo: Placas de rede</a:t>
            </a:r>
            <a:r>
              <a:rPr lang="pt-BR"/>
              <a:t>, HUBS</a:t>
            </a: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em camadas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  <a:p>
            <a:pPr lvl="1"/>
            <a:r>
              <a:rPr lang="pt-BR" dirty="0"/>
              <a:t>Reduzir complexidade</a:t>
            </a:r>
          </a:p>
          <a:p>
            <a:pPr lvl="1"/>
            <a:r>
              <a:rPr lang="pt-BR" dirty="0"/>
              <a:t>Padronizar interfaces</a:t>
            </a:r>
          </a:p>
          <a:p>
            <a:pPr lvl="1"/>
            <a:r>
              <a:rPr lang="pt-BR" dirty="0"/>
              <a:t>Facilitar engenharia modular</a:t>
            </a:r>
          </a:p>
          <a:p>
            <a:pPr lvl="1"/>
            <a:r>
              <a:rPr lang="pt-BR" dirty="0"/>
              <a:t>Assegurar interoperabilidade de tecnologias</a:t>
            </a:r>
          </a:p>
          <a:p>
            <a:pPr lvl="1"/>
            <a:r>
              <a:rPr lang="pt-BR" dirty="0"/>
              <a:t>Acelerar evolução</a:t>
            </a:r>
          </a:p>
          <a:p>
            <a:pPr lvl="1"/>
            <a:r>
              <a:rPr lang="pt-BR" dirty="0"/>
              <a:t>Simplificar o entendimento</a:t>
            </a:r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OSI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9536" y="1484784"/>
            <a:ext cx="8064896" cy="477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Física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Funções:</a:t>
            </a:r>
          </a:p>
          <a:p>
            <a:endParaRPr lang="pt-BR" dirty="0"/>
          </a:p>
          <a:p>
            <a:pPr lvl="1"/>
            <a:r>
              <a:rPr lang="pt-BR" dirty="0"/>
              <a:t>Representação dos bits (nível elétrico, duração do sinal, codificação)</a:t>
            </a:r>
          </a:p>
          <a:p>
            <a:pPr lvl="1"/>
            <a:r>
              <a:rPr lang="pt-BR" dirty="0"/>
              <a:t>Forma e nível dos pulsos </a:t>
            </a:r>
            <a:r>
              <a:rPr lang="pt-BR" dirty="0" err="1"/>
              <a:t>opticos</a:t>
            </a:r>
            <a:endParaRPr lang="pt-BR" dirty="0"/>
          </a:p>
          <a:p>
            <a:pPr lvl="1"/>
            <a:r>
              <a:rPr lang="pt-BR" dirty="0"/>
              <a:t>Mecânica dos conectores</a:t>
            </a:r>
          </a:p>
          <a:p>
            <a:pPr lvl="1"/>
            <a:r>
              <a:rPr lang="pt-BR" dirty="0"/>
              <a:t>Função de cada circuito do conector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física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Interface do meio físico:</a:t>
            </a:r>
          </a:p>
          <a:p>
            <a:pPr lvl="1"/>
            <a:r>
              <a:rPr lang="pt-BR" dirty="0"/>
              <a:t>Par trançado – </a:t>
            </a:r>
            <a:r>
              <a:rPr lang="pt-BR" dirty="0" err="1"/>
              <a:t>Unshielded</a:t>
            </a:r>
            <a:r>
              <a:rPr lang="pt-BR" dirty="0"/>
              <a:t> </a:t>
            </a:r>
            <a:r>
              <a:rPr lang="pt-BR" dirty="0" err="1"/>
              <a:t>Twisted</a:t>
            </a:r>
            <a:r>
              <a:rPr lang="pt-BR" dirty="0"/>
              <a:t> </a:t>
            </a:r>
            <a:r>
              <a:rPr lang="pt-BR" dirty="0" err="1"/>
              <a:t>Pair</a:t>
            </a:r>
            <a:r>
              <a:rPr lang="pt-BR" dirty="0"/>
              <a:t> (UTP) cat5, cat5e, cat6;</a:t>
            </a:r>
          </a:p>
          <a:p>
            <a:pPr lvl="1"/>
            <a:r>
              <a:rPr lang="pt-BR" dirty="0"/>
              <a:t>Fibra óptica monomodo ou </a:t>
            </a:r>
            <a:r>
              <a:rPr lang="pt-BR" dirty="0" err="1"/>
              <a:t>multimodo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Cabo coaxial 10base2, 10base5</a:t>
            </a:r>
          </a:p>
          <a:p>
            <a:pPr lvl="1"/>
            <a:r>
              <a:rPr lang="pt-BR" dirty="0"/>
              <a:t>Wireless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de enlace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Funções:</a:t>
            </a:r>
          </a:p>
          <a:p>
            <a:pPr lvl="1"/>
            <a:r>
              <a:rPr lang="pt-BR" dirty="0"/>
              <a:t>Endereços físicos de origem e destino</a:t>
            </a:r>
          </a:p>
          <a:p>
            <a:pPr lvl="1"/>
            <a:r>
              <a:rPr lang="pt-BR" dirty="0"/>
              <a:t>Define protocolo da camada superior</a:t>
            </a:r>
          </a:p>
          <a:p>
            <a:pPr lvl="1"/>
            <a:r>
              <a:rPr lang="pt-BR" dirty="0"/>
              <a:t>Topologia de rede</a:t>
            </a:r>
          </a:p>
          <a:p>
            <a:pPr lvl="1"/>
            <a:r>
              <a:rPr lang="pt-BR" dirty="0"/>
              <a:t>Sequência de quadros</a:t>
            </a:r>
          </a:p>
          <a:p>
            <a:pPr lvl="1"/>
            <a:r>
              <a:rPr lang="pt-BR" dirty="0"/>
              <a:t>Controle de fluxo</a:t>
            </a:r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de rede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Funções</a:t>
            </a:r>
          </a:p>
          <a:p>
            <a:pPr lvl="1"/>
            <a:r>
              <a:rPr lang="pt-BR" dirty="0"/>
              <a:t>Tratamento dos problemas de rede: congestionamento</a:t>
            </a:r>
          </a:p>
          <a:p>
            <a:pPr lvl="1"/>
            <a:r>
              <a:rPr lang="pt-BR" dirty="0"/>
              <a:t>Escolha das melhores rotas</a:t>
            </a:r>
          </a:p>
          <a:p>
            <a:pPr lvl="1"/>
            <a:r>
              <a:rPr lang="pt-BR" dirty="0"/>
              <a:t>Define endereços lógicos de origem e destino associados ao protocolo</a:t>
            </a:r>
          </a:p>
          <a:p>
            <a:pPr lvl="1"/>
            <a:r>
              <a:rPr lang="pt-BR" dirty="0"/>
              <a:t>Interconecta diferentes camadas de enlace de dados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Endereçamento – Método de atribuição de endereço e de localização de um host em uma rede.</a:t>
            </a:r>
          </a:p>
          <a:p>
            <a:r>
              <a:rPr lang="pt-BR" dirty="0" err="1"/>
              <a:t>Roteamento</a:t>
            </a:r>
            <a:r>
              <a:rPr lang="pt-BR" dirty="0"/>
              <a:t> – identifica o processamento e direcionamento de pacotes de dados de uma rede para outra.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de transporte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Recebe os dados da camada de sessão, divide e passa para a camada de rede</a:t>
            </a:r>
          </a:p>
          <a:p>
            <a:r>
              <a:rPr lang="pt-BR" dirty="0"/>
              <a:t>Garante que todas as partes cheguem corretamente ao destino</a:t>
            </a:r>
          </a:p>
          <a:p>
            <a:r>
              <a:rPr lang="pt-BR" dirty="0"/>
              <a:t>Implementa uma conversação </a:t>
            </a:r>
            <a:r>
              <a:rPr lang="pt-BR" dirty="0" err="1"/>
              <a:t>fim-a-fim</a:t>
            </a:r>
            <a:endParaRPr lang="pt-BR" dirty="0"/>
          </a:p>
          <a:p>
            <a:r>
              <a:rPr lang="pt-BR" dirty="0"/>
              <a:t>Responsável pelo término e pela </a:t>
            </a:r>
            <a:r>
              <a:rPr lang="pt-BR" dirty="0" err="1"/>
              <a:t>criacao</a:t>
            </a:r>
            <a:r>
              <a:rPr lang="pt-BR" dirty="0"/>
              <a:t> de conexão</a:t>
            </a:r>
          </a:p>
          <a:p>
            <a:r>
              <a:rPr lang="pt-BR" dirty="0"/>
              <a:t>Controle de fluxo </a:t>
            </a:r>
            <a:r>
              <a:rPr lang="pt-BR" dirty="0" err="1"/>
              <a:t>fim-a-fim</a:t>
            </a:r>
            <a:endParaRPr lang="pt-B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Identifica as aplicações da camada superior</a:t>
            </a:r>
          </a:p>
          <a:p>
            <a:r>
              <a:rPr lang="pt-BR" dirty="0"/>
              <a:t>Oferece serviços confiáveis ou não para a transferência de dados.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sessão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Gerencia o controle de diálogos, permitindo a conversação em ambos os sentidos ou em apenas um</a:t>
            </a:r>
          </a:p>
          <a:p>
            <a:endParaRPr lang="pt-BR" dirty="0"/>
          </a:p>
          <a:p>
            <a:r>
              <a:rPr lang="pt-BR" dirty="0"/>
              <a:t>Sincronização do diálogo (transferência de arquivos, programas)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de apresentação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Realiza funções de forma padrão, conversão de códigos de caracteres (EBCDIC, ASCII)</a:t>
            </a:r>
          </a:p>
          <a:p>
            <a:endParaRPr lang="pt-BR" dirty="0"/>
          </a:p>
          <a:p>
            <a:r>
              <a:rPr lang="pt-BR" dirty="0"/>
              <a:t>Compressão, criptografia, codificação de inteiro, ponto flutuante etc.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de aplicação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camada de aplicação define uma variedade de protocolos necessários à comunicação.</a:t>
            </a:r>
          </a:p>
          <a:p>
            <a:r>
              <a:rPr lang="pt-BR" dirty="0"/>
              <a:t>Correio eletrônico</a:t>
            </a:r>
          </a:p>
          <a:p>
            <a:r>
              <a:rPr lang="pt-BR" dirty="0"/>
              <a:t>Áudio</a:t>
            </a:r>
          </a:p>
          <a:p>
            <a:r>
              <a:rPr lang="pt-BR" dirty="0"/>
              <a:t>Vídeo</a:t>
            </a:r>
          </a:p>
          <a:p>
            <a:r>
              <a:rPr lang="pt-BR" dirty="0"/>
              <a:t>Acesso remoto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Comunicação fim a fim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9536" y="1700809"/>
            <a:ext cx="7992888" cy="4481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716</Words>
  <Application>Microsoft Office PowerPoint</Application>
  <PresentationFormat>Widescreen</PresentationFormat>
  <Paragraphs>127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Franklin Gothic Book</vt:lpstr>
      <vt:lpstr>Tema do Office</vt:lpstr>
      <vt:lpstr>Redes de Computadores e Aplicações   Modelo OSI</vt:lpstr>
      <vt:lpstr>Protocolos</vt:lpstr>
      <vt:lpstr>Modelo Teórico OSI</vt:lpstr>
      <vt:lpstr>Apresentação do PowerPoint</vt:lpstr>
      <vt:lpstr>Resumo das Camadas </vt:lpstr>
      <vt:lpstr>Camada de aplicação</vt:lpstr>
      <vt:lpstr>Apresentação</vt:lpstr>
      <vt:lpstr>Sessão</vt:lpstr>
      <vt:lpstr>Transporte</vt:lpstr>
      <vt:lpstr>Transporte</vt:lpstr>
      <vt:lpstr>Rede</vt:lpstr>
      <vt:lpstr>Link de dados</vt:lpstr>
      <vt:lpstr>Física</vt:lpstr>
      <vt:lpstr>Estrutura em camadas</vt:lpstr>
      <vt:lpstr>Modelo OSI</vt:lpstr>
      <vt:lpstr>Camada Física</vt:lpstr>
      <vt:lpstr>Camada física</vt:lpstr>
      <vt:lpstr>Camada de enlace de dados</vt:lpstr>
      <vt:lpstr>Camada de rede</vt:lpstr>
      <vt:lpstr>Apresentação do PowerPoint</vt:lpstr>
      <vt:lpstr>Camada de transporte</vt:lpstr>
      <vt:lpstr>Apresentação do PowerPoint</vt:lpstr>
      <vt:lpstr>sessão</vt:lpstr>
      <vt:lpstr>Camada de apresentação</vt:lpstr>
      <vt:lpstr>Camada de aplicação</vt:lpstr>
      <vt:lpstr>Comunicação fim a 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de Computadores e Aplicações – Modelo OSI</dc:title>
  <dc:creator>RAFAEL ZAMBONI</dc:creator>
  <cp:lastModifiedBy>RAFAEL ZAMBONI</cp:lastModifiedBy>
  <cp:revision>3</cp:revision>
  <dcterms:created xsi:type="dcterms:W3CDTF">2026-02-27T21:44:22Z</dcterms:created>
  <dcterms:modified xsi:type="dcterms:W3CDTF">2026-02-27T22:20:56Z</dcterms:modified>
</cp:coreProperties>
</file>